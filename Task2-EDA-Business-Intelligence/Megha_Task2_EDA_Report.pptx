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2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445342"/>
            <a:ext cx="754134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9FAFB"/>
                </a:solidFill>
                <a:latin typeface="Segoe UI"/>
              </a:defRPr>
            </a:pPr>
            <a:r>
              <a:rPr dirty="0"/>
              <a:t>Exploratory Data Analysis</a:t>
            </a:r>
            <a:br>
              <a:rPr dirty="0"/>
            </a:br>
            <a:r>
              <a:rPr dirty="0"/>
              <a:t>Book Dataset Business Intelligence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3458576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CA3AF"/>
                </a:solidFill>
                <a:latin typeface="Segoe UI"/>
              </a:defRPr>
            </a:pPr>
            <a:r>
              <a:rPr dirty="0"/>
              <a:t>Task 2 – EDA &amp; Business Intelligence</a:t>
            </a:r>
          </a:p>
          <a:p>
            <a:pPr>
              <a:defRPr sz="1600">
                <a:solidFill>
                  <a:srgbClr val="9CA3AF"/>
                </a:solidFill>
                <a:latin typeface="Segoe UI"/>
              </a:defRPr>
            </a:pPr>
            <a:r>
              <a:rPr dirty="0"/>
              <a:t>Internship Program</a:t>
            </a:r>
          </a:p>
          <a:p>
            <a:pPr>
              <a:defRPr sz="1600">
                <a:solidFill>
                  <a:srgbClr val="9CA3AF"/>
                </a:solidFill>
                <a:latin typeface="Segoe UI"/>
              </a:defRPr>
            </a:pPr>
            <a:endParaRPr dirty="0"/>
          </a:p>
          <a:p>
            <a:pPr>
              <a:defRPr sz="1600">
                <a:solidFill>
                  <a:srgbClr val="9CA3AF"/>
                </a:solidFill>
                <a:latin typeface="Segoe UI"/>
              </a:defRPr>
            </a:pPr>
            <a:r>
              <a:rPr dirty="0"/>
              <a:t>Prepared by: </a:t>
            </a:r>
            <a:r>
              <a:rPr dirty="0" smtClean="0"/>
              <a:t>Megha</a:t>
            </a:r>
            <a:r>
              <a:rPr lang="en-US" dirty="0" smtClean="0"/>
              <a:t> Tagade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9FAFB"/>
                </a:solidFill>
                <a:latin typeface="Segoe UI"/>
              </a:defRPr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9CA3AF"/>
                </a:solidFill>
                <a:latin typeface="Segoe UI"/>
              </a:defRPr>
            </a:pPr>
            <a:r>
              <a:t>Total Books: 298</a:t>
            </a:r>
          </a:p>
          <a:p>
            <a:pPr lvl="1">
              <a:defRPr sz="1600">
                <a:solidFill>
                  <a:srgbClr val="9CA3AF"/>
                </a:solidFill>
                <a:latin typeface="Segoe UI"/>
              </a:defRPr>
            </a:pPr>
            <a:r>
              <a:t>Variables Analyzed: Rating, Price, Reviews Count, Genre, Publishing Year, Print Length</a:t>
            </a:r>
          </a:p>
          <a:p>
            <a:pPr lvl="1">
              <a:defRPr sz="1600">
                <a:solidFill>
                  <a:srgbClr val="9CA3AF"/>
                </a:solidFill>
                <a:latin typeface="Segoe UI"/>
              </a:defRPr>
            </a:pPr>
            <a:r>
              <a:t>Data cleaning and transformation completed in Task 1</a:t>
            </a:r>
          </a:p>
          <a:p>
            <a:pPr lvl="1">
              <a:defRPr sz="1600">
                <a:solidFill>
                  <a:srgbClr val="9CA3AF"/>
                </a:solidFill>
                <a:latin typeface="Segoe UI"/>
              </a:defRPr>
            </a:pPr>
            <a:r>
              <a:t>Structured dataset prepared for SQL-based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9FAFB"/>
                </a:solidFill>
                <a:latin typeface="Segoe UI"/>
              </a:defRPr>
            </a:pPr>
            <a:r>
              <a:t>Descriptive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9CA3AF"/>
                </a:solidFill>
                <a:latin typeface="Segoe UI"/>
              </a:defRPr>
            </a:pPr>
            <a:r>
              <a:rPr dirty="0"/>
              <a:t>Average Rating: 4.67</a:t>
            </a:r>
          </a:p>
          <a:p>
            <a:pPr lvl="1">
              <a:defRPr sz="1600">
                <a:solidFill>
                  <a:srgbClr val="9CA3AF"/>
                </a:solidFill>
                <a:latin typeface="Segoe UI"/>
              </a:defRPr>
            </a:pPr>
            <a:r>
              <a:rPr dirty="0"/>
              <a:t>Average Price: 11.66</a:t>
            </a:r>
          </a:p>
          <a:p>
            <a:pPr lvl="1">
              <a:defRPr sz="1600">
                <a:solidFill>
                  <a:srgbClr val="9CA3AF"/>
                </a:solidFill>
                <a:latin typeface="Segoe UI"/>
              </a:defRPr>
            </a:pPr>
            <a:r>
              <a:rPr dirty="0"/>
              <a:t>Total Reviews: </a:t>
            </a:r>
            <a:r>
              <a:rPr dirty="0" smtClean="0"/>
              <a:t>28M+</a:t>
            </a:r>
            <a:endParaRPr lang="en-US" dirty="0" smtClean="0"/>
          </a:p>
          <a:p>
            <a:pPr lvl="1">
              <a:defRPr sz="1600">
                <a:solidFill>
                  <a:srgbClr val="9CA3AF"/>
                </a:solidFill>
                <a:latin typeface="Segoe UI"/>
              </a:defRPr>
            </a:pPr>
            <a:r>
              <a:rPr lang="en-US" dirty="0" smtClean="0"/>
              <a:t>Ratings </a:t>
            </a:r>
            <a:r>
              <a:rPr lang="en-US" dirty="0"/>
              <a:t>remain consistently above 4.4 across most genres, indicating strong overall reader satisfaction.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9FAFB"/>
                </a:solidFill>
                <a:latin typeface="Segoe UI"/>
              </a:defRPr>
            </a:pPr>
            <a:r>
              <a:t>Genre Performance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9CA3AF"/>
                </a:solidFill>
                <a:latin typeface="Segoe UI"/>
              </a:defRPr>
            </a:pPr>
            <a:r>
              <a:rPr lang="en-US" dirty="0" smtClean="0"/>
              <a:t>Fiction </a:t>
            </a:r>
            <a:r>
              <a:rPr lang="en-US" dirty="0"/>
              <a:t>&amp; Action contributes the highest share of total review volume (~16M), indicating strong market </a:t>
            </a:r>
            <a:r>
              <a:rPr lang="en-US" dirty="0" smtClean="0"/>
              <a:t>demand.</a:t>
            </a:r>
          </a:p>
          <a:p>
            <a:pPr lvl="1">
              <a:defRPr sz="1600">
                <a:solidFill>
                  <a:srgbClr val="9CA3AF"/>
                </a:solidFill>
                <a:latin typeface="Segoe UI"/>
              </a:defRPr>
            </a:pPr>
            <a:r>
              <a:rPr lang="en-US" dirty="0" smtClean="0"/>
              <a:t>Reading </a:t>
            </a:r>
            <a:r>
              <a:rPr lang="en-US" dirty="0"/>
              <a:t>&amp; Writing records the highest average rating (4.82), reflecting strong reader </a:t>
            </a:r>
            <a:r>
              <a:rPr lang="en-US" dirty="0" smtClean="0"/>
              <a:t>satisfaction.</a:t>
            </a:r>
          </a:p>
          <a:p>
            <a:pPr lvl="1">
              <a:defRPr sz="1600">
                <a:solidFill>
                  <a:srgbClr val="9CA3AF"/>
                </a:solidFill>
                <a:latin typeface="Segoe UI"/>
              </a:defRPr>
            </a:pPr>
            <a:r>
              <a:rPr lang="en-US" dirty="0" smtClean="0"/>
              <a:t>High </a:t>
            </a:r>
            <a:r>
              <a:rPr lang="en-US" dirty="0"/>
              <a:t>review concentration in top 3 genres suggests uneven engagement distribution across </a:t>
            </a:r>
            <a:r>
              <a:rPr lang="en-US" dirty="0" smtClean="0"/>
              <a:t>categories.</a:t>
            </a:r>
          </a:p>
          <a:p>
            <a:pPr lvl="1">
              <a:defRPr sz="1600">
                <a:solidFill>
                  <a:srgbClr val="9CA3AF"/>
                </a:solidFill>
                <a:latin typeface="Segoe UI"/>
              </a:defRPr>
            </a:pPr>
            <a:r>
              <a:rPr lang="en-US" dirty="0" smtClean="0"/>
              <a:t>Lower-volume </a:t>
            </a:r>
            <a:r>
              <a:rPr lang="en-US" dirty="0"/>
              <a:t>genres show stable but limited audience reach</a:t>
            </a:r>
            <a:r>
              <a:rPr lang="en-US" dirty="0" smtClean="0"/>
              <a:t>.</a:t>
            </a:r>
          </a:p>
          <a:p>
            <a:pPr lvl="1">
              <a:defRPr sz="1600">
                <a:solidFill>
                  <a:srgbClr val="9CA3AF"/>
                </a:solidFill>
                <a:latin typeface="Segoe UI"/>
              </a:defRPr>
            </a:pPr>
            <a:r>
              <a:rPr lang="en-US" sz="1600" dirty="0"/>
              <a:t>Overall, market engagement is volume-driven in Fiction, while quality perception is strongest in Reading-focused genres.</a:t>
            </a:r>
          </a:p>
          <a:p>
            <a:pPr lvl="1">
              <a:defRPr sz="1600">
                <a:solidFill>
                  <a:srgbClr val="9CA3AF"/>
                </a:solidFill>
                <a:latin typeface="Segoe UI"/>
              </a:defRPr>
            </a:pPr>
            <a:endParaRPr lang="en-US" dirty="0"/>
          </a:p>
          <a:p>
            <a:pPr lvl="1">
              <a:defRPr sz="1600">
                <a:solidFill>
                  <a:srgbClr val="9CA3AF"/>
                </a:solidFill>
                <a:latin typeface="Segoe UI"/>
              </a:defRPr>
            </a:pPr>
            <a:endParaRPr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437" y="3987534"/>
            <a:ext cx="3099402" cy="2014954"/>
          </a:xfrm>
          <a:prstGeom prst="rect">
            <a:avLst/>
          </a:prstGeo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7099" y="3987534"/>
            <a:ext cx="3326847" cy="20046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9FAFB"/>
                </a:solidFill>
                <a:latin typeface="Segoe UI"/>
              </a:defRPr>
            </a:pPr>
            <a:r>
              <a:t>Correlation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9CA3AF"/>
                </a:solidFill>
                <a:latin typeface="Segoe UI"/>
              </a:defRPr>
            </a:pPr>
            <a:r>
              <a:rPr lang="en-US" dirty="0" smtClean="0"/>
              <a:t>Price </a:t>
            </a:r>
            <a:r>
              <a:rPr lang="en-US" dirty="0"/>
              <a:t>vs Rating correlation ≈ 0</a:t>
            </a:r>
            <a:br>
              <a:rPr lang="en-US" dirty="0"/>
            </a:br>
            <a:r>
              <a:rPr lang="en-US" dirty="0"/>
              <a:t>→ Pricing does not significantly influence customer </a:t>
            </a:r>
            <a:r>
              <a:rPr lang="en-US" dirty="0" smtClean="0"/>
              <a:t>ratings.</a:t>
            </a:r>
          </a:p>
          <a:p>
            <a:pPr lvl="1">
              <a:defRPr sz="1600">
                <a:solidFill>
                  <a:srgbClr val="9CA3AF"/>
                </a:solidFill>
                <a:latin typeface="Segoe UI"/>
              </a:defRPr>
            </a:pPr>
            <a:r>
              <a:rPr lang="en-US" dirty="0" smtClean="0"/>
              <a:t>Reviews </a:t>
            </a:r>
            <a:r>
              <a:rPr lang="en-US" dirty="0"/>
              <a:t>vs Rating correlation is slightly negative</a:t>
            </a:r>
            <a:br>
              <a:rPr lang="en-US" dirty="0"/>
            </a:br>
            <a:r>
              <a:rPr lang="en-US" dirty="0"/>
              <a:t>→ Highly reviewed books are not necessarily higher </a:t>
            </a:r>
            <a:r>
              <a:rPr lang="en-US" dirty="0" smtClean="0"/>
              <a:t>rated.</a:t>
            </a:r>
          </a:p>
          <a:p>
            <a:pPr lvl="1">
              <a:defRPr sz="1600">
                <a:solidFill>
                  <a:srgbClr val="9CA3AF"/>
                </a:solidFill>
                <a:latin typeface="Segoe UI"/>
              </a:defRPr>
            </a:pPr>
            <a:r>
              <a:rPr lang="en-US" dirty="0" smtClean="0"/>
              <a:t>High </a:t>
            </a:r>
            <a:r>
              <a:rPr lang="en-US" dirty="0"/>
              <a:t>popularity does not guarantee higher perceived quality.</a:t>
            </a:r>
          </a:p>
          <a:p>
            <a:pPr lvl="1">
              <a:defRPr sz="1600">
                <a:solidFill>
                  <a:srgbClr val="9CA3AF"/>
                </a:solidFill>
                <a:latin typeface="Segoe UI"/>
              </a:defRPr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9FAFB"/>
                </a:solidFill>
                <a:latin typeface="Segoe UI"/>
              </a:defRPr>
            </a:pPr>
            <a:r>
              <a:t>Publishing Trend Over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9CA3AF"/>
                </a:solidFill>
                <a:latin typeface="Segoe UI"/>
              </a:defRPr>
            </a:pPr>
            <a:r>
              <a:rPr lang="en-US" sz="1600" dirty="0" smtClean="0"/>
              <a:t>Publishing </a:t>
            </a:r>
            <a:r>
              <a:rPr lang="en-US" sz="1600" dirty="0"/>
              <a:t>activity remained relatively stable before </a:t>
            </a:r>
            <a:r>
              <a:rPr lang="en-US" sz="1600" dirty="0" smtClean="0"/>
              <a:t>2018.</a:t>
            </a:r>
          </a:p>
          <a:p>
            <a:pPr lvl="1">
              <a:defRPr sz="1600">
                <a:solidFill>
                  <a:srgbClr val="9CA3AF"/>
                </a:solidFill>
                <a:latin typeface="Segoe UI"/>
              </a:defRPr>
            </a:pPr>
            <a:r>
              <a:rPr lang="en-US" dirty="0" smtClean="0"/>
              <a:t>A </a:t>
            </a:r>
            <a:r>
              <a:rPr lang="en-US" dirty="0"/>
              <a:t>noticeable acceleration in releases is observed </a:t>
            </a:r>
            <a:r>
              <a:rPr lang="en-US" dirty="0" smtClean="0"/>
              <a:t>post-2018.</a:t>
            </a:r>
          </a:p>
          <a:p>
            <a:pPr lvl="1">
              <a:defRPr sz="1600">
                <a:solidFill>
                  <a:srgbClr val="9CA3AF"/>
                </a:solidFill>
                <a:latin typeface="Segoe UI"/>
              </a:defRPr>
            </a:pPr>
            <a:r>
              <a:rPr lang="en-US" dirty="0" smtClean="0"/>
              <a:t>Peak </a:t>
            </a:r>
            <a:r>
              <a:rPr lang="en-US" dirty="0"/>
              <a:t>publishing volumes occur in 2023–2024, indicating recent market </a:t>
            </a:r>
            <a:r>
              <a:rPr lang="en-US" dirty="0" smtClean="0"/>
              <a:t>momentum.</a:t>
            </a:r>
          </a:p>
          <a:p>
            <a:pPr lvl="1">
              <a:defRPr sz="1600">
                <a:solidFill>
                  <a:srgbClr val="9CA3AF"/>
                </a:solidFill>
                <a:latin typeface="Segoe UI"/>
              </a:defRPr>
            </a:pPr>
            <a:r>
              <a:rPr lang="en-US" dirty="0" smtClean="0"/>
              <a:t>The </a:t>
            </a:r>
            <a:r>
              <a:rPr lang="en-US" dirty="0"/>
              <a:t>upward trend suggests expansion in content production and category diversification.</a:t>
            </a:r>
          </a:p>
          <a:p>
            <a:pPr lvl="1">
              <a:defRPr sz="1600">
                <a:solidFill>
                  <a:srgbClr val="9CA3AF"/>
                </a:solidFill>
                <a:latin typeface="Segoe UI"/>
              </a:defRPr>
            </a:pPr>
            <a:endParaRPr lang="en-US" dirty="0" smtClean="0"/>
          </a:p>
          <a:p>
            <a:pPr lvl="1">
              <a:defRPr sz="1600">
                <a:solidFill>
                  <a:srgbClr val="9CA3AF"/>
                </a:solidFill>
                <a:latin typeface="Segoe UI"/>
              </a:defRPr>
            </a:pPr>
            <a:endParaRPr dirty="0"/>
          </a:p>
        </p:txBody>
      </p:sp>
      <p:pic>
        <p:nvPicPr>
          <p:cNvPr id="13" name="Picture 1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763" y="3521304"/>
            <a:ext cx="4341933" cy="17860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9FAFB"/>
                </a:solidFill>
                <a:latin typeface="Segoe UI"/>
              </a:defRPr>
            </a:pPr>
            <a:r>
              <a:t>Key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9CA3AF"/>
                </a:solidFill>
                <a:latin typeface="Segoe UI"/>
              </a:defRPr>
            </a:pPr>
            <a:r>
              <a:rPr lang="en-US" dirty="0" smtClean="0"/>
              <a:t>Market </a:t>
            </a:r>
            <a:r>
              <a:rPr lang="en-US" dirty="0"/>
              <a:t>engagement is strongly genre-driven, with Fiction &amp; Action dominating review </a:t>
            </a:r>
            <a:r>
              <a:rPr lang="en-US" dirty="0" smtClean="0"/>
              <a:t>volume.</a:t>
            </a:r>
          </a:p>
          <a:p>
            <a:pPr lvl="1">
              <a:defRPr sz="1600">
                <a:solidFill>
                  <a:srgbClr val="9CA3AF"/>
                </a:solidFill>
                <a:latin typeface="Segoe UI"/>
              </a:defRPr>
            </a:pPr>
            <a:r>
              <a:rPr lang="en-US" dirty="0" smtClean="0"/>
              <a:t>Customer </a:t>
            </a:r>
            <a:r>
              <a:rPr lang="en-US" dirty="0"/>
              <a:t>ratings remain consistently high across most categories (4.4+ average</a:t>
            </a:r>
            <a:r>
              <a:rPr lang="en-US" dirty="0" smtClean="0"/>
              <a:t>).</a:t>
            </a:r>
          </a:p>
          <a:p>
            <a:pPr lvl="1">
              <a:defRPr sz="1600">
                <a:solidFill>
                  <a:srgbClr val="9CA3AF"/>
                </a:solidFill>
                <a:latin typeface="Segoe UI"/>
              </a:defRPr>
            </a:pPr>
            <a:r>
              <a:rPr lang="en-US" dirty="0" smtClean="0"/>
              <a:t>Shorter </a:t>
            </a:r>
            <a:r>
              <a:rPr lang="en-US" dirty="0"/>
              <a:t>books show slightly higher average ratings compared to longer </a:t>
            </a:r>
            <a:r>
              <a:rPr lang="en-US" dirty="0" smtClean="0"/>
              <a:t>formats.</a:t>
            </a:r>
          </a:p>
          <a:p>
            <a:pPr lvl="1">
              <a:defRPr sz="1600">
                <a:solidFill>
                  <a:srgbClr val="9CA3AF"/>
                </a:solidFill>
                <a:latin typeface="Segoe UI"/>
              </a:defRPr>
            </a:pPr>
            <a:r>
              <a:rPr lang="en-US" dirty="0" smtClean="0"/>
              <a:t>Pricing </a:t>
            </a:r>
            <a:r>
              <a:rPr lang="en-US" dirty="0"/>
              <a:t>shows minimal correlation with perceived </a:t>
            </a:r>
            <a:r>
              <a:rPr lang="en-US" dirty="0" smtClean="0"/>
              <a:t>quality.</a:t>
            </a:r>
          </a:p>
          <a:p>
            <a:pPr lvl="1">
              <a:defRPr sz="1600">
                <a:solidFill>
                  <a:srgbClr val="9CA3AF"/>
                </a:solidFill>
                <a:latin typeface="Segoe UI"/>
              </a:defRPr>
            </a:pPr>
            <a:r>
              <a:rPr lang="en-US" dirty="0" smtClean="0"/>
              <a:t>Publishing </a:t>
            </a:r>
            <a:r>
              <a:rPr lang="en-US" dirty="0"/>
              <a:t>trends indicate steady growth, with accelerated expansion in recent years.</a:t>
            </a:r>
          </a:p>
          <a:p>
            <a:pPr lvl="1">
              <a:defRPr sz="1600">
                <a:solidFill>
                  <a:srgbClr val="9CA3AF"/>
                </a:solidFill>
                <a:latin typeface="Segoe UI"/>
              </a:defRPr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279</Words>
  <Application>Microsoft Office PowerPoint</Application>
  <PresentationFormat>On-screen Show (4:3)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admin</cp:lastModifiedBy>
  <cp:revision>6</cp:revision>
  <dcterms:created xsi:type="dcterms:W3CDTF">2013-01-27T09:14:16Z</dcterms:created>
  <dcterms:modified xsi:type="dcterms:W3CDTF">2026-02-19T13:44:15Z</dcterms:modified>
  <cp:category/>
</cp:coreProperties>
</file>