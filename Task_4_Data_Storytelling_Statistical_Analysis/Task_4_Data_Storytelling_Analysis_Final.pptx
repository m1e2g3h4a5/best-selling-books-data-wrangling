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Liter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54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788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47a05e43b4216d737d13a645466f73e91be8b30e.jpg"/>
          <p:cNvPicPr>
            <a:picLocks noChangeAspect="1"/>
          </p:cNvPicPr>
          <p:nvPr/>
        </p:nvPicPr>
        <p:blipFill>
          <a:blip r:embed="rId3">
            <a:alphaModFix amt="30000"/>
          </a:blip>
          <a:srcRect t="111" b="11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2A4B5A">
                  <a:alpha val="80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175" y="384175"/>
            <a:ext cx="1930400" cy="387350"/>
          </a:xfrm>
          <a:custGeom>
            <a:avLst/>
            <a:gdLst/>
            <a:ahLst/>
            <a:cxnLst/>
            <a:rect l="l" t="t" r="r" b="b"/>
            <a:pathLst>
              <a:path w="1930400" h="387350">
                <a:moveTo>
                  <a:pt x="38100" y="0"/>
                </a:moveTo>
                <a:lnTo>
                  <a:pt x="1892300" y="0"/>
                </a:lnTo>
                <a:cubicBezTo>
                  <a:pt x="1913342" y="0"/>
                  <a:pt x="1930400" y="17058"/>
                  <a:pt x="1930400" y="38100"/>
                </a:cubicBezTo>
                <a:lnTo>
                  <a:pt x="1930400" y="349250"/>
                </a:lnTo>
                <a:cubicBezTo>
                  <a:pt x="1930400" y="370292"/>
                  <a:pt x="1913342" y="387350"/>
                  <a:pt x="1892300" y="387350"/>
                </a:cubicBezTo>
                <a:lnTo>
                  <a:pt x="38100" y="387350"/>
                </a:lnTo>
                <a:cubicBezTo>
                  <a:pt x="17058" y="387350"/>
                  <a:pt x="0" y="370292"/>
                  <a:pt x="0" y="34925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9750" y="482600"/>
            <a:ext cx="168294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Internship Project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1153775" y="3810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7" name="Shape 4"/>
          <p:cNvSpPr/>
          <p:nvPr/>
        </p:nvSpPr>
        <p:spPr>
          <a:xfrm>
            <a:off x="11568113" y="3810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1892300"/>
            <a:ext cx="117729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Storytelling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54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Statistical</a:t>
            </a:r>
            <a:r>
              <a:rPr lang="en-US" sz="54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Validation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1000" y="3759200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8B2AC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10" name="Text 7"/>
          <p:cNvSpPr/>
          <p:nvPr/>
        </p:nvSpPr>
        <p:spPr>
          <a:xfrm>
            <a:off x="381000" y="4025900"/>
            <a:ext cx="115728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 Market Analysis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81000" y="4902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526256" y="50355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92273"/>
                </a:moveTo>
                <a:cubicBezTo>
                  <a:pt x="107986" y="92273"/>
                  <a:pt x="127992" y="72267"/>
                  <a:pt x="127992" y="47625"/>
                </a:cubicBezTo>
                <a:cubicBezTo>
                  <a:pt x="127992" y="22983"/>
                  <a:pt x="107986" y="2977"/>
                  <a:pt x="83344" y="2977"/>
                </a:cubicBezTo>
                <a:cubicBezTo>
                  <a:pt x="58702" y="2977"/>
                  <a:pt x="38695" y="22983"/>
                  <a:pt x="38695" y="47625"/>
                </a:cubicBezTo>
                <a:cubicBezTo>
                  <a:pt x="38695" y="72267"/>
                  <a:pt x="58702" y="92273"/>
                  <a:pt x="83344" y="92273"/>
                </a:cubicBezTo>
                <a:close/>
                <a:moveTo>
                  <a:pt x="72293" y="113109"/>
                </a:moveTo>
                <a:cubicBezTo>
                  <a:pt x="35644" y="113109"/>
                  <a:pt x="5953" y="142801"/>
                  <a:pt x="5953" y="179450"/>
                </a:cubicBezTo>
                <a:cubicBezTo>
                  <a:pt x="5953" y="185551"/>
                  <a:pt x="10902" y="190500"/>
                  <a:pt x="17004" y="190500"/>
                </a:cubicBezTo>
                <a:lnTo>
                  <a:pt x="149684" y="190500"/>
                </a:lnTo>
                <a:cubicBezTo>
                  <a:pt x="155786" y="190500"/>
                  <a:pt x="160734" y="185551"/>
                  <a:pt x="160734" y="179450"/>
                </a:cubicBezTo>
                <a:cubicBezTo>
                  <a:pt x="160734" y="142801"/>
                  <a:pt x="131043" y="113109"/>
                  <a:pt x="94394" y="113109"/>
                </a:cubicBezTo>
                <a:lnTo>
                  <a:pt x="72293" y="11310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3" name="Text 10"/>
          <p:cNvSpPr/>
          <p:nvPr/>
        </p:nvSpPr>
        <p:spPr>
          <a:xfrm>
            <a:off x="952500" y="4902200"/>
            <a:ext cx="1095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Presented by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52500" y="5092700"/>
            <a:ext cx="1123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Megha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206228" y="4902200"/>
            <a:ext cx="9525" cy="457200"/>
          </a:xfrm>
          <a:custGeom>
            <a:avLst/>
            <a:gdLst/>
            <a:ahLst/>
            <a:cxnLst/>
            <a:rect l="l" t="t" r="r" b="b"/>
            <a:pathLst>
              <a:path w="9525" h="457200">
                <a:moveTo>
                  <a:pt x="0" y="0"/>
                </a:moveTo>
                <a:lnTo>
                  <a:pt x="9525" y="0"/>
                </a:lnTo>
                <a:lnTo>
                  <a:pt x="9525" y="457200"/>
                </a:lnTo>
                <a:lnTo>
                  <a:pt x="0" y="4572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2444353" y="49022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2577703" y="5035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66688" y="95250"/>
                </a:moveTo>
                <a:cubicBezTo>
                  <a:pt x="166688" y="55823"/>
                  <a:pt x="134677" y="23812"/>
                  <a:pt x="95250" y="23812"/>
                </a:cubicBezTo>
                <a:cubicBezTo>
                  <a:pt x="55823" y="23812"/>
                  <a:pt x="23813" y="55823"/>
                  <a:pt x="23812" y="95250"/>
                </a:cubicBezTo>
                <a:cubicBezTo>
                  <a:pt x="23812" y="134677"/>
                  <a:pt x="55823" y="166688"/>
                  <a:pt x="95250" y="166688"/>
                </a:cubicBezTo>
                <a:cubicBezTo>
                  <a:pt x="134677" y="166688"/>
                  <a:pt x="166688" y="134677"/>
                  <a:pt x="166688" y="95250"/>
                </a:cubicBezTo>
                <a:close/>
                <a:moveTo>
                  <a:pt x="0" y="95250"/>
                </a:moveTo>
                <a:cubicBezTo>
                  <a:pt x="0" y="42680"/>
                  <a:pt x="42680" y="0"/>
                  <a:pt x="95250" y="0"/>
                </a:cubicBez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lose/>
                <a:moveTo>
                  <a:pt x="95250" y="125016"/>
                </a:moveTo>
                <a:cubicBezTo>
                  <a:pt x="111678" y="125016"/>
                  <a:pt x="125016" y="111678"/>
                  <a:pt x="125016" y="95250"/>
                </a:cubicBezTo>
                <a:cubicBezTo>
                  <a:pt x="125016" y="78822"/>
                  <a:pt x="111678" y="65484"/>
                  <a:pt x="95250" y="65484"/>
                </a:cubicBezTo>
                <a:cubicBezTo>
                  <a:pt x="78822" y="65484"/>
                  <a:pt x="65484" y="78822"/>
                  <a:pt x="65484" y="95250"/>
                </a:cubicBezTo>
                <a:cubicBezTo>
                  <a:pt x="65484" y="111678"/>
                  <a:pt x="78822" y="125016"/>
                  <a:pt x="95250" y="125016"/>
                </a:cubicBezTo>
                <a:close/>
                <a:moveTo>
                  <a:pt x="95250" y="41672"/>
                </a:moveTo>
                <a:cubicBezTo>
                  <a:pt x="124821" y="41672"/>
                  <a:pt x="148828" y="65679"/>
                  <a:pt x="148828" y="95250"/>
                </a:cubicBezTo>
                <a:cubicBezTo>
                  <a:pt x="148828" y="124821"/>
                  <a:pt x="124821" y="148828"/>
                  <a:pt x="95250" y="148828"/>
                </a:cubicBezTo>
                <a:cubicBezTo>
                  <a:pt x="65679" y="148828"/>
                  <a:pt x="41672" y="124821"/>
                  <a:pt x="41672" y="95250"/>
                </a:cubicBezTo>
                <a:cubicBezTo>
                  <a:pt x="41672" y="65679"/>
                  <a:pt x="65679" y="41672"/>
                  <a:pt x="95250" y="41672"/>
                </a:cubicBezTo>
                <a:close/>
                <a:moveTo>
                  <a:pt x="83344" y="95250"/>
                </a:moveTo>
                <a:cubicBezTo>
                  <a:pt x="83344" y="88679"/>
                  <a:pt x="88679" y="83344"/>
                  <a:pt x="95250" y="83344"/>
                </a:cubicBezTo>
                <a:cubicBezTo>
                  <a:pt x="101821" y="83344"/>
                  <a:pt x="107156" y="88679"/>
                  <a:pt x="107156" y="95250"/>
                </a:cubicBezTo>
                <a:cubicBezTo>
                  <a:pt x="107156" y="101821"/>
                  <a:pt x="101821" y="107156"/>
                  <a:pt x="95250" y="107156"/>
                </a:cubicBezTo>
                <a:cubicBezTo>
                  <a:pt x="88679" y="107156"/>
                  <a:pt x="83344" y="101821"/>
                  <a:pt x="83344" y="952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Text 15"/>
          <p:cNvSpPr/>
          <p:nvPr/>
        </p:nvSpPr>
        <p:spPr>
          <a:xfrm>
            <a:off x="3015853" y="4902200"/>
            <a:ext cx="4419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kern="0" spc="53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Areas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3015853" y="5092700"/>
            <a:ext cx="4438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Reader Engagement • Pricing Impact • Genre Performance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5525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Context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 of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562100"/>
            <a:ext cx="5581650" cy="1390650"/>
          </a:xfrm>
          <a:custGeom>
            <a:avLst/>
            <a:gdLst/>
            <a:ahLst/>
            <a:cxnLst/>
            <a:rect l="l" t="t" r="r" b="b"/>
            <a:pathLst>
              <a:path w="5581650" h="1390650">
                <a:moveTo>
                  <a:pt x="0" y="0"/>
                </a:moveTo>
                <a:lnTo>
                  <a:pt x="5505456" y="0"/>
                </a:lnTo>
                <a:cubicBezTo>
                  <a:pt x="5547509" y="0"/>
                  <a:pt x="5581650" y="34141"/>
                  <a:pt x="5581650" y="76194"/>
                </a:cubicBezTo>
                <a:lnTo>
                  <a:pt x="5581650" y="1314456"/>
                </a:lnTo>
                <a:cubicBezTo>
                  <a:pt x="5581650" y="1356509"/>
                  <a:pt x="5547509" y="1390650"/>
                  <a:pt x="5505456" y="1390650"/>
                </a:cubicBez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4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400050" y="1562100"/>
            <a:ext cx="38100" cy="1390650"/>
          </a:xfrm>
          <a:custGeom>
            <a:avLst/>
            <a:gdLst/>
            <a:ahLst/>
            <a:cxnLst/>
            <a:rect l="l" t="t" r="r" b="b"/>
            <a:pathLst>
              <a:path w="38100" h="1390650">
                <a:moveTo>
                  <a:pt x="0" y="0"/>
                </a:moveTo>
                <a:lnTo>
                  <a:pt x="38100" y="0"/>
                </a:lnTo>
                <a:lnTo>
                  <a:pt x="38100" y="1390650"/>
                </a:lnTo>
                <a:lnTo>
                  <a:pt x="0" y="139065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647700" y="1790700"/>
            <a:ext cx="5200650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goal of this analysis is to understand the </a:t>
            </a: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factors influencing reader engagement</a:t>
            </a: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satisfaction</a:t>
            </a: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the book market.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175" y="3141663"/>
            <a:ext cx="5597525" cy="2063750"/>
          </a:xfrm>
          <a:custGeom>
            <a:avLst/>
            <a:gdLst/>
            <a:ahLst/>
            <a:cxnLst/>
            <a:rect l="l" t="t" r="r" b="b"/>
            <a:pathLst>
              <a:path w="5597525" h="2063750">
                <a:moveTo>
                  <a:pt x="76194" y="0"/>
                </a:moveTo>
                <a:lnTo>
                  <a:pt x="5521331" y="0"/>
                </a:lnTo>
                <a:cubicBezTo>
                  <a:pt x="5563412" y="0"/>
                  <a:pt x="5597525" y="34113"/>
                  <a:pt x="5597525" y="76194"/>
                </a:cubicBezTo>
                <a:lnTo>
                  <a:pt x="5597525" y="1987556"/>
                </a:lnTo>
                <a:cubicBezTo>
                  <a:pt x="5597525" y="2029637"/>
                  <a:pt x="5563412" y="2063750"/>
                  <a:pt x="5521331" y="2063750"/>
                </a:cubicBezTo>
                <a:lnTo>
                  <a:pt x="76194" y="2063750"/>
                </a:lnTo>
                <a:cubicBezTo>
                  <a:pt x="34113" y="2063750"/>
                  <a:pt x="0" y="2029637"/>
                  <a:pt x="0" y="1987556"/>
                </a:cubicBezTo>
                <a:lnTo>
                  <a:pt x="0" y="76194"/>
                </a:lnTo>
                <a:cubicBezTo>
                  <a:pt x="0" y="34113"/>
                  <a:pt x="34113" y="0"/>
                  <a:pt x="76194" y="0"/>
                </a:cubicBezTo>
                <a:close/>
              </a:path>
            </a:pathLst>
          </a:custGeom>
          <a:solidFill>
            <a:srgbClr val="1A1D21"/>
          </a:solidFill>
          <a:ln w="8467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1663" y="3382963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171450"/>
                </a:moveTo>
                <a:cubicBezTo>
                  <a:pt x="133038" y="171450"/>
                  <a:pt x="171450" y="133038"/>
                  <a:pt x="171450" y="85725"/>
                </a:cubicBezTo>
                <a:cubicBezTo>
                  <a:pt x="171450" y="38412"/>
                  <a:pt x="133038" y="0"/>
                  <a:pt x="85725" y="0"/>
                </a:cubicBezTo>
                <a:cubicBezTo>
                  <a:pt x="38412" y="0"/>
                  <a:pt x="0" y="38412"/>
                  <a:pt x="0" y="85725"/>
                </a:cubicBezTo>
                <a:cubicBezTo>
                  <a:pt x="0" y="133038"/>
                  <a:pt x="38412" y="171450"/>
                  <a:pt x="85725" y="171450"/>
                </a:cubicBezTo>
                <a:close/>
                <a:moveTo>
                  <a:pt x="85725" y="58936"/>
                </a:moveTo>
                <a:cubicBezTo>
                  <a:pt x="79798" y="58936"/>
                  <a:pt x="75009" y="63724"/>
                  <a:pt x="75009" y="69652"/>
                </a:cubicBezTo>
                <a:cubicBezTo>
                  <a:pt x="75009" y="74105"/>
                  <a:pt x="71426" y="77688"/>
                  <a:pt x="66973" y="77688"/>
                </a:cubicBezTo>
                <a:cubicBezTo>
                  <a:pt x="62519" y="77688"/>
                  <a:pt x="58936" y="74105"/>
                  <a:pt x="58936" y="69652"/>
                </a:cubicBezTo>
                <a:cubicBezTo>
                  <a:pt x="58936" y="54851"/>
                  <a:pt x="70924" y="42863"/>
                  <a:pt x="85725" y="42863"/>
                </a:cubicBezTo>
                <a:cubicBezTo>
                  <a:pt x="100526" y="42863"/>
                  <a:pt x="112514" y="54851"/>
                  <a:pt x="112514" y="69652"/>
                </a:cubicBezTo>
                <a:cubicBezTo>
                  <a:pt x="112514" y="85457"/>
                  <a:pt x="100459" y="92154"/>
                  <a:pt x="93762" y="94599"/>
                </a:cubicBezTo>
                <a:lnTo>
                  <a:pt x="93762" y="95871"/>
                </a:lnTo>
                <a:cubicBezTo>
                  <a:pt x="93762" y="100325"/>
                  <a:pt x="90179" y="103908"/>
                  <a:pt x="85725" y="103908"/>
                </a:cubicBezTo>
                <a:cubicBezTo>
                  <a:pt x="81271" y="103908"/>
                  <a:pt x="77688" y="100325"/>
                  <a:pt x="77688" y="95871"/>
                </a:cubicBezTo>
                <a:lnTo>
                  <a:pt x="77688" y="93159"/>
                </a:lnTo>
                <a:cubicBezTo>
                  <a:pt x="77688" y="86294"/>
                  <a:pt x="82644" y="81372"/>
                  <a:pt x="87768" y="79697"/>
                </a:cubicBezTo>
                <a:cubicBezTo>
                  <a:pt x="89911" y="78994"/>
                  <a:pt x="92188" y="77856"/>
                  <a:pt x="93862" y="76248"/>
                </a:cubicBezTo>
                <a:cubicBezTo>
                  <a:pt x="95302" y="74842"/>
                  <a:pt x="96441" y="72900"/>
                  <a:pt x="96441" y="69685"/>
                </a:cubicBezTo>
                <a:cubicBezTo>
                  <a:pt x="96441" y="63758"/>
                  <a:pt x="91652" y="58969"/>
                  <a:pt x="85725" y="58969"/>
                </a:cubicBezTo>
                <a:close/>
                <a:moveTo>
                  <a:pt x="75009" y="123230"/>
                </a:moveTo>
                <a:cubicBezTo>
                  <a:pt x="75009" y="117316"/>
                  <a:pt x="79811" y="112514"/>
                  <a:pt x="85725" y="112514"/>
                </a:cubicBezTo>
                <a:cubicBezTo>
                  <a:pt x="91639" y="112514"/>
                  <a:pt x="96441" y="117316"/>
                  <a:pt x="96441" y="123230"/>
                </a:cubicBezTo>
                <a:cubicBezTo>
                  <a:pt x="96441" y="129144"/>
                  <a:pt x="91639" y="133945"/>
                  <a:pt x="85725" y="133945"/>
                </a:cubicBezTo>
                <a:cubicBezTo>
                  <a:pt x="79811" y="133945"/>
                  <a:pt x="75009" y="129144"/>
                  <a:pt x="75009" y="12323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1" name="Text 9"/>
          <p:cNvSpPr/>
          <p:nvPr/>
        </p:nvSpPr>
        <p:spPr>
          <a:xfrm>
            <a:off x="796925" y="3335338"/>
            <a:ext cx="5076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Questions We Aim to Answer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7850" y="37925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03560" y="3849688"/>
            <a:ext cx="123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96950" y="3754438"/>
            <a:ext cx="2657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Does </a:t>
            </a:r>
            <a:r>
              <a:rPr lang="en-US" sz="12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impact customer ratings?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77850" y="42497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91455" y="4306888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96950" y="4211638"/>
            <a:ext cx="2781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Which </a:t>
            </a:r>
            <a:r>
              <a:rPr lang="en-US" sz="12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drive higher engagement?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7850" y="4706938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cubicBezTo>
                  <a:pt x="236512" y="0"/>
                  <a:pt x="304800" y="68288"/>
                  <a:pt x="304800" y="152400"/>
                </a:cubicBezTo>
                <a:lnTo>
                  <a:pt x="304800" y="152400"/>
                </a:lnTo>
                <a:cubicBezTo>
                  <a:pt x="304800" y="236512"/>
                  <a:pt x="236512" y="304800"/>
                  <a:pt x="152400" y="304800"/>
                </a:cubicBezTo>
                <a:lnTo>
                  <a:pt x="152400" y="304800"/>
                </a:lnTo>
                <a:cubicBezTo>
                  <a:pt x="68288" y="304800"/>
                  <a:pt x="0" y="236512"/>
                  <a:pt x="0" y="1524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90860" y="4764088"/>
            <a:ext cx="142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96950" y="4668838"/>
            <a:ext cx="2752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</a:t>
            </a:r>
            <a:r>
              <a:rPr lang="en-US" sz="12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factors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influence reader behavior?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3475" y="1565275"/>
            <a:ext cx="5597525" cy="3273425"/>
          </a:xfrm>
          <a:custGeom>
            <a:avLst/>
            <a:gdLst/>
            <a:ahLst/>
            <a:cxnLst/>
            <a:rect l="l" t="t" r="r" b="b"/>
            <a:pathLst>
              <a:path w="5597525" h="3273425">
                <a:moveTo>
                  <a:pt x="76205" y="0"/>
                </a:moveTo>
                <a:lnTo>
                  <a:pt x="5521320" y="0"/>
                </a:lnTo>
                <a:cubicBezTo>
                  <a:pt x="5563407" y="0"/>
                  <a:pt x="5597525" y="34118"/>
                  <a:pt x="5597525" y="76205"/>
                </a:cubicBezTo>
                <a:lnTo>
                  <a:pt x="5597525" y="3197220"/>
                </a:lnTo>
                <a:cubicBezTo>
                  <a:pt x="5597525" y="3239307"/>
                  <a:pt x="5563407" y="3273425"/>
                  <a:pt x="5521320" y="3273425"/>
                </a:cubicBezTo>
                <a:lnTo>
                  <a:pt x="76205" y="3273425"/>
                </a:lnTo>
                <a:cubicBezTo>
                  <a:pt x="34118" y="3273425"/>
                  <a:pt x="0" y="3239307"/>
                  <a:pt x="0" y="3197220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502400" y="183515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6845300" y="1797050"/>
            <a:ext cx="18954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445250" y="2254251"/>
            <a:ext cx="52197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these dynamics helps businesses make </a:t>
            </a:r>
            <a:r>
              <a:rPr lang="en-US" sz="1350" b="1" dirty="0">
                <a:solidFill>
                  <a:srgbClr val="38B2AC"/>
                </a:solidFill>
                <a:highlight>
                  <a:srgbClr val="38B2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better strategic decisions </a:t>
            </a:r>
            <a:r>
              <a:rPr lang="en-US" sz="135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across multiple dimensions: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45250" y="3001963"/>
            <a:ext cx="1609725" cy="1600200"/>
          </a:xfrm>
          <a:custGeom>
            <a:avLst/>
            <a:gdLst/>
            <a:ahLst/>
            <a:cxnLst/>
            <a:rect l="l" t="t" r="r" b="b"/>
            <a:pathLst>
              <a:path w="1609725" h="1600200">
                <a:moveTo>
                  <a:pt x="76202" y="0"/>
                </a:moveTo>
                <a:lnTo>
                  <a:pt x="1533523" y="0"/>
                </a:lnTo>
                <a:cubicBezTo>
                  <a:pt x="1575608" y="0"/>
                  <a:pt x="1609725" y="34117"/>
                  <a:pt x="1609725" y="76202"/>
                </a:cubicBezTo>
                <a:lnTo>
                  <a:pt x="1609725" y="1523998"/>
                </a:lnTo>
                <a:cubicBezTo>
                  <a:pt x="1609725" y="1566083"/>
                  <a:pt x="1575608" y="1600200"/>
                  <a:pt x="1533523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82817" y="31543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7178080" y="3306763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Text 26"/>
          <p:cNvSpPr/>
          <p:nvPr/>
        </p:nvSpPr>
        <p:spPr>
          <a:xfrm>
            <a:off x="6559550" y="3802063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Strategy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564313" y="4068763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price points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206284" y="3001963"/>
            <a:ext cx="1609725" cy="1600200"/>
          </a:xfrm>
          <a:custGeom>
            <a:avLst/>
            <a:gdLst/>
            <a:ahLst/>
            <a:cxnLst/>
            <a:rect l="l" t="t" r="r" b="b"/>
            <a:pathLst>
              <a:path w="1609725" h="1600200">
                <a:moveTo>
                  <a:pt x="76202" y="0"/>
                </a:moveTo>
                <a:lnTo>
                  <a:pt x="1533523" y="0"/>
                </a:lnTo>
                <a:cubicBezTo>
                  <a:pt x="1575608" y="0"/>
                  <a:pt x="1609725" y="34117"/>
                  <a:pt x="1609725" y="76202"/>
                </a:cubicBezTo>
                <a:lnTo>
                  <a:pt x="1609725" y="1523998"/>
                </a:lnTo>
                <a:cubicBezTo>
                  <a:pt x="1609725" y="1566083"/>
                  <a:pt x="1575608" y="1600200"/>
                  <a:pt x="1533523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743851" y="31543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910539" y="3306763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171450" y="228600"/>
                </a:moveTo>
                <a:lnTo>
                  <a:pt x="42863" y="228600"/>
                </a:lnTo>
                <a:cubicBezTo>
                  <a:pt x="19199" y="228600"/>
                  <a:pt x="0" y="209401"/>
                  <a:pt x="0" y="185738"/>
                </a:cubicBezTo>
                <a:lnTo>
                  <a:pt x="0" y="42863"/>
                </a:lnTo>
                <a:cubicBezTo>
                  <a:pt x="0" y="19199"/>
                  <a:pt x="19199" y="0"/>
                  <a:pt x="42863" y="0"/>
                </a:cubicBezTo>
                <a:lnTo>
                  <a:pt x="178594" y="0"/>
                </a:lnTo>
                <a:cubicBezTo>
                  <a:pt x="190426" y="0"/>
                  <a:pt x="200025" y="9599"/>
                  <a:pt x="200025" y="21431"/>
                </a:cubicBezTo>
                <a:lnTo>
                  <a:pt x="200025" y="150019"/>
                </a:lnTo>
                <a:cubicBezTo>
                  <a:pt x="200025" y="159350"/>
                  <a:pt x="194042" y="167298"/>
                  <a:pt x="185738" y="170244"/>
                </a:cubicBezTo>
                <a:lnTo>
                  <a:pt x="185738" y="200025"/>
                </a:lnTo>
                <a:cubicBezTo>
                  <a:pt x="193640" y="200025"/>
                  <a:pt x="200025" y="206410"/>
                  <a:pt x="200025" y="214313"/>
                </a:cubicBezTo>
                <a:cubicBezTo>
                  <a:pt x="200025" y="222215"/>
                  <a:pt x="193640" y="228600"/>
                  <a:pt x="185738" y="228600"/>
                </a:cubicBezTo>
                <a:lnTo>
                  <a:pt x="171450" y="228600"/>
                </a:lnTo>
                <a:close/>
                <a:moveTo>
                  <a:pt x="42863" y="171450"/>
                </a:moveTo>
                <a:cubicBezTo>
                  <a:pt x="34960" y="171450"/>
                  <a:pt x="28575" y="177835"/>
                  <a:pt x="28575" y="185738"/>
                </a:cubicBezTo>
                <a:cubicBezTo>
                  <a:pt x="28575" y="193640"/>
                  <a:pt x="34960" y="200025"/>
                  <a:pt x="42863" y="200025"/>
                </a:cubicBezTo>
                <a:lnTo>
                  <a:pt x="157163" y="200025"/>
                </a:lnTo>
                <a:lnTo>
                  <a:pt x="157163" y="171450"/>
                </a:lnTo>
                <a:lnTo>
                  <a:pt x="42863" y="171450"/>
                </a:lnTo>
                <a:close/>
                <a:moveTo>
                  <a:pt x="57150" y="67866"/>
                </a:moveTo>
                <a:cubicBezTo>
                  <a:pt x="57150" y="73804"/>
                  <a:pt x="61927" y="78581"/>
                  <a:pt x="67866" y="78581"/>
                </a:cubicBezTo>
                <a:lnTo>
                  <a:pt x="146447" y="78581"/>
                </a:lnTo>
                <a:cubicBezTo>
                  <a:pt x="152385" y="78581"/>
                  <a:pt x="157163" y="73804"/>
                  <a:pt x="157163" y="67866"/>
                </a:cubicBezTo>
                <a:cubicBezTo>
                  <a:pt x="157163" y="61927"/>
                  <a:pt x="152385" y="57150"/>
                  <a:pt x="146447" y="57150"/>
                </a:cubicBezTo>
                <a:lnTo>
                  <a:pt x="67866" y="57150"/>
                </a:lnTo>
                <a:cubicBezTo>
                  <a:pt x="61927" y="57150"/>
                  <a:pt x="57150" y="61927"/>
                  <a:pt x="57150" y="67866"/>
                </a:cubicBezTo>
                <a:close/>
                <a:moveTo>
                  <a:pt x="67866" y="100013"/>
                </a:moveTo>
                <a:cubicBezTo>
                  <a:pt x="61927" y="100013"/>
                  <a:pt x="57150" y="104790"/>
                  <a:pt x="57150" y="110728"/>
                </a:cubicBezTo>
                <a:cubicBezTo>
                  <a:pt x="57150" y="116666"/>
                  <a:pt x="61927" y="121444"/>
                  <a:pt x="67866" y="121444"/>
                </a:cubicBezTo>
                <a:lnTo>
                  <a:pt x="146447" y="121444"/>
                </a:lnTo>
                <a:cubicBezTo>
                  <a:pt x="152385" y="121444"/>
                  <a:pt x="157163" y="116666"/>
                  <a:pt x="157163" y="110728"/>
                </a:cubicBezTo>
                <a:cubicBezTo>
                  <a:pt x="157163" y="104790"/>
                  <a:pt x="152385" y="100013"/>
                  <a:pt x="146447" y="100013"/>
                </a:cubicBezTo>
                <a:lnTo>
                  <a:pt x="67866" y="10001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3" name="Text 31"/>
          <p:cNvSpPr/>
          <p:nvPr/>
        </p:nvSpPr>
        <p:spPr>
          <a:xfrm>
            <a:off x="8320584" y="3802063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Strategy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25346" y="4068763"/>
            <a:ext cx="137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high-performing genres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9967317" y="3001963"/>
            <a:ext cx="1609725" cy="1600200"/>
          </a:xfrm>
          <a:custGeom>
            <a:avLst/>
            <a:gdLst/>
            <a:ahLst/>
            <a:cxnLst/>
            <a:rect l="l" t="t" r="r" b="b"/>
            <a:pathLst>
              <a:path w="1609725" h="1600200">
                <a:moveTo>
                  <a:pt x="76202" y="0"/>
                </a:moveTo>
                <a:lnTo>
                  <a:pt x="1533523" y="0"/>
                </a:lnTo>
                <a:cubicBezTo>
                  <a:pt x="1575608" y="0"/>
                  <a:pt x="1609725" y="34117"/>
                  <a:pt x="1609725" y="76202"/>
                </a:cubicBezTo>
                <a:lnTo>
                  <a:pt x="1609725" y="1523998"/>
                </a:lnTo>
                <a:cubicBezTo>
                  <a:pt x="1609725" y="1566083"/>
                  <a:pt x="1575608" y="1600200"/>
                  <a:pt x="1533523" y="1600200"/>
                </a:cubicBezTo>
                <a:lnTo>
                  <a:pt x="76202" y="1600200"/>
                </a:lnTo>
                <a:cubicBezTo>
                  <a:pt x="34117" y="1600200"/>
                  <a:pt x="0" y="1566083"/>
                  <a:pt x="0" y="1523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0504884" y="3154363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0657284" y="330676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57150" y="42863"/>
                </a:moveTo>
                <a:cubicBezTo>
                  <a:pt x="57150" y="34960"/>
                  <a:pt x="63535" y="28575"/>
                  <a:pt x="71438" y="28575"/>
                </a:cubicBezTo>
                <a:lnTo>
                  <a:pt x="157163" y="28575"/>
                </a:lnTo>
                <a:cubicBezTo>
                  <a:pt x="165065" y="28575"/>
                  <a:pt x="171450" y="34960"/>
                  <a:pt x="171450" y="42863"/>
                </a:cubicBezTo>
                <a:cubicBezTo>
                  <a:pt x="171450" y="50765"/>
                  <a:pt x="165065" y="57150"/>
                  <a:pt x="157163" y="57150"/>
                </a:cubicBezTo>
                <a:lnTo>
                  <a:pt x="71438" y="57150"/>
                </a:lnTo>
                <a:cubicBezTo>
                  <a:pt x="63535" y="57150"/>
                  <a:pt x="57150" y="50765"/>
                  <a:pt x="57150" y="42863"/>
                </a:cubicBezTo>
                <a:close/>
                <a:moveTo>
                  <a:pt x="71438" y="78581"/>
                </a:moveTo>
                <a:lnTo>
                  <a:pt x="128588" y="78581"/>
                </a:lnTo>
                <a:cubicBezTo>
                  <a:pt x="136490" y="78581"/>
                  <a:pt x="142875" y="84966"/>
                  <a:pt x="142875" y="92869"/>
                </a:cubicBezTo>
                <a:cubicBezTo>
                  <a:pt x="142875" y="100772"/>
                  <a:pt x="136490" y="107156"/>
                  <a:pt x="128588" y="107156"/>
                </a:cubicBezTo>
                <a:lnTo>
                  <a:pt x="71438" y="107156"/>
                </a:lnTo>
                <a:cubicBezTo>
                  <a:pt x="63535" y="107156"/>
                  <a:pt x="57150" y="100772"/>
                  <a:pt x="57150" y="92869"/>
                </a:cubicBezTo>
                <a:cubicBezTo>
                  <a:pt x="57150" y="84966"/>
                  <a:pt x="63535" y="78581"/>
                  <a:pt x="71438" y="78581"/>
                </a:cubicBezTo>
                <a:close/>
                <a:moveTo>
                  <a:pt x="71438" y="128588"/>
                </a:moveTo>
                <a:lnTo>
                  <a:pt x="185738" y="128588"/>
                </a:lnTo>
                <a:cubicBezTo>
                  <a:pt x="193640" y="128588"/>
                  <a:pt x="200025" y="134972"/>
                  <a:pt x="200025" y="142875"/>
                </a:cubicBezTo>
                <a:cubicBezTo>
                  <a:pt x="200025" y="150778"/>
                  <a:pt x="193640" y="157163"/>
                  <a:pt x="185738" y="157163"/>
                </a:cubicBezTo>
                <a:lnTo>
                  <a:pt x="71438" y="157163"/>
                </a:lnTo>
                <a:cubicBezTo>
                  <a:pt x="63535" y="157163"/>
                  <a:pt x="57150" y="150778"/>
                  <a:pt x="57150" y="142875"/>
                </a:cubicBezTo>
                <a:cubicBezTo>
                  <a:pt x="57150" y="134972"/>
                  <a:pt x="63535" y="128588"/>
                  <a:pt x="71438" y="12858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Text 36"/>
          <p:cNvSpPr/>
          <p:nvPr/>
        </p:nvSpPr>
        <p:spPr>
          <a:xfrm>
            <a:off x="10081617" y="3802063"/>
            <a:ext cx="1381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Positioning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0086380" y="4068763"/>
            <a:ext cx="13716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 advantage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3398" y="363398"/>
            <a:ext cx="363398" cy="363398"/>
          </a:xfrm>
          <a:custGeom>
            <a:avLst/>
            <a:gdLst/>
            <a:ahLst/>
            <a:cxnLst/>
            <a:rect l="l" t="t" r="r" b="b"/>
            <a:pathLst>
              <a:path w="363398" h="363398">
                <a:moveTo>
                  <a:pt x="72680" y="0"/>
                </a:moveTo>
                <a:lnTo>
                  <a:pt x="290718" y="0"/>
                </a:lnTo>
                <a:cubicBezTo>
                  <a:pt x="330831" y="0"/>
                  <a:pt x="363398" y="32567"/>
                  <a:pt x="363398" y="72680"/>
                </a:cubicBezTo>
                <a:lnTo>
                  <a:pt x="363398" y="290718"/>
                </a:lnTo>
                <a:cubicBezTo>
                  <a:pt x="363398" y="330831"/>
                  <a:pt x="330831" y="363398"/>
                  <a:pt x="290718" y="363398"/>
                </a:cubicBezTo>
                <a:lnTo>
                  <a:pt x="72680" y="363398"/>
                </a:lnTo>
                <a:cubicBezTo>
                  <a:pt x="32567" y="363398"/>
                  <a:pt x="0" y="330831"/>
                  <a:pt x="0" y="290718"/>
                </a:cubicBezTo>
                <a:lnTo>
                  <a:pt x="0" y="72680"/>
                </a:lnTo>
                <a:cubicBezTo>
                  <a:pt x="0" y="32567"/>
                  <a:pt x="32567" y="0"/>
                  <a:pt x="7268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5824" y="463332"/>
            <a:ext cx="143088" cy="163529"/>
          </a:xfrm>
          <a:custGeom>
            <a:avLst/>
            <a:gdLst/>
            <a:ahLst/>
            <a:cxnLst/>
            <a:rect l="l" t="t" r="r" b="b"/>
            <a:pathLst>
              <a:path w="143088" h="163529">
                <a:moveTo>
                  <a:pt x="143088" y="65731"/>
                </a:moveTo>
                <a:cubicBezTo>
                  <a:pt x="138361" y="68861"/>
                  <a:pt x="132931" y="71384"/>
                  <a:pt x="127278" y="73396"/>
                </a:cubicBezTo>
                <a:cubicBezTo>
                  <a:pt x="112267" y="78762"/>
                  <a:pt x="92560" y="81765"/>
                  <a:pt x="71544" y="81765"/>
                </a:cubicBezTo>
                <a:cubicBezTo>
                  <a:pt x="50528" y="81765"/>
                  <a:pt x="30789" y="78730"/>
                  <a:pt x="15810" y="73396"/>
                </a:cubicBezTo>
                <a:cubicBezTo>
                  <a:pt x="10189" y="71384"/>
                  <a:pt x="4727" y="68861"/>
                  <a:pt x="0" y="65731"/>
                </a:cubicBezTo>
                <a:lnTo>
                  <a:pt x="0" y="91985"/>
                </a:lnTo>
                <a:cubicBezTo>
                  <a:pt x="0" y="106102"/>
                  <a:pt x="32035" y="117537"/>
                  <a:pt x="71544" y="117537"/>
                </a:cubicBezTo>
                <a:cubicBezTo>
                  <a:pt x="111053" y="117537"/>
                  <a:pt x="143088" y="106102"/>
                  <a:pt x="143088" y="91985"/>
                </a:cubicBezTo>
                <a:lnTo>
                  <a:pt x="143088" y="65731"/>
                </a:lnTo>
                <a:close/>
                <a:moveTo>
                  <a:pt x="143088" y="40882"/>
                </a:moveTo>
                <a:lnTo>
                  <a:pt x="143088" y="25551"/>
                </a:lnTo>
                <a:cubicBezTo>
                  <a:pt x="143088" y="11434"/>
                  <a:pt x="111053" y="0"/>
                  <a:pt x="71544" y="0"/>
                </a:cubicBezTo>
                <a:cubicBezTo>
                  <a:pt x="32035" y="0"/>
                  <a:pt x="0" y="11434"/>
                  <a:pt x="0" y="25551"/>
                </a:cubicBezTo>
                <a:lnTo>
                  <a:pt x="0" y="40882"/>
                </a:lnTo>
                <a:cubicBezTo>
                  <a:pt x="0" y="54999"/>
                  <a:pt x="32035" y="66434"/>
                  <a:pt x="71544" y="66434"/>
                </a:cubicBezTo>
                <a:cubicBezTo>
                  <a:pt x="111053" y="66434"/>
                  <a:pt x="143088" y="54999"/>
                  <a:pt x="143088" y="40882"/>
                </a:cubicBezTo>
                <a:close/>
                <a:moveTo>
                  <a:pt x="127278" y="124499"/>
                </a:moveTo>
                <a:cubicBezTo>
                  <a:pt x="112298" y="129833"/>
                  <a:pt x="92592" y="132867"/>
                  <a:pt x="71544" y="132867"/>
                </a:cubicBezTo>
                <a:cubicBezTo>
                  <a:pt x="50496" y="132867"/>
                  <a:pt x="30789" y="129833"/>
                  <a:pt x="15810" y="124499"/>
                </a:cubicBezTo>
                <a:cubicBezTo>
                  <a:pt x="10189" y="122487"/>
                  <a:pt x="4727" y="119964"/>
                  <a:pt x="0" y="116834"/>
                </a:cubicBezTo>
                <a:lnTo>
                  <a:pt x="0" y="137978"/>
                </a:lnTo>
                <a:cubicBezTo>
                  <a:pt x="0" y="152095"/>
                  <a:pt x="32035" y="163529"/>
                  <a:pt x="71544" y="163529"/>
                </a:cubicBezTo>
                <a:cubicBezTo>
                  <a:pt x="111053" y="163529"/>
                  <a:pt x="143088" y="152095"/>
                  <a:pt x="143088" y="137978"/>
                </a:cubicBezTo>
                <a:lnTo>
                  <a:pt x="143088" y="116834"/>
                </a:lnTo>
                <a:cubicBezTo>
                  <a:pt x="138361" y="119964"/>
                  <a:pt x="132931" y="122487"/>
                  <a:pt x="127278" y="12449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835815" y="454247"/>
            <a:ext cx="1435422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1" b="1" kern="0" spc="10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Foundation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3398" y="835815"/>
            <a:ext cx="11683243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3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Summary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6426" y="1492960"/>
            <a:ext cx="2722456" cy="2186444"/>
          </a:xfrm>
          <a:custGeom>
            <a:avLst/>
            <a:gdLst/>
            <a:ahLst/>
            <a:cxnLst/>
            <a:rect l="l" t="t" r="r" b="b"/>
            <a:pathLst>
              <a:path w="2722456" h="2186444">
                <a:moveTo>
                  <a:pt x="72677" y="0"/>
                </a:moveTo>
                <a:lnTo>
                  <a:pt x="2649779" y="0"/>
                </a:lnTo>
                <a:cubicBezTo>
                  <a:pt x="2689917" y="0"/>
                  <a:pt x="2722456" y="32539"/>
                  <a:pt x="2722456" y="72677"/>
                </a:cubicBezTo>
                <a:lnTo>
                  <a:pt x="2722456" y="2113767"/>
                </a:lnTo>
                <a:cubicBezTo>
                  <a:pt x="2722456" y="2153905"/>
                  <a:pt x="2689917" y="2186444"/>
                  <a:pt x="2649779" y="2186444"/>
                </a:cubicBezTo>
                <a:lnTo>
                  <a:pt x="72677" y="2186444"/>
                </a:lnTo>
                <a:cubicBezTo>
                  <a:pt x="32539" y="2186444"/>
                  <a:pt x="0" y="2153905"/>
                  <a:pt x="0" y="2113767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37882" y="1714028"/>
            <a:ext cx="581437" cy="581437"/>
          </a:xfrm>
          <a:custGeom>
            <a:avLst/>
            <a:gdLst/>
            <a:ahLst/>
            <a:cxnLst/>
            <a:rect l="l" t="t" r="r" b="b"/>
            <a:pathLst>
              <a:path w="581437" h="581437">
                <a:moveTo>
                  <a:pt x="290718" y="0"/>
                </a:moveTo>
                <a:lnTo>
                  <a:pt x="290718" y="0"/>
                </a:lnTo>
                <a:cubicBezTo>
                  <a:pt x="451170" y="0"/>
                  <a:pt x="581437" y="130267"/>
                  <a:pt x="581437" y="290718"/>
                </a:cubicBezTo>
                <a:lnTo>
                  <a:pt x="581437" y="290718"/>
                </a:lnTo>
                <a:cubicBezTo>
                  <a:pt x="581437" y="451170"/>
                  <a:pt x="451170" y="581437"/>
                  <a:pt x="290718" y="581437"/>
                </a:cubicBezTo>
                <a:lnTo>
                  <a:pt x="290718" y="581437"/>
                </a:lnTo>
                <a:cubicBezTo>
                  <a:pt x="130267" y="581437"/>
                  <a:pt x="0" y="451170"/>
                  <a:pt x="0" y="290718"/>
                </a:cubicBezTo>
                <a:lnTo>
                  <a:pt x="0" y="290718"/>
                </a:lnTo>
                <a:cubicBezTo>
                  <a:pt x="0" y="130267"/>
                  <a:pt x="130267" y="0"/>
                  <a:pt x="290718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611632" y="1868472"/>
            <a:ext cx="238480" cy="272548"/>
          </a:xfrm>
          <a:custGeom>
            <a:avLst/>
            <a:gdLst/>
            <a:ahLst/>
            <a:cxnLst/>
            <a:rect l="l" t="t" r="r" b="b"/>
            <a:pathLst>
              <a:path w="238480" h="272548">
                <a:moveTo>
                  <a:pt x="204411" y="272548"/>
                </a:moveTo>
                <a:lnTo>
                  <a:pt x="51103" y="272548"/>
                </a:lnTo>
                <a:cubicBezTo>
                  <a:pt x="22890" y="272548"/>
                  <a:pt x="0" y="249659"/>
                  <a:pt x="0" y="221446"/>
                </a:cubicBezTo>
                <a:lnTo>
                  <a:pt x="0" y="51103"/>
                </a:lnTo>
                <a:cubicBezTo>
                  <a:pt x="0" y="22890"/>
                  <a:pt x="22890" y="0"/>
                  <a:pt x="51103" y="0"/>
                </a:cubicBezTo>
                <a:lnTo>
                  <a:pt x="212928" y="0"/>
                </a:lnTo>
                <a:cubicBezTo>
                  <a:pt x="227035" y="0"/>
                  <a:pt x="238480" y="11445"/>
                  <a:pt x="238480" y="25551"/>
                </a:cubicBezTo>
                <a:lnTo>
                  <a:pt x="238480" y="178860"/>
                </a:lnTo>
                <a:cubicBezTo>
                  <a:pt x="238480" y="189985"/>
                  <a:pt x="231347" y="199461"/>
                  <a:pt x="221446" y="202974"/>
                </a:cubicBezTo>
                <a:lnTo>
                  <a:pt x="221446" y="238480"/>
                </a:lnTo>
                <a:cubicBezTo>
                  <a:pt x="230868" y="238480"/>
                  <a:pt x="238480" y="246092"/>
                  <a:pt x="238480" y="255514"/>
                </a:cubicBezTo>
                <a:cubicBezTo>
                  <a:pt x="238480" y="264936"/>
                  <a:pt x="230868" y="272548"/>
                  <a:pt x="221446" y="272548"/>
                </a:cubicBezTo>
                <a:lnTo>
                  <a:pt x="204411" y="272548"/>
                </a:lnTo>
                <a:close/>
                <a:moveTo>
                  <a:pt x="51103" y="204411"/>
                </a:moveTo>
                <a:cubicBezTo>
                  <a:pt x="41681" y="204411"/>
                  <a:pt x="34069" y="212024"/>
                  <a:pt x="34069" y="221446"/>
                </a:cubicBezTo>
                <a:cubicBezTo>
                  <a:pt x="34069" y="230868"/>
                  <a:pt x="41681" y="238480"/>
                  <a:pt x="51103" y="238480"/>
                </a:cubicBezTo>
                <a:lnTo>
                  <a:pt x="187377" y="238480"/>
                </a:lnTo>
                <a:lnTo>
                  <a:pt x="187377" y="204411"/>
                </a:lnTo>
                <a:lnTo>
                  <a:pt x="51103" y="204411"/>
                </a:lnTo>
                <a:close/>
                <a:moveTo>
                  <a:pt x="68137" y="80913"/>
                </a:moveTo>
                <a:cubicBezTo>
                  <a:pt x="68137" y="87993"/>
                  <a:pt x="73833" y="93689"/>
                  <a:pt x="80913" y="93689"/>
                </a:cubicBezTo>
                <a:lnTo>
                  <a:pt x="174601" y="93689"/>
                </a:lnTo>
                <a:cubicBezTo>
                  <a:pt x="181681" y="93689"/>
                  <a:pt x="187377" y="87993"/>
                  <a:pt x="187377" y="80913"/>
                </a:cubicBezTo>
                <a:cubicBezTo>
                  <a:pt x="187377" y="73833"/>
                  <a:pt x="181681" y="68137"/>
                  <a:pt x="174601" y="68137"/>
                </a:cubicBezTo>
                <a:lnTo>
                  <a:pt x="80913" y="68137"/>
                </a:lnTo>
                <a:cubicBezTo>
                  <a:pt x="73833" y="68137"/>
                  <a:pt x="68137" y="73833"/>
                  <a:pt x="68137" y="80913"/>
                </a:cubicBezTo>
                <a:close/>
                <a:moveTo>
                  <a:pt x="80913" y="119240"/>
                </a:moveTo>
                <a:cubicBezTo>
                  <a:pt x="73833" y="119240"/>
                  <a:pt x="68137" y="124936"/>
                  <a:pt x="68137" y="132016"/>
                </a:cubicBezTo>
                <a:cubicBezTo>
                  <a:pt x="68137" y="139096"/>
                  <a:pt x="73833" y="144791"/>
                  <a:pt x="80913" y="144791"/>
                </a:cubicBezTo>
                <a:lnTo>
                  <a:pt x="174601" y="144791"/>
                </a:lnTo>
                <a:cubicBezTo>
                  <a:pt x="181681" y="144791"/>
                  <a:pt x="187377" y="139096"/>
                  <a:pt x="187377" y="132016"/>
                </a:cubicBezTo>
                <a:cubicBezTo>
                  <a:pt x="187377" y="124936"/>
                  <a:pt x="181681" y="119240"/>
                  <a:pt x="174601" y="119240"/>
                </a:cubicBezTo>
                <a:lnTo>
                  <a:pt x="80913" y="11924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Text 7"/>
          <p:cNvSpPr/>
          <p:nvPr/>
        </p:nvSpPr>
        <p:spPr>
          <a:xfrm>
            <a:off x="478474" y="2440823"/>
            <a:ext cx="2498361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34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6611" y="2949580"/>
            <a:ext cx="236208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Books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5696" y="3276639"/>
            <a:ext cx="234391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Best-selling titles analyzed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278625" y="1492960"/>
            <a:ext cx="2722456" cy="2186444"/>
          </a:xfrm>
          <a:custGeom>
            <a:avLst/>
            <a:gdLst/>
            <a:ahLst/>
            <a:cxnLst/>
            <a:rect l="l" t="t" r="r" b="b"/>
            <a:pathLst>
              <a:path w="2722456" h="2186444">
                <a:moveTo>
                  <a:pt x="72677" y="0"/>
                </a:moveTo>
                <a:lnTo>
                  <a:pt x="2649779" y="0"/>
                </a:lnTo>
                <a:cubicBezTo>
                  <a:pt x="2689917" y="0"/>
                  <a:pt x="2722456" y="32539"/>
                  <a:pt x="2722456" y="72677"/>
                </a:cubicBezTo>
                <a:lnTo>
                  <a:pt x="2722456" y="2113767"/>
                </a:lnTo>
                <a:cubicBezTo>
                  <a:pt x="2722456" y="2153905"/>
                  <a:pt x="2689917" y="2186444"/>
                  <a:pt x="2649779" y="2186444"/>
                </a:cubicBezTo>
                <a:lnTo>
                  <a:pt x="72677" y="2186444"/>
                </a:lnTo>
                <a:cubicBezTo>
                  <a:pt x="32539" y="2186444"/>
                  <a:pt x="0" y="2153905"/>
                  <a:pt x="0" y="2113767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50081" y="1714028"/>
            <a:ext cx="581437" cy="581437"/>
          </a:xfrm>
          <a:custGeom>
            <a:avLst/>
            <a:gdLst/>
            <a:ahLst/>
            <a:cxnLst/>
            <a:rect l="l" t="t" r="r" b="b"/>
            <a:pathLst>
              <a:path w="581437" h="581437">
                <a:moveTo>
                  <a:pt x="290718" y="0"/>
                </a:moveTo>
                <a:lnTo>
                  <a:pt x="290718" y="0"/>
                </a:lnTo>
                <a:cubicBezTo>
                  <a:pt x="451170" y="0"/>
                  <a:pt x="581437" y="130267"/>
                  <a:pt x="581437" y="290718"/>
                </a:cubicBezTo>
                <a:lnTo>
                  <a:pt x="581437" y="290718"/>
                </a:lnTo>
                <a:cubicBezTo>
                  <a:pt x="581437" y="451170"/>
                  <a:pt x="451170" y="581437"/>
                  <a:pt x="290718" y="581437"/>
                </a:cubicBezTo>
                <a:lnTo>
                  <a:pt x="290718" y="581437"/>
                </a:lnTo>
                <a:cubicBezTo>
                  <a:pt x="130267" y="581437"/>
                  <a:pt x="0" y="451170"/>
                  <a:pt x="0" y="290718"/>
                </a:cubicBezTo>
                <a:lnTo>
                  <a:pt x="0" y="290718"/>
                </a:lnTo>
                <a:cubicBezTo>
                  <a:pt x="0" y="130267"/>
                  <a:pt x="130267" y="0"/>
                  <a:pt x="290718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4489762" y="1868472"/>
            <a:ext cx="306617" cy="272548"/>
          </a:xfrm>
          <a:custGeom>
            <a:avLst/>
            <a:gdLst/>
            <a:ahLst/>
            <a:cxnLst/>
            <a:rect l="l" t="t" r="r" b="b"/>
            <a:pathLst>
              <a:path w="306617" h="272548">
                <a:moveTo>
                  <a:pt x="204411" y="76654"/>
                </a:moveTo>
                <a:cubicBezTo>
                  <a:pt x="204411" y="128396"/>
                  <a:pt x="158632" y="170343"/>
                  <a:pt x="102206" y="170343"/>
                </a:cubicBezTo>
                <a:cubicBezTo>
                  <a:pt x="87993" y="170343"/>
                  <a:pt x="74472" y="167681"/>
                  <a:pt x="62175" y="162890"/>
                </a:cubicBezTo>
                <a:lnTo>
                  <a:pt x="18738" y="185887"/>
                </a:lnTo>
                <a:cubicBezTo>
                  <a:pt x="13787" y="188495"/>
                  <a:pt x="7719" y="187590"/>
                  <a:pt x="3726" y="183651"/>
                </a:cubicBezTo>
                <a:cubicBezTo>
                  <a:pt x="-266" y="179712"/>
                  <a:pt x="-1171" y="173590"/>
                  <a:pt x="1490" y="168639"/>
                </a:cubicBezTo>
                <a:lnTo>
                  <a:pt x="20441" y="132867"/>
                </a:lnTo>
                <a:cubicBezTo>
                  <a:pt x="7612" y="117217"/>
                  <a:pt x="0" y="97734"/>
                  <a:pt x="0" y="76654"/>
                </a:cubicBezTo>
                <a:cubicBezTo>
                  <a:pt x="0" y="24913"/>
                  <a:pt x="45780" y="-17034"/>
                  <a:pt x="102206" y="-17034"/>
                </a:cubicBezTo>
                <a:cubicBezTo>
                  <a:pt x="158632" y="-17034"/>
                  <a:pt x="204411" y="24913"/>
                  <a:pt x="204411" y="76654"/>
                </a:cubicBezTo>
                <a:close/>
                <a:moveTo>
                  <a:pt x="204411" y="272548"/>
                </a:moveTo>
                <a:cubicBezTo>
                  <a:pt x="154320" y="272548"/>
                  <a:pt x="112639" y="239491"/>
                  <a:pt x="103909" y="195894"/>
                </a:cubicBezTo>
                <a:cubicBezTo>
                  <a:pt x="167788" y="195096"/>
                  <a:pt x="223309" y="149635"/>
                  <a:pt x="229430" y="87993"/>
                </a:cubicBezTo>
                <a:cubicBezTo>
                  <a:pt x="273773" y="98213"/>
                  <a:pt x="306617" y="134997"/>
                  <a:pt x="306617" y="178860"/>
                </a:cubicBezTo>
                <a:cubicBezTo>
                  <a:pt x="306617" y="199940"/>
                  <a:pt x="299005" y="219423"/>
                  <a:pt x="286176" y="235073"/>
                </a:cubicBezTo>
                <a:lnTo>
                  <a:pt x="305126" y="270845"/>
                </a:lnTo>
                <a:cubicBezTo>
                  <a:pt x="307735" y="275796"/>
                  <a:pt x="306830" y="281864"/>
                  <a:pt x="302891" y="285856"/>
                </a:cubicBezTo>
                <a:cubicBezTo>
                  <a:pt x="298952" y="289849"/>
                  <a:pt x="292830" y="290754"/>
                  <a:pt x="287879" y="288092"/>
                </a:cubicBezTo>
                <a:lnTo>
                  <a:pt x="244442" y="265096"/>
                </a:lnTo>
                <a:cubicBezTo>
                  <a:pt x="232145" y="269887"/>
                  <a:pt x="218624" y="272548"/>
                  <a:pt x="204411" y="27254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Text 13"/>
          <p:cNvSpPr/>
          <p:nvPr/>
        </p:nvSpPr>
        <p:spPr>
          <a:xfrm>
            <a:off x="3390673" y="2440823"/>
            <a:ext cx="2498361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34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29M+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58810" y="2949580"/>
            <a:ext cx="236208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Reviews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67895" y="3276639"/>
            <a:ext cx="234391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Reader feedback aggregated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90824" y="1492960"/>
            <a:ext cx="2722456" cy="2186444"/>
          </a:xfrm>
          <a:custGeom>
            <a:avLst/>
            <a:gdLst/>
            <a:ahLst/>
            <a:cxnLst/>
            <a:rect l="l" t="t" r="r" b="b"/>
            <a:pathLst>
              <a:path w="2722456" h="2186444">
                <a:moveTo>
                  <a:pt x="72677" y="0"/>
                </a:moveTo>
                <a:lnTo>
                  <a:pt x="2649779" y="0"/>
                </a:lnTo>
                <a:cubicBezTo>
                  <a:pt x="2689917" y="0"/>
                  <a:pt x="2722456" y="32539"/>
                  <a:pt x="2722456" y="72677"/>
                </a:cubicBezTo>
                <a:lnTo>
                  <a:pt x="2722456" y="2113767"/>
                </a:lnTo>
                <a:cubicBezTo>
                  <a:pt x="2722456" y="2153905"/>
                  <a:pt x="2689917" y="2186444"/>
                  <a:pt x="2649779" y="2186444"/>
                </a:cubicBezTo>
                <a:lnTo>
                  <a:pt x="72677" y="2186444"/>
                </a:lnTo>
                <a:cubicBezTo>
                  <a:pt x="32539" y="2186444"/>
                  <a:pt x="0" y="2153905"/>
                  <a:pt x="0" y="2113767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262280" y="1714028"/>
            <a:ext cx="581437" cy="581437"/>
          </a:xfrm>
          <a:custGeom>
            <a:avLst/>
            <a:gdLst/>
            <a:ahLst/>
            <a:cxnLst/>
            <a:rect l="l" t="t" r="r" b="b"/>
            <a:pathLst>
              <a:path w="581437" h="581437">
                <a:moveTo>
                  <a:pt x="290718" y="0"/>
                </a:moveTo>
                <a:lnTo>
                  <a:pt x="290718" y="0"/>
                </a:lnTo>
                <a:cubicBezTo>
                  <a:pt x="451170" y="0"/>
                  <a:pt x="581437" y="130267"/>
                  <a:pt x="581437" y="290718"/>
                </a:cubicBezTo>
                <a:lnTo>
                  <a:pt x="581437" y="290718"/>
                </a:lnTo>
                <a:cubicBezTo>
                  <a:pt x="581437" y="451170"/>
                  <a:pt x="451170" y="581437"/>
                  <a:pt x="290718" y="581437"/>
                </a:cubicBezTo>
                <a:lnTo>
                  <a:pt x="290718" y="581437"/>
                </a:lnTo>
                <a:cubicBezTo>
                  <a:pt x="130267" y="581437"/>
                  <a:pt x="0" y="451170"/>
                  <a:pt x="0" y="290718"/>
                </a:cubicBezTo>
                <a:lnTo>
                  <a:pt x="0" y="290718"/>
                </a:lnTo>
                <a:cubicBezTo>
                  <a:pt x="0" y="130267"/>
                  <a:pt x="130267" y="0"/>
                  <a:pt x="290718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401961" y="1868472"/>
            <a:ext cx="306617" cy="272548"/>
          </a:xfrm>
          <a:custGeom>
            <a:avLst/>
            <a:gdLst/>
            <a:ahLst/>
            <a:cxnLst/>
            <a:rect l="l" t="t" r="r" b="b"/>
            <a:pathLst>
              <a:path w="306617" h="272548">
                <a:moveTo>
                  <a:pt x="164753" y="-10061"/>
                </a:moveTo>
                <a:cubicBezTo>
                  <a:pt x="162571" y="-14319"/>
                  <a:pt x="158153" y="-17034"/>
                  <a:pt x="153362" y="-17034"/>
                </a:cubicBezTo>
                <a:cubicBezTo>
                  <a:pt x="148571" y="-17034"/>
                  <a:pt x="144153" y="-14319"/>
                  <a:pt x="141970" y="-10061"/>
                </a:cubicBezTo>
                <a:lnTo>
                  <a:pt x="102791" y="66700"/>
                </a:lnTo>
                <a:lnTo>
                  <a:pt x="17673" y="80221"/>
                </a:lnTo>
                <a:cubicBezTo>
                  <a:pt x="12935" y="80966"/>
                  <a:pt x="8996" y="84320"/>
                  <a:pt x="7506" y="88898"/>
                </a:cubicBezTo>
                <a:cubicBezTo>
                  <a:pt x="6015" y="93476"/>
                  <a:pt x="7240" y="98479"/>
                  <a:pt x="10593" y="101886"/>
                </a:cubicBezTo>
                <a:lnTo>
                  <a:pt x="71491" y="162837"/>
                </a:lnTo>
                <a:lnTo>
                  <a:pt x="58076" y="247955"/>
                </a:lnTo>
                <a:cubicBezTo>
                  <a:pt x="57331" y="252693"/>
                  <a:pt x="59301" y="257484"/>
                  <a:pt x="63187" y="260305"/>
                </a:cubicBezTo>
                <a:cubicBezTo>
                  <a:pt x="67072" y="263126"/>
                  <a:pt x="72183" y="263552"/>
                  <a:pt x="76495" y="261370"/>
                </a:cubicBezTo>
                <a:lnTo>
                  <a:pt x="153362" y="222297"/>
                </a:lnTo>
                <a:lnTo>
                  <a:pt x="230176" y="261370"/>
                </a:lnTo>
                <a:cubicBezTo>
                  <a:pt x="234434" y="263552"/>
                  <a:pt x="239598" y="263126"/>
                  <a:pt x="243484" y="260305"/>
                </a:cubicBezTo>
                <a:cubicBezTo>
                  <a:pt x="247370" y="257484"/>
                  <a:pt x="249339" y="252746"/>
                  <a:pt x="248594" y="247955"/>
                </a:cubicBezTo>
                <a:lnTo>
                  <a:pt x="235126" y="162837"/>
                </a:lnTo>
                <a:lnTo>
                  <a:pt x="296024" y="101886"/>
                </a:lnTo>
                <a:cubicBezTo>
                  <a:pt x="299431" y="98479"/>
                  <a:pt x="300602" y="93476"/>
                  <a:pt x="299111" y="88898"/>
                </a:cubicBezTo>
                <a:cubicBezTo>
                  <a:pt x="297621" y="84320"/>
                  <a:pt x="293735" y="80966"/>
                  <a:pt x="288944" y="80221"/>
                </a:cubicBezTo>
                <a:lnTo>
                  <a:pt x="203879" y="66700"/>
                </a:lnTo>
                <a:lnTo>
                  <a:pt x="164753" y="-1006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1" name="Text 19"/>
          <p:cNvSpPr/>
          <p:nvPr/>
        </p:nvSpPr>
        <p:spPr>
          <a:xfrm>
            <a:off x="6302872" y="2440823"/>
            <a:ext cx="2498361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34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4.67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71009" y="2949580"/>
            <a:ext cx="236208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Rating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380094" y="3276639"/>
            <a:ext cx="234391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customer satisfaction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03023" y="1492960"/>
            <a:ext cx="2722456" cy="2186444"/>
          </a:xfrm>
          <a:custGeom>
            <a:avLst/>
            <a:gdLst/>
            <a:ahLst/>
            <a:cxnLst/>
            <a:rect l="l" t="t" r="r" b="b"/>
            <a:pathLst>
              <a:path w="2722456" h="2186444">
                <a:moveTo>
                  <a:pt x="72677" y="0"/>
                </a:moveTo>
                <a:lnTo>
                  <a:pt x="2649779" y="0"/>
                </a:lnTo>
                <a:cubicBezTo>
                  <a:pt x="2689917" y="0"/>
                  <a:pt x="2722456" y="32539"/>
                  <a:pt x="2722456" y="72677"/>
                </a:cubicBezTo>
                <a:lnTo>
                  <a:pt x="2722456" y="2113767"/>
                </a:lnTo>
                <a:cubicBezTo>
                  <a:pt x="2722456" y="2153905"/>
                  <a:pt x="2689917" y="2186444"/>
                  <a:pt x="2649779" y="2186444"/>
                </a:cubicBezTo>
                <a:lnTo>
                  <a:pt x="72677" y="2186444"/>
                </a:lnTo>
                <a:cubicBezTo>
                  <a:pt x="32539" y="2186444"/>
                  <a:pt x="0" y="2153905"/>
                  <a:pt x="0" y="2113767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74574" y="1714028"/>
            <a:ext cx="581437" cy="581437"/>
          </a:xfrm>
          <a:custGeom>
            <a:avLst/>
            <a:gdLst/>
            <a:ahLst/>
            <a:cxnLst/>
            <a:rect l="l" t="t" r="r" b="b"/>
            <a:pathLst>
              <a:path w="581437" h="581437">
                <a:moveTo>
                  <a:pt x="290718" y="0"/>
                </a:moveTo>
                <a:lnTo>
                  <a:pt x="290718" y="0"/>
                </a:lnTo>
                <a:cubicBezTo>
                  <a:pt x="451170" y="0"/>
                  <a:pt x="581437" y="130267"/>
                  <a:pt x="581437" y="290718"/>
                </a:cubicBezTo>
                <a:lnTo>
                  <a:pt x="581437" y="290718"/>
                </a:lnTo>
                <a:cubicBezTo>
                  <a:pt x="581437" y="451170"/>
                  <a:pt x="451170" y="581437"/>
                  <a:pt x="290718" y="581437"/>
                </a:cubicBezTo>
                <a:lnTo>
                  <a:pt x="290718" y="581437"/>
                </a:lnTo>
                <a:cubicBezTo>
                  <a:pt x="130267" y="581437"/>
                  <a:pt x="0" y="451170"/>
                  <a:pt x="0" y="290718"/>
                </a:cubicBezTo>
                <a:lnTo>
                  <a:pt x="0" y="290718"/>
                </a:lnTo>
                <a:cubicBezTo>
                  <a:pt x="0" y="130267"/>
                  <a:pt x="130267" y="0"/>
                  <a:pt x="290718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10331289" y="1868472"/>
            <a:ext cx="272548" cy="272548"/>
          </a:xfrm>
          <a:custGeom>
            <a:avLst/>
            <a:gdLst/>
            <a:ahLst/>
            <a:cxnLst/>
            <a:rect l="l" t="t" r="r" b="b"/>
            <a:pathLst>
              <a:path w="272548" h="272548">
                <a:moveTo>
                  <a:pt x="17300" y="51103"/>
                </a:moveTo>
                <a:lnTo>
                  <a:pt x="17300" y="130685"/>
                </a:lnTo>
                <a:cubicBezTo>
                  <a:pt x="17300" y="139734"/>
                  <a:pt x="20867" y="148411"/>
                  <a:pt x="27255" y="154799"/>
                </a:cubicBezTo>
                <a:lnTo>
                  <a:pt x="129461" y="257005"/>
                </a:lnTo>
                <a:cubicBezTo>
                  <a:pt x="142769" y="270313"/>
                  <a:pt x="164328" y="270313"/>
                  <a:pt x="177636" y="257005"/>
                </a:cubicBezTo>
                <a:lnTo>
                  <a:pt x="257218" y="177423"/>
                </a:lnTo>
                <a:cubicBezTo>
                  <a:pt x="270526" y="164115"/>
                  <a:pt x="270526" y="142556"/>
                  <a:pt x="257218" y="129248"/>
                </a:cubicBezTo>
                <a:lnTo>
                  <a:pt x="155012" y="27042"/>
                </a:lnTo>
                <a:cubicBezTo>
                  <a:pt x="148624" y="20601"/>
                  <a:pt x="140000" y="17034"/>
                  <a:pt x="130951" y="17034"/>
                </a:cubicBezTo>
                <a:lnTo>
                  <a:pt x="51369" y="17034"/>
                </a:lnTo>
                <a:cubicBezTo>
                  <a:pt x="32578" y="17034"/>
                  <a:pt x="17300" y="32312"/>
                  <a:pt x="17300" y="51103"/>
                </a:cubicBezTo>
                <a:close/>
                <a:moveTo>
                  <a:pt x="76920" y="59620"/>
                </a:moveTo>
                <a:cubicBezTo>
                  <a:pt x="86322" y="59620"/>
                  <a:pt x="93955" y="67253"/>
                  <a:pt x="93955" y="76654"/>
                </a:cubicBezTo>
                <a:cubicBezTo>
                  <a:pt x="93955" y="86056"/>
                  <a:pt x="86322" y="93689"/>
                  <a:pt x="76920" y="93689"/>
                </a:cubicBezTo>
                <a:cubicBezTo>
                  <a:pt x="67519" y="93689"/>
                  <a:pt x="59886" y="86056"/>
                  <a:pt x="59886" y="76654"/>
                </a:cubicBezTo>
                <a:cubicBezTo>
                  <a:pt x="59886" y="67253"/>
                  <a:pt x="67519" y="59620"/>
                  <a:pt x="76920" y="5962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9215072" y="2440823"/>
            <a:ext cx="2498361" cy="43607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34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$11.66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283209" y="2949580"/>
            <a:ext cx="2362086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8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Price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292294" y="3276639"/>
            <a:ext cx="2343917" cy="1816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1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pricing benchmark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6426" y="3867160"/>
            <a:ext cx="5638724" cy="2985920"/>
          </a:xfrm>
          <a:custGeom>
            <a:avLst/>
            <a:gdLst/>
            <a:ahLst/>
            <a:cxnLst/>
            <a:rect l="l" t="t" r="r" b="b"/>
            <a:pathLst>
              <a:path w="5638724" h="2985920">
                <a:moveTo>
                  <a:pt x="72677" y="0"/>
                </a:moveTo>
                <a:lnTo>
                  <a:pt x="5566047" y="0"/>
                </a:lnTo>
                <a:cubicBezTo>
                  <a:pt x="5606186" y="0"/>
                  <a:pt x="5638724" y="32539"/>
                  <a:pt x="5638724" y="72677"/>
                </a:cubicBezTo>
                <a:lnTo>
                  <a:pt x="5638724" y="2913242"/>
                </a:lnTo>
                <a:cubicBezTo>
                  <a:pt x="5638724" y="2953381"/>
                  <a:pt x="5606186" y="2985920"/>
                  <a:pt x="5566047" y="2985920"/>
                </a:cubicBezTo>
                <a:lnTo>
                  <a:pt x="72677" y="2985920"/>
                </a:lnTo>
                <a:cubicBezTo>
                  <a:pt x="32539" y="2985920"/>
                  <a:pt x="0" y="2953381"/>
                  <a:pt x="0" y="2913242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solidFill>
            <a:srgbClr val="1A1D21"/>
          </a:solidFill>
          <a:ln w="8467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0206" y="4124566"/>
            <a:ext cx="181699" cy="181699"/>
          </a:xfrm>
          <a:custGeom>
            <a:avLst/>
            <a:gdLst/>
            <a:ahLst/>
            <a:cxnLst/>
            <a:rect l="l" t="t" r="r" b="b"/>
            <a:pathLst>
              <a:path w="181699" h="181699">
                <a:moveTo>
                  <a:pt x="82510" y="1845"/>
                </a:moveTo>
                <a:cubicBezTo>
                  <a:pt x="87798" y="-603"/>
                  <a:pt x="93901" y="-603"/>
                  <a:pt x="99189" y="1845"/>
                </a:cubicBezTo>
                <a:lnTo>
                  <a:pt x="176766" y="37688"/>
                </a:lnTo>
                <a:cubicBezTo>
                  <a:pt x="179783" y="39072"/>
                  <a:pt x="181699" y="42089"/>
                  <a:pt x="181699" y="45425"/>
                </a:cubicBezTo>
                <a:cubicBezTo>
                  <a:pt x="181699" y="48761"/>
                  <a:pt x="179783" y="51777"/>
                  <a:pt x="176766" y="53161"/>
                </a:cubicBezTo>
                <a:lnTo>
                  <a:pt x="99189" y="89004"/>
                </a:lnTo>
                <a:cubicBezTo>
                  <a:pt x="93901" y="91453"/>
                  <a:pt x="87798" y="91453"/>
                  <a:pt x="82510" y="89004"/>
                </a:cubicBezTo>
                <a:lnTo>
                  <a:pt x="4933" y="53161"/>
                </a:lnTo>
                <a:cubicBezTo>
                  <a:pt x="1916" y="51742"/>
                  <a:pt x="0" y="48725"/>
                  <a:pt x="0" y="45425"/>
                </a:cubicBezTo>
                <a:cubicBezTo>
                  <a:pt x="0" y="42124"/>
                  <a:pt x="1916" y="39072"/>
                  <a:pt x="4933" y="37688"/>
                </a:cubicBezTo>
                <a:lnTo>
                  <a:pt x="82510" y="1845"/>
                </a:lnTo>
                <a:close/>
                <a:moveTo>
                  <a:pt x="17070" y="77506"/>
                </a:moveTo>
                <a:lnTo>
                  <a:pt x="75377" y="104441"/>
                </a:lnTo>
                <a:cubicBezTo>
                  <a:pt x="85207" y="108984"/>
                  <a:pt x="96528" y="108984"/>
                  <a:pt x="106358" y="104441"/>
                </a:cubicBezTo>
                <a:lnTo>
                  <a:pt x="164665" y="77506"/>
                </a:lnTo>
                <a:lnTo>
                  <a:pt x="176766" y="83113"/>
                </a:lnTo>
                <a:cubicBezTo>
                  <a:pt x="179783" y="84497"/>
                  <a:pt x="181699" y="87514"/>
                  <a:pt x="181699" y="90849"/>
                </a:cubicBezTo>
                <a:cubicBezTo>
                  <a:pt x="181699" y="94185"/>
                  <a:pt x="179783" y="97202"/>
                  <a:pt x="176766" y="98586"/>
                </a:cubicBezTo>
                <a:lnTo>
                  <a:pt x="99189" y="134429"/>
                </a:lnTo>
                <a:cubicBezTo>
                  <a:pt x="93901" y="136878"/>
                  <a:pt x="87798" y="136878"/>
                  <a:pt x="82510" y="134429"/>
                </a:cubicBezTo>
                <a:lnTo>
                  <a:pt x="4933" y="98586"/>
                </a:lnTo>
                <a:cubicBezTo>
                  <a:pt x="1916" y="97166"/>
                  <a:pt x="0" y="94150"/>
                  <a:pt x="0" y="90849"/>
                </a:cubicBezTo>
                <a:cubicBezTo>
                  <a:pt x="0" y="87549"/>
                  <a:pt x="1916" y="84497"/>
                  <a:pt x="4933" y="83113"/>
                </a:cubicBezTo>
                <a:lnTo>
                  <a:pt x="17034" y="77506"/>
                </a:lnTo>
                <a:close/>
                <a:moveTo>
                  <a:pt x="4933" y="128538"/>
                </a:moveTo>
                <a:lnTo>
                  <a:pt x="17034" y="122931"/>
                </a:lnTo>
                <a:lnTo>
                  <a:pt x="75341" y="149866"/>
                </a:lnTo>
                <a:cubicBezTo>
                  <a:pt x="85171" y="154409"/>
                  <a:pt x="96492" y="154409"/>
                  <a:pt x="106322" y="149866"/>
                </a:cubicBezTo>
                <a:lnTo>
                  <a:pt x="164629" y="122931"/>
                </a:lnTo>
                <a:lnTo>
                  <a:pt x="176731" y="128538"/>
                </a:lnTo>
                <a:cubicBezTo>
                  <a:pt x="179747" y="129922"/>
                  <a:pt x="181663" y="132938"/>
                  <a:pt x="181663" y="136274"/>
                </a:cubicBezTo>
                <a:cubicBezTo>
                  <a:pt x="181663" y="139610"/>
                  <a:pt x="179747" y="142627"/>
                  <a:pt x="176731" y="144011"/>
                </a:cubicBezTo>
                <a:lnTo>
                  <a:pt x="99154" y="179854"/>
                </a:lnTo>
                <a:cubicBezTo>
                  <a:pt x="93866" y="182302"/>
                  <a:pt x="87762" y="182302"/>
                  <a:pt x="82474" y="179854"/>
                </a:cubicBezTo>
                <a:lnTo>
                  <a:pt x="4933" y="144011"/>
                </a:lnTo>
                <a:cubicBezTo>
                  <a:pt x="1916" y="142591"/>
                  <a:pt x="0" y="139575"/>
                  <a:pt x="0" y="136274"/>
                </a:cubicBezTo>
                <a:cubicBezTo>
                  <a:pt x="0" y="132974"/>
                  <a:pt x="1916" y="129922"/>
                  <a:pt x="4933" y="12853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30"/>
          <p:cNvSpPr/>
          <p:nvPr/>
        </p:nvSpPr>
        <p:spPr>
          <a:xfrm>
            <a:off x="923636" y="4088227"/>
            <a:ext cx="1771565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Dataset Composition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87493" y="4487964"/>
            <a:ext cx="5269270" cy="236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dataset includes comprehensive book details essential for market analysis: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7493" y="4869532"/>
            <a:ext cx="2543785" cy="436077"/>
          </a:xfrm>
          <a:custGeom>
            <a:avLst/>
            <a:gdLst/>
            <a:ahLst/>
            <a:cxnLst/>
            <a:rect l="l" t="t" r="r" b="b"/>
            <a:pathLst>
              <a:path w="2543785" h="436077">
                <a:moveTo>
                  <a:pt x="36338" y="0"/>
                </a:moveTo>
                <a:lnTo>
                  <a:pt x="2507447" y="0"/>
                </a:lnTo>
                <a:cubicBezTo>
                  <a:pt x="2527516" y="0"/>
                  <a:pt x="2543785" y="16269"/>
                  <a:pt x="2543785" y="36338"/>
                </a:cubicBezTo>
                <a:lnTo>
                  <a:pt x="2543785" y="399739"/>
                </a:lnTo>
                <a:cubicBezTo>
                  <a:pt x="2543785" y="419808"/>
                  <a:pt x="2527516" y="436077"/>
                  <a:pt x="2507447" y="436077"/>
                </a:cubicBezTo>
                <a:lnTo>
                  <a:pt x="36338" y="436077"/>
                </a:lnTo>
                <a:cubicBezTo>
                  <a:pt x="16269" y="436077"/>
                  <a:pt x="0" y="419808"/>
                  <a:pt x="0" y="399739"/>
                </a:cubicBezTo>
                <a:lnTo>
                  <a:pt x="0" y="36338"/>
                </a:lnTo>
                <a:cubicBezTo>
                  <a:pt x="0" y="16283"/>
                  <a:pt x="16283" y="0"/>
                  <a:pt x="36338" y="0"/>
                </a:cubicBezTo>
                <a:close/>
              </a:path>
            </a:pathLst>
          </a:custGeom>
          <a:solidFill>
            <a:srgbClr val="2A4B5A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23768" y="5014891"/>
            <a:ext cx="127189" cy="145359"/>
          </a:xfrm>
          <a:custGeom>
            <a:avLst/>
            <a:gdLst/>
            <a:ahLst/>
            <a:cxnLst/>
            <a:rect l="l" t="t" r="r" b="b"/>
            <a:pathLst>
              <a:path w="127189" h="145359">
                <a:moveTo>
                  <a:pt x="0" y="18170"/>
                </a:moveTo>
                <a:cubicBezTo>
                  <a:pt x="0" y="13145"/>
                  <a:pt x="4060" y="9085"/>
                  <a:pt x="9085" y="9085"/>
                </a:cubicBezTo>
                <a:lnTo>
                  <a:pt x="36340" y="9085"/>
                </a:lnTo>
                <a:cubicBezTo>
                  <a:pt x="41365" y="9085"/>
                  <a:pt x="45425" y="13145"/>
                  <a:pt x="45425" y="18170"/>
                </a:cubicBezTo>
                <a:cubicBezTo>
                  <a:pt x="45425" y="23195"/>
                  <a:pt x="41365" y="27255"/>
                  <a:pt x="36340" y="27255"/>
                </a:cubicBezTo>
                <a:lnTo>
                  <a:pt x="31797" y="27255"/>
                </a:lnTo>
                <a:lnTo>
                  <a:pt x="31797" y="59052"/>
                </a:lnTo>
                <a:lnTo>
                  <a:pt x="95392" y="59052"/>
                </a:lnTo>
                <a:lnTo>
                  <a:pt x="95392" y="27255"/>
                </a:lnTo>
                <a:lnTo>
                  <a:pt x="90849" y="27255"/>
                </a:lnTo>
                <a:cubicBezTo>
                  <a:pt x="85824" y="27255"/>
                  <a:pt x="81765" y="23195"/>
                  <a:pt x="81765" y="18170"/>
                </a:cubicBezTo>
                <a:cubicBezTo>
                  <a:pt x="81765" y="13145"/>
                  <a:pt x="85824" y="9085"/>
                  <a:pt x="90849" y="9085"/>
                </a:cubicBezTo>
                <a:lnTo>
                  <a:pt x="118104" y="9085"/>
                </a:lnTo>
                <a:cubicBezTo>
                  <a:pt x="123129" y="9085"/>
                  <a:pt x="127189" y="13145"/>
                  <a:pt x="127189" y="18170"/>
                </a:cubicBezTo>
                <a:cubicBezTo>
                  <a:pt x="127189" y="23195"/>
                  <a:pt x="123129" y="27255"/>
                  <a:pt x="118104" y="27255"/>
                </a:cubicBezTo>
                <a:lnTo>
                  <a:pt x="113562" y="27255"/>
                </a:lnTo>
                <a:lnTo>
                  <a:pt x="113562" y="118104"/>
                </a:lnTo>
                <a:lnTo>
                  <a:pt x="118104" y="118104"/>
                </a:lnTo>
                <a:cubicBezTo>
                  <a:pt x="123129" y="118104"/>
                  <a:pt x="127189" y="122164"/>
                  <a:pt x="127189" y="127189"/>
                </a:cubicBezTo>
                <a:cubicBezTo>
                  <a:pt x="127189" y="132214"/>
                  <a:pt x="123129" y="136274"/>
                  <a:pt x="118104" y="136274"/>
                </a:cubicBezTo>
                <a:lnTo>
                  <a:pt x="90849" y="136274"/>
                </a:lnTo>
                <a:cubicBezTo>
                  <a:pt x="85824" y="136274"/>
                  <a:pt x="81765" y="132214"/>
                  <a:pt x="81765" y="127189"/>
                </a:cubicBezTo>
                <a:cubicBezTo>
                  <a:pt x="81765" y="122164"/>
                  <a:pt x="85824" y="118104"/>
                  <a:pt x="90849" y="118104"/>
                </a:cubicBezTo>
                <a:lnTo>
                  <a:pt x="95392" y="118104"/>
                </a:lnTo>
                <a:lnTo>
                  <a:pt x="95392" y="77222"/>
                </a:lnTo>
                <a:lnTo>
                  <a:pt x="31797" y="77222"/>
                </a:lnTo>
                <a:lnTo>
                  <a:pt x="31797" y="118104"/>
                </a:lnTo>
                <a:lnTo>
                  <a:pt x="36340" y="118104"/>
                </a:lnTo>
                <a:cubicBezTo>
                  <a:pt x="41365" y="118104"/>
                  <a:pt x="45425" y="122164"/>
                  <a:pt x="45425" y="127189"/>
                </a:cubicBezTo>
                <a:cubicBezTo>
                  <a:pt x="45425" y="132214"/>
                  <a:pt x="41365" y="136274"/>
                  <a:pt x="36340" y="136274"/>
                </a:cubicBezTo>
                <a:lnTo>
                  <a:pt x="9085" y="136274"/>
                </a:lnTo>
                <a:cubicBezTo>
                  <a:pt x="4060" y="136274"/>
                  <a:pt x="0" y="132214"/>
                  <a:pt x="0" y="127189"/>
                </a:cubicBezTo>
                <a:cubicBezTo>
                  <a:pt x="0" y="122164"/>
                  <a:pt x="4060" y="118104"/>
                  <a:pt x="9085" y="118104"/>
                </a:cubicBezTo>
                <a:lnTo>
                  <a:pt x="13627" y="118104"/>
                </a:lnTo>
                <a:lnTo>
                  <a:pt x="13627" y="27255"/>
                </a:lnTo>
                <a:lnTo>
                  <a:pt x="9085" y="27255"/>
                </a:lnTo>
                <a:cubicBezTo>
                  <a:pt x="4060" y="27255"/>
                  <a:pt x="0" y="23195"/>
                  <a:pt x="0" y="1817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6" name="Text 34"/>
          <p:cNvSpPr/>
          <p:nvPr/>
        </p:nvSpPr>
        <p:spPr>
          <a:xfrm>
            <a:off x="950891" y="4978551"/>
            <a:ext cx="708626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Book Title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239257" y="4869532"/>
            <a:ext cx="2543785" cy="436077"/>
          </a:xfrm>
          <a:custGeom>
            <a:avLst/>
            <a:gdLst/>
            <a:ahLst/>
            <a:cxnLst/>
            <a:rect l="l" t="t" r="r" b="b"/>
            <a:pathLst>
              <a:path w="2543785" h="436077">
                <a:moveTo>
                  <a:pt x="36338" y="0"/>
                </a:moveTo>
                <a:lnTo>
                  <a:pt x="2507447" y="0"/>
                </a:lnTo>
                <a:cubicBezTo>
                  <a:pt x="2527516" y="0"/>
                  <a:pt x="2543785" y="16269"/>
                  <a:pt x="2543785" y="36338"/>
                </a:cubicBezTo>
                <a:lnTo>
                  <a:pt x="2543785" y="399739"/>
                </a:lnTo>
                <a:cubicBezTo>
                  <a:pt x="2543785" y="419808"/>
                  <a:pt x="2527516" y="436077"/>
                  <a:pt x="2507447" y="436077"/>
                </a:cubicBezTo>
                <a:lnTo>
                  <a:pt x="36338" y="436077"/>
                </a:lnTo>
                <a:cubicBezTo>
                  <a:pt x="16269" y="436077"/>
                  <a:pt x="0" y="419808"/>
                  <a:pt x="0" y="399739"/>
                </a:cubicBezTo>
                <a:lnTo>
                  <a:pt x="0" y="36338"/>
                </a:lnTo>
                <a:cubicBezTo>
                  <a:pt x="0" y="16283"/>
                  <a:pt x="16283" y="0"/>
                  <a:pt x="36338" y="0"/>
                </a:cubicBezTo>
                <a:close/>
              </a:path>
            </a:pathLst>
          </a:custGeom>
          <a:solidFill>
            <a:srgbClr val="2A4B5A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3357361" y="5014891"/>
            <a:ext cx="163529" cy="145359"/>
          </a:xfrm>
          <a:custGeom>
            <a:avLst/>
            <a:gdLst/>
            <a:ahLst/>
            <a:cxnLst/>
            <a:rect l="l" t="t" r="r" b="b"/>
            <a:pathLst>
              <a:path w="163529" h="145359">
                <a:moveTo>
                  <a:pt x="-1420" y="33501"/>
                </a:moveTo>
                <a:lnTo>
                  <a:pt x="6672" y="79408"/>
                </a:lnTo>
                <a:cubicBezTo>
                  <a:pt x="10646" y="101979"/>
                  <a:pt x="28334" y="119666"/>
                  <a:pt x="50904" y="123640"/>
                </a:cubicBezTo>
                <a:lnTo>
                  <a:pt x="54510" y="124265"/>
                </a:lnTo>
                <a:cubicBezTo>
                  <a:pt x="49825" y="116145"/>
                  <a:pt x="46816" y="107032"/>
                  <a:pt x="45822" y="97436"/>
                </a:cubicBezTo>
                <a:lnTo>
                  <a:pt x="38980" y="98657"/>
                </a:lnTo>
                <a:cubicBezTo>
                  <a:pt x="36226" y="99139"/>
                  <a:pt x="33643" y="97010"/>
                  <a:pt x="34182" y="94256"/>
                </a:cubicBezTo>
                <a:cubicBezTo>
                  <a:pt x="35545" y="87244"/>
                  <a:pt x="39605" y="81026"/>
                  <a:pt x="45453" y="76967"/>
                </a:cubicBezTo>
                <a:lnTo>
                  <a:pt x="45453" y="55787"/>
                </a:lnTo>
                <a:cubicBezTo>
                  <a:pt x="45056" y="56014"/>
                  <a:pt x="44601" y="56156"/>
                  <a:pt x="44119" y="56242"/>
                </a:cubicBezTo>
                <a:lnTo>
                  <a:pt x="26233" y="59393"/>
                </a:lnTo>
                <a:cubicBezTo>
                  <a:pt x="23763" y="59819"/>
                  <a:pt x="21321" y="58144"/>
                  <a:pt x="21719" y="55674"/>
                </a:cubicBezTo>
                <a:cubicBezTo>
                  <a:pt x="22599" y="50109"/>
                  <a:pt x="26943" y="45453"/>
                  <a:pt x="32819" y="44403"/>
                </a:cubicBezTo>
                <a:cubicBezTo>
                  <a:pt x="37703" y="43551"/>
                  <a:pt x="42444" y="45396"/>
                  <a:pt x="45482" y="48888"/>
                </a:cubicBezTo>
                <a:lnTo>
                  <a:pt x="45482" y="42444"/>
                </a:lnTo>
                <a:cubicBezTo>
                  <a:pt x="45482" y="36056"/>
                  <a:pt x="47440" y="27567"/>
                  <a:pt x="54652" y="21605"/>
                </a:cubicBezTo>
                <a:cubicBezTo>
                  <a:pt x="62033" y="15501"/>
                  <a:pt x="73872" y="9142"/>
                  <a:pt x="90111" y="6218"/>
                </a:cubicBezTo>
                <a:cubicBezTo>
                  <a:pt x="81452" y="1590"/>
                  <a:pt x="65610" y="-2867"/>
                  <a:pt x="43608" y="994"/>
                </a:cubicBezTo>
                <a:cubicBezTo>
                  <a:pt x="20810" y="5025"/>
                  <a:pt x="7268" y="15217"/>
                  <a:pt x="994" y="22599"/>
                </a:cubicBezTo>
                <a:cubicBezTo>
                  <a:pt x="-1561" y="25580"/>
                  <a:pt x="-2073" y="29668"/>
                  <a:pt x="-1391" y="33529"/>
                </a:cubicBezTo>
                <a:close/>
                <a:moveTo>
                  <a:pt x="59052" y="39378"/>
                </a:moveTo>
                <a:lnTo>
                  <a:pt x="59052" y="89004"/>
                </a:lnTo>
                <a:cubicBezTo>
                  <a:pt x="59052" y="111915"/>
                  <a:pt x="73389" y="132413"/>
                  <a:pt x="94938" y="140220"/>
                </a:cubicBezTo>
                <a:lnTo>
                  <a:pt x="102802" y="143088"/>
                </a:lnTo>
                <a:cubicBezTo>
                  <a:pt x="106805" y="144536"/>
                  <a:pt x="111205" y="144536"/>
                  <a:pt x="115208" y="143088"/>
                </a:cubicBezTo>
                <a:lnTo>
                  <a:pt x="123101" y="140249"/>
                </a:lnTo>
                <a:cubicBezTo>
                  <a:pt x="144649" y="132413"/>
                  <a:pt x="158987" y="111944"/>
                  <a:pt x="158987" y="89004"/>
                </a:cubicBezTo>
                <a:lnTo>
                  <a:pt x="158987" y="39378"/>
                </a:lnTo>
                <a:cubicBezTo>
                  <a:pt x="158987" y="37419"/>
                  <a:pt x="158390" y="35460"/>
                  <a:pt x="156999" y="34097"/>
                </a:cubicBezTo>
                <a:cubicBezTo>
                  <a:pt x="150583" y="27709"/>
                  <a:pt x="134798" y="18198"/>
                  <a:pt x="109019" y="18198"/>
                </a:cubicBezTo>
                <a:cubicBezTo>
                  <a:pt x="83241" y="18198"/>
                  <a:pt x="67456" y="27737"/>
                  <a:pt x="61039" y="34097"/>
                </a:cubicBezTo>
                <a:cubicBezTo>
                  <a:pt x="59648" y="35488"/>
                  <a:pt x="59052" y="37419"/>
                  <a:pt x="59052" y="39378"/>
                </a:cubicBezTo>
                <a:close/>
                <a:moveTo>
                  <a:pt x="77818" y="92496"/>
                </a:moveTo>
                <a:cubicBezTo>
                  <a:pt x="77421" y="90509"/>
                  <a:pt x="79806" y="89373"/>
                  <a:pt x="81424" y="90622"/>
                </a:cubicBezTo>
                <a:cubicBezTo>
                  <a:pt x="89061" y="96471"/>
                  <a:pt x="98628" y="99963"/>
                  <a:pt x="109019" y="99963"/>
                </a:cubicBezTo>
                <a:cubicBezTo>
                  <a:pt x="119410" y="99963"/>
                  <a:pt x="128949" y="96471"/>
                  <a:pt x="136615" y="90622"/>
                </a:cubicBezTo>
                <a:cubicBezTo>
                  <a:pt x="138233" y="89373"/>
                  <a:pt x="140618" y="90509"/>
                  <a:pt x="140220" y="92496"/>
                </a:cubicBezTo>
                <a:cubicBezTo>
                  <a:pt x="137353" y="107089"/>
                  <a:pt x="124464" y="118133"/>
                  <a:pt x="109019" y="118133"/>
                </a:cubicBezTo>
                <a:cubicBezTo>
                  <a:pt x="93575" y="118133"/>
                  <a:pt x="80686" y="107117"/>
                  <a:pt x="77818" y="92496"/>
                </a:cubicBezTo>
                <a:close/>
                <a:moveTo>
                  <a:pt x="77960" y="63680"/>
                </a:moveTo>
                <a:cubicBezTo>
                  <a:pt x="79834" y="58342"/>
                  <a:pt x="84887" y="54510"/>
                  <a:pt x="90849" y="54510"/>
                </a:cubicBezTo>
                <a:cubicBezTo>
                  <a:pt x="96811" y="54510"/>
                  <a:pt x="101893" y="58342"/>
                  <a:pt x="103739" y="63680"/>
                </a:cubicBezTo>
                <a:cubicBezTo>
                  <a:pt x="104562" y="66065"/>
                  <a:pt x="102461" y="68137"/>
                  <a:pt x="99934" y="68137"/>
                </a:cubicBezTo>
                <a:lnTo>
                  <a:pt x="81765" y="68137"/>
                </a:lnTo>
                <a:cubicBezTo>
                  <a:pt x="79266" y="68137"/>
                  <a:pt x="77137" y="66036"/>
                  <a:pt x="77960" y="63680"/>
                </a:cubicBezTo>
                <a:close/>
                <a:moveTo>
                  <a:pt x="136274" y="68137"/>
                </a:moveTo>
                <a:lnTo>
                  <a:pt x="118104" y="68137"/>
                </a:lnTo>
                <a:cubicBezTo>
                  <a:pt x="115606" y="68137"/>
                  <a:pt x="113477" y="66036"/>
                  <a:pt x="114300" y="63680"/>
                </a:cubicBezTo>
                <a:cubicBezTo>
                  <a:pt x="116145" y="58342"/>
                  <a:pt x="121227" y="54510"/>
                  <a:pt x="127189" y="54510"/>
                </a:cubicBezTo>
                <a:cubicBezTo>
                  <a:pt x="133151" y="54510"/>
                  <a:pt x="138233" y="58342"/>
                  <a:pt x="140079" y="63680"/>
                </a:cubicBezTo>
                <a:cubicBezTo>
                  <a:pt x="140902" y="66065"/>
                  <a:pt x="138801" y="68137"/>
                  <a:pt x="136274" y="6813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Text 37"/>
          <p:cNvSpPr/>
          <p:nvPr/>
        </p:nvSpPr>
        <p:spPr>
          <a:xfrm>
            <a:off x="3602655" y="4978551"/>
            <a:ext cx="1081109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 Category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7493" y="5414629"/>
            <a:ext cx="2543785" cy="436077"/>
          </a:xfrm>
          <a:custGeom>
            <a:avLst/>
            <a:gdLst/>
            <a:ahLst/>
            <a:cxnLst/>
            <a:rect l="l" t="t" r="r" b="b"/>
            <a:pathLst>
              <a:path w="2543785" h="436077">
                <a:moveTo>
                  <a:pt x="36338" y="0"/>
                </a:moveTo>
                <a:lnTo>
                  <a:pt x="2507447" y="0"/>
                </a:lnTo>
                <a:cubicBezTo>
                  <a:pt x="2527516" y="0"/>
                  <a:pt x="2543785" y="16269"/>
                  <a:pt x="2543785" y="36338"/>
                </a:cubicBezTo>
                <a:lnTo>
                  <a:pt x="2543785" y="399739"/>
                </a:lnTo>
                <a:cubicBezTo>
                  <a:pt x="2543785" y="419808"/>
                  <a:pt x="2527516" y="436077"/>
                  <a:pt x="2507447" y="436077"/>
                </a:cubicBezTo>
                <a:lnTo>
                  <a:pt x="36338" y="436077"/>
                </a:lnTo>
                <a:cubicBezTo>
                  <a:pt x="16269" y="436077"/>
                  <a:pt x="0" y="419808"/>
                  <a:pt x="0" y="399739"/>
                </a:cubicBezTo>
                <a:lnTo>
                  <a:pt x="0" y="36338"/>
                </a:lnTo>
                <a:cubicBezTo>
                  <a:pt x="0" y="16283"/>
                  <a:pt x="16283" y="0"/>
                  <a:pt x="36338" y="0"/>
                </a:cubicBezTo>
                <a:close/>
              </a:path>
            </a:pathLst>
          </a:custGeom>
          <a:solidFill>
            <a:srgbClr val="2A4B5A">
              <a:alpha val="2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741937" y="5559988"/>
            <a:ext cx="90849" cy="145359"/>
          </a:xfrm>
          <a:custGeom>
            <a:avLst/>
            <a:gdLst/>
            <a:ahLst/>
            <a:cxnLst/>
            <a:rect l="l" t="t" r="r" b="b"/>
            <a:pathLst>
              <a:path w="90849" h="145359">
                <a:moveTo>
                  <a:pt x="38611" y="6814"/>
                </a:moveTo>
                <a:cubicBezTo>
                  <a:pt x="38611" y="3038"/>
                  <a:pt x="41649" y="0"/>
                  <a:pt x="45425" y="0"/>
                </a:cubicBezTo>
                <a:cubicBezTo>
                  <a:pt x="49201" y="0"/>
                  <a:pt x="52238" y="3038"/>
                  <a:pt x="52238" y="6814"/>
                </a:cubicBezTo>
                <a:lnTo>
                  <a:pt x="52238" y="18170"/>
                </a:lnTo>
                <a:lnTo>
                  <a:pt x="68137" y="18170"/>
                </a:lnTo>
                <a:cubicBezTo>
                  <a:pt x="73162" y="18170"/>
                  <a:pt x="77222" y="22230"/>
                  <a:pt x="77222" y="27255"/>
                </a:cubicBezTo>
                <a:cubicBezTo>
                  <a:pt x="77222" y="32280"/>
                  <a:pt x="73162" y="36340"/>
                  <a:pt x="68137" y="36340"/>
                </a:cubicBezTo>
                <a:lnTo>
                  <a:pt x="35516" y="36340"/>
                </a:lnTo>
                <a:cubicBezTo>
                  <a:pt x="28447" y="36340"/>
                  <a:pt x="22712" y="42075"/>
                  <a:pt x="22712" y="49144"/>
                </a:cubicBezTo>
                <a:cubicBezTo>
                  <a:pt x="22712" y="55532"/>
                  <a:pt x="27397" y="60926"/>
                  <a:pt x="33699" y="61834"/>
                </a:cubicBezTo>
                <a:lnTo>
                  <a:pt x="59705" y="65554"/>
                </a:lnTo>
                <a:cubicBezTo>
                  <a:pt x="74979" y="67740"/>
                  <a:pt x="86307" y="80799"/>
                  <a:pt x="86307" y="96215"/>
                </a:cubicBezTo>
                <a:cubicBezTo>
                  <a:pt x="86307" y="113335"/>
                  <a:pt x="72424" y="127189"/>
                  <a:pt x="55333" y="127189"/>
                </a:cubicBezTo>
                <a:lnTo>
                  <a:pt x="52238" y="127189"/>
                </a:lnTo>
                <a:lnTo>
                  <a:pt x="52238" y="138545"/>
                </a:lnTo>
                <a:cubicBezTo>
                  <a:pt x="52238" y="142321"/>
                  <a:pt x="49201" y="145359"/>
                  <a:pt x="45425" y="145359"/>
                </a:cubicBezTo>
                <a:cubicBezTo>
                  <a:pt x="41649" y="145359"/>
                  <a:pt x="38611" y="142321"/>
                  <a:pt x="38611" y="138545"/>
                </a:cubicBezTo>
                <a:lnTo>
                  <a:pt x="38611" y="127189"/>
                </a:lnTo>
                <a:lnTo>
                  <a:pt x="18170" y="127189"/>
                </a:lnTo>
                <a:cubicBezTo>
                  <a:pt x="13145" y="127189"/>
                  <a:pt x="9085" y="123129"/>
                  <a:pt x="9085" y="118104"/>
                </a:cubicBezTo>
                <a:cubicBezTo>
                  <a:pt x="9085" y="113079"/>
                  <a:pt x="13145" y="109019"/>
                  <a:pt x="18170" y="109019"/>
                </a:cubicBezTo>
                <a:lnTo>
                  <a:pt x="55333" y="109019"/>
                </a:lnTo>
                <a:cubicBezTo>
                  <a:pt x="62402" y="109019"/>
                  <a:pt x="68137" y="103285"/>
                  <a:pt x="68137" y="96215"/>
                </a:cubicBezTo>
                <a:cubicBezTo>
                  <a:pt x="68137" y="89827"/>
                  <a:pt x="63453" y="84433"/>
                  <a:pt x="57150" y="83525"/>
                </a:cubicBezTo>
                <a:lnTo>
                  <a:pt x="31144" y="79806"/>
                </a:lnTo>
                <a:cubicBezTo>
                  <a:pt x="15870" y="77648"/>
                  <a:pt x="4542" y="64560"/>
                  <a:pt x="4542" y="49144"/>
                </a:cubicBezTo>
                <a:cubicBezTo>
                  <a:pt x="4542" y="32053"/>
                  <a:pt x="18425" y="18170"/>
                  <a:pt x="35516" y="18170"/>
                </a:cubicBezTo>
                <a:lnTo>
                  <a:pt x="38611" y="18170"/>
                </a:lnTo>
                <a:lnTo>
                  <a:pt x="38611" y="6814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2" name="Text 40"/>
          <p:cNvSpPr/>
          <p:nvPr/>
        </p:nvSpPr>
        <p:spPr>
          <a:xfrm>
            <a:off x="950891" y="5523648"/>
            <a:ext cx="1171958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Information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239257" y="5414629"/>
            <a:ext cx="2543785" cy="436077"/>
          </a:xfrm>
          <a:custGeom>
            <a:avLst/>
            <a:gdLst/>
            <a:ahLst/>
            <a:cxnLst/>
            <a:rect l="l" t="t" r="r" b="b"/>
            <a:pathLst>
              <a:path w="2543785" h="436077">
                <a:moveTo>
                  <a:pt x="36338" y="0"/>
                </a:moveTo>
                <a:lnTo>
                  <a:pt x="2507447" y="0"/>
                </a:lnTo>
                <a:cubicBezTo>
                  <a:pt x="2527516" y="0"/>
                  <a:pt x="2543785" y="16269"/>
                  <a:pt x="2543785" y="36338"/>
                </a:cubicBezTo>
                <a:lnTo>
                  <a:pt x="2543785" y="399739"/>
                </a:lnTo>
                <a:cubicBezTo>
                  <a:pt x="2543785" y="419808"/>
                  <a:pt x="2527516" y="436077"/>
                  <a:pt x="2507447" y="436077"/>
                </a:cubicBezTo>
                <a:lnTo>
                  <a:pt x="36338" y="436077"/>
                </a:lnTo>
                <a:cubicBezTo>
                  <a:pt x="16269" y="436077"/>
                  <a:pt x="0" y="419808"/>
                  <a:pt x="0" y="399739"/>
                </a:cubicBezTo>
                <a:lnTo>
                  <a:pt x="0" y="36338"/>
                </a:lnTo>
                <a:cubicBezTo>
                  <a:pt x="0" y="16283"/>
                  <a:pt x="16283" y="0"/>
                  <a:pt x="36338" y="0"/>
                </a:cubicBezTo>
                <a:close/>
              </a:path>
            </a:pathLst>
          </a:custGeom>
          <a:solidFill>
            <a:srgbClr val="2A4B5A">
              <a:alpha val="20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357361" y="5559988"/>
            <a:ext cx="163529" cy="145359"/>
          </a:xfrm>
          <a:custGeom>
            <a:avLst/>
            <a:gdLst/>
            <a:ahLst/>
            <a:cxnLst/>
            <a:rect l="l" t="t" r="r" b="b"/>
            <a:pathLst>
              <a:path w="163529" h="145359">
                <a:moveTo>
                  <a:pt x="81793" y="100389"/>
                </a:moveTo>
                <a:cubicBezTo>
                  <a:pt x="84632" y="100389"/>
                  <a:pt x="87443" y="101042"/>
                  <a:pt x="90026" y="102376"/>
                </a:cubicBezTo>
                <a:lnTo>
                  <a:pt x="111149" y="113136"/>
                </a:lnTo>
                <a:lnTo>
                  <a:pt x="107458" y="89714"/>
                </a:lnTo>
                <a:cubicBezTo>
                  <a:pt x="106549" y="83979"/>
                  <a:pt x="108452" y="78159"/>
                  <a:pt x="112540" y="74042"/>
                </a:cubicBezTo>
                <a:lnTo>
                  <a:pt x="129290" y="57264"/>
                </a:lnTo>
                <a:lnTo>
                  <a:pt x="105868" y="53544"/>
                </a:lnTo>
                <a:cubicBezTo>
                  <a:pt x="100133" y="52636"/>
                  <a:pt x="95165" y="49030"/>
                  <a:pt x="92525" y="43863"/>
                </a:cubicBezTo>
                <a:lnTo>
                  <a:pt x="81736" y="22741"/>
                </a:lnTo>
                <a:lnTo>
                  <a:pt x="81736" y="100417"/>
                </a:lnTo>
                <a:close/>
                <a:moveTo>
                  <a:pt x="129858" y="138829"/>
                </a:moveTo>
                <a:cubicBezTo>
                  <a:pt x="127785" y="140334"/>
                  <a:pt x="125032" y="140561"/>
                  <a:pt x="122760" y="139397"/>
                </a:cubicBezTo>
                <a:lnTo>
                  <a:pt x="81793" y="118559"/>
                </a:lnTo>
                <a:lnTo>
                  <a:pt x="40825" y="139397"/>
                </a:lnTo>
                <a:cubicBezTo>
                  <a:pt x="38554" y="140561"/>
                  <a:pt x="35800" y="140334"/>
                  <a:pt x="33728" y="138829"/>
                </a:cubicBezTo>
                <a:cubicBezTo>
                  <a:pt x="31655" y="137325"/>
                  <a:pt x="30605" y="134798"/>
                  <a:pt x="31002" y="132243"/>
                </a:cubicBezTo>
                <a:lnTo>
                  <a:pt x="38157" y="86846"/>
                </a:lnTo>
                <a:lnTo>
                  <a:pt x="5678" y="54339"/>
                </a:lnTo>
                <a:cubicBezTo>
                  <a:pt x="3861" y="52522"/>
                  <a:pt x="3237" y="49854"/>
                  <a:pt x="4031" y="47412"/>
                </a:cubicBezTo>
                <a:cubicBezTo>
                  <a:pt x="4826" y="44970"/>
                  <a:pt x="6899" y="43182"/>
                  <a:pt x="9454" y="42784"/>
                </a:cubicBezTo>
                <a:lnTo>
                  <a:pt x="54850" y="35573"/>
                </a:lnTo>
                <a:lnTo>
                  <a:pt x="75746" y="-5366"/>
                </a:lnTo>
                <a:cubicBezTo>
                  <a:pt x="76910" y="-7637"/>
                  <a:pt x="79266" y="-9085"/>
                  <a:pt x="81821" y="-9085"/>
                </a:cubicBezTo>
                <a:cubicBezTo>
                  <a:pt x="84376" y="-9085"/>
                  <a:pt x="86733" y="-7637"/>
                  <a:pt x="87897" y="-5366"/>
                </a:cubicBezTo>
                <a:lnTo>
                  <a:pt x="108735" y="35573"/>
                </a:lnTo>
                <a:lnTo>
                  <a:pt x="154132" y="42784"/>
                </a:lnTo>
                <a:cubicBezTo>
                  <a:pt x="156659" y="43182"/>
                  <a:pt x="158759" y="44970"/>
                  <a:pt x="159554" y="47412"/>
                </a:cubicBezTo>
                <a:cubicBezTo>
                  <a:pt x="160349" y="49854"/>
                  <a:pt x="159696" y="52522"/>
                  <a:pt x="157908" y="54339"/>
                </a:cubicBezTo>
                <a:lnTo>
                  <a:pt x="125401" y="86846"/>
                </a:lnTo>
                <a:lnTo>
                  <a:pt x="132583" y="132243"/>
                </a:lnTo>
                <a:cubicBezTo>
                  <a:pt x="132981" y="134770"/>
                  <a:pt x="131930" y="137325"/>
                  <a:pt x="129858" y="13882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5" name="Text 43"/>
          <p:cNvSpPr/>
          <p:nvPr/>
        </p:nvSpPr>
        <p:spPr>
          <a:xfrm>
            <a:off x="3602655" y="5523648"/>
            <a:ext cx="1217383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Ratings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587493" y="5959726"/>
            <a:ext cx="5196590" cy="436077"/>
          </a:xfrm>
          <a:custGeom>
            <a:avLst/>
            <a:gdLst/>
            <a:ahLst/>
            <a:cxnLst/>
            <a:rect l="l" t="t" r="r" b="b"/>
            <a:pathLst>
              <a:path w="5196590" h="436077">
                <a:moveTo>
                  <a:pt x="36338" y="0"/>
                </a:moveTo>
                <a:lnTo>
                  <a:pt x="5160252" y="0"/>
                </a:lnTo>
                <a:cubicBezTo>
                  <a:pt x="5180321" y="0"/>
                  <a:pt x="5196590" y="16269"/>
                  <a:pt x="5196590" y="36338"/>
                </a:cubicBezTo>
                <a:lnTo>
                  <a:pt x="5196590" y="399739"/>
                </a:lnTo>
                <a:cubicBezTo>
                  <a:pt x="5196590" y="419808"/>
                  <a:pt x="5180321" y="436077"/>
                  <a:pt x="5160252" y="436077"/>
                </a:cubicBezTo>
                <a:lnTo>
                  <a:pt x="36338" y="436077"/>
                </a:lnTo>
                <a:cubicBezTo>
                  <a:pt x="16269" y="436077"/>
                  <a:pt x="0" y="419808"/>
                  <a:pt x="0" y="399739"/>
                </a:cubicBezTo>
                <a:lnTo>
                  <a:pt x="0" y="36338"/>
                </a:lnTo>
                <a:cubicBezTo>
                  <a:pt x="0" y="16283"/>
                  <a:pt x="16283" y="0"/>
                  <a:pt x="36338" y="0"/>
                </a:cubicBezTo>
                <a:close/>
              </a:path>
            </a:pathLst>
          </a:custGeom>
          <a:solidFill>
            <a:srgbClr val="2A4B5A">
              <a:alpha val="20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714683" y="6105085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36274"/>
                </a:moveTo>
                <a:cubicBezTo>
                  <a:pt x="112824" y="136274"/>
                  <a:pt x="145359" y="105754"/>
                  <a:pt x="145359" y="68137"/>
                </a:cubicBezTo>
                <a:cubicBezTo>
                  <a:pt x="145359" y="30520"/>
                  <a:pt x="112824" y="0"/>
                  <a:pt x="72680" y="0"/>
                </a:cubicBezTo>
                <a:cubicBezTo>
                  <a:pt x="32535" y="0"/>
                  <a:pt x="0" y="30520"/>
                  <a:pt x="0" y="68137"/>
                </a:cubicBezTo>
                <a:cubicBezTo>
                  <a:pt x="0" y="83553"/>
                  <a:pt x="5451" y="97748"/>
                  <a:pt x="14649" y="109161"/>
                </a:cubicBezTo>
                <a:lnTo>
                  <a:pt x="795" y="135366"/>
                </a:lnTo>
                <a:cubicBezTo>
                  <a:pt x="-568" y="137921"/>
                  <a:pt x="-142" y="141044"/>
                  <a:pt x="1817" y="143173"/>
                </a:cubicBezTo>
                <a:cubicBezTo>
                  <a:pt x="3776" y="145302"/>
                  <a:pt x="6870" y="145955"/>
                  <a:pt x="9511" y="144820"/>
                </a:cubicBezTo>
                <a:lnTo>
                  <a:pt x="43125" y="130426"/>
                </a:lnTo>
                <a:cubicBezTo>
                  <a:pt x="52153" y="134173"/>
                  <a:pt x="62147" y="136274"/>
                  <a:pt x="72680" y="136274"/>
                </a:cubicBezTo>
                <a:close/>
                <a:moveTo>
                  <a:pt x="36340" y="59052"/>
                </a:moveTo>
                <a:cubicBezTo>
                  <a:pt x="41354" y="59052"/>
                  <a:pt x="45425" y="63123"/>
                  <a:pt x="45425" y="68137"/>
                </a:cubicBezTo>
                <a:cubicBezTo>
                  <a:pt x="45425" y="73151"/>
                  <a:pt x="41354" y="77222"/>
                  <a:pt x="36340" y="77222"/>
                </a:cubicBezTo>
                <a:cubicBezTo>
                  <a:pt x="31326" y="77222"/>
                  <a:pt x="27255" y="73151"/>
                  <a:pt x="27255" y="68137"/>
                </a:cubicBezTo>
                <a:cubicBezTo>
                  <a:pt x="27255" y="63123"/>
                  <a:pt x="31326" y="59052"/>
                  <a:pt x="36340" y="59052"/>
                </a:cubicBezTo>
                <a:close/>
                <a:moveTo>
                  <a:pt x="72680" y="59052"/>
                </a:moveTo>
                <a:cubicBezTo>
                  <a:pt x="77694" y="59052"/>
                  <a:pt x="81765" y="63123"/>
                  <a:pt x="81765" y="68137"/>
                </a:cubicBezTo>
                <a:cubicBezTo>
                  <a:pt x="81765" y="73151"/>
                  <a:pt x="77694" y="77222"/>
                  <a:pt x="72680" y="77222"/>
                </a:cubicBezTo>
                <a:cubicBezTo>
                  <a:pt x="67665" y="77222"/>
                  <a:pt x="63595" y="73151"/>
                  <a:pt x="63595" y="68137"/>
                </a:cubicBezTo>
                <a:cubicBezTo>
                  <a:pt x="63595" y="63123"/>
                  <a:pt x="67665" y="59052"/>
                  <a:pt x="72680" y="59052"/>
                </a:cubicBezTo>
                <a:close/>
                <a:moveTo>
                  <a:pt x="99934" y="68137"/>
                </a:moveTo>
                <a:cubicBezTo>
                  <a:pt x="99934" y="63123"/>
                  <a:pt x="104005" y="59052"/>
                  <a:pt x="109019" y="59052"/>
                </a:cubicBezTo>
                <a:cubicBezTo>
                  <a:pt x="114033" y="59052"/>
                  <a:pt x="118104" y="63123"/>
                  <a:pt x="118104" y="68137"/>
                </a:cubicBezTo>
                <a:cubicBezTo>
                  <a:pt x="118104" y="73151"/>
                  <a:pt x="114033" y="77222"/>
                  <a:pt x="109019" y="77222"/>
                </a:cubicBezTo>
                <a:cubicBezTo>
                  <a:pt x="104005" y="77222"/>
                  <a:pt x="99934" y="73151"/>
                  <a:pt x="99934" y="68137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8" name="Text 46"/>
          <p:cNvSpPr/>
          <p:nvPr/>
        </p:nvSpPr>
        <p:spPr>
          <a:xfrm>
            <a:off x="950891" y="6068745"/>
            <a:ext cx="1026599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Counts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6190824" y="3867160"/>
            <a:ext cx="5638724" cy="2985920"/>
          </a:xfrm>
          <a:custGeom>
            <a:avLst/>
            <a:gdLst/>
            <a:ahLst/>
            <a:cxnLst/>
            <a:rect l="l" t="t" r="r" b="b"/>
            <a:pathLst>
              <a:path w="5638724" h="2985920">
                <a:moveTo>
                  <a:pt x="72677" y="0"/>
                </a:moveTo>
                <a:lnTo>
                  <a:pt x="5566047" y="0"/>
                </a:lnTo>
                <a:cubicBezTo>
                  <a:pt x="5606186" y="0"/>
                  <a:pt x="5638724" y="32539"/>
                  <a:pt x="5638724" y="72677"/>
                </a:cubicBezTo>
                <a:lnTo>
                  <a:pt x="5638724" y="2913242"/>
                </a:lnTo>
                <a:cubicBezTo>
                  <a:pt x="5638724" y="2953381"/>
                  <a:pt x="5606186" y="2985920"/>
                  <a:pt x="5566047" y="2985920"/>
                </a:cubicBezTo>
                <a:lnTo>
                  <a:pt x="72677" y="2985920"/>
                </a:lnTo>
                <a:cubicBezTo>
                  <a:pt x="32539" y="2985920"/>
                  <a:pt x="0" y="2953381"/>
                  <a:pt x="0" y="2913242"/>
                </a:cubicBezTo>
                <a:lnTo>
                  <a:pt x="0" y="72677"/>
                </a:lnTo>
                <a:cubicBezTo>
                  <a:pt x="0" y="32566"/>
                  <a:pt x="32566" y="0"/>
                  <a:pt x="72677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15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411892" y="4124566"/>
            <a:ext cx="227124" cy="181699"/>
          </a:xfrm>
          <a:custGeom>
            <a:avLst/>
            <a:gdLst/>
            <a:ahLst/>
            <a:cxnLst/>
            <a:rect l="l" t="t" r="r" b="b"/>
            <a:pathLst>
              <a:path w="227124" h="181699">
                <a:moveTo>
                  <a:pt x="147595" y="74702"/>
                </a:moveTo>
                <a:cubicBezTo>
                  <a:pt x="151924" y="73531"/>
                  <a:pt x="156467" y="75590"/>
                  <a:pt x="158419" y="79600"/>
                </a:cubicBezTo>
                <a:lnTo>
                  <a:pt x="165020" y="92943"/>
                </a:lnTo>
                <a:cubicBezTo>
                  <a:pt x="168675" y="93440"/>
                  <a:pt x="172259" y="94434"/>
                  <a:pt x="175630" y="95818"/>
                </a:cubicBezTo>
                <a:lnTo>
                  <a:pt x="188051" y="87549"/>
                </a:lnTo>
                <a:cubicBezTo>
                  <a:pt x="191778" y="85065"/>
                  <a:pt x="196710" y="85562"/>
                  <a:pt x="199869" y="88720"/>
                </a:cubicBezTo>
                <a:lnTo>
                  <a:pt x="206683" y="95534"/>
                </a:lnTo>
                <a:cubicBezTo>
                  <a:pt x="209841" y="98692"/>
                  <a:pt x="210338" y="103661"/>
                  <a:pt x="207854" y="107351"/>
                </a:cubicBezTo>
                <a:lnTo>
                  <a:pt x="199585" y="119737"/>
                </a:lnTo>
                <a:cubicBezTo>
                  <a:pt x="200259" y="121405"/>
                  <a:pt x="200863" y="123144"/>
                  <a:pt x="201359" y="124954"/>
                </a:cubicBezTo>
                <a:cubicBezTo>
                  <a:pt x="201856" y="126763"/>
                  <a:pt x="202176" y="128538"/>
                  <a:pt x="202424" y="130348"/>
                </a:cubicBezTo>
                <a:lnTo>
                  <a:pt x="215803" y="136948"/>
                </a:lnTo>
                <a:cubicBezTo>
                  <a:pt x="219813" y="138936"/>
                  <a:pt x="221871" y="143478"/>
                  <a:pt x="220700" y="147772"/>
                </a:cubicBezTo>
                <a:lnTo>
                  <a:pt x="218216" y="157070"/>
                </a:lnTo>
                <a:cubicBezTo>
                  <a:pt x="217045" y="161364"/>
                  <a:pt x="213035" y="164274"/>
                  <a:pt x="208563" y="163990"/>
                </a:cubicBezTo>
                <a:lnTo>
                  <a:pt x="193658" y="163032"/>
                </a:lnTo>
                <a:cubicBezTo>
                  <a:pt x="191423" y="165907"/>
                  <a:pt x="188832" y="168568"/>
                  <a:pt x="185887" y="170840"/>
                </a:cubicBezTo>
                <a:lnTo>
                  <a:pt x="186845" y="185709"/>
                </a:lnTo>
                <a:cubicBezTo>
                  <a:pt x="187129" y="190181"/>
                  <a:pt x="184219" y="194226"/>
                  <a:pt x="179925" y="195362"/>
                </a:cubicBezTo>
                <a:lnTo>
                  <a:pt x="170627" y="197846"/>
                </a:lnTo>
                <a:cubicBezTo>
                  <a:pt x="166297" y="199017"/>
                  <a:pt x="161790" y="196959"/>
                  <a:pt x="159803" y="192949"/>
                </a:cubicBezTo>
                <a:lnTo>
                  <a:pt x="153202" y="179605"/>
                </a:lnTo>
                <a:cubicBezTo>
                  <a:pt x="149547" y="179108"/>
                  <a:pt x="145962" y="178115"/>
                  <a:pt x="142591" y="176731"/>
                </a:cubicBezTo>
                <a:lnTo>
                  <a:pt x="130170" y="184999"/>
                </a:lnTo>
                <a:cubicBezTo>
                  <a:pt x="126444" y="187484"/>
                  <a:pt x="121511" y="186987"/>
                  <a:pt x="118353" y="183828"/>
                </a:cubicBezTo>
                <a:lnTo>
                  <a:pt x="111539" y="177015"/>
                </a:lnTo>
                <a:cubicBezTo>
                  <a:pt x="108381" y="173856"/>
                  <a:pt x="107884" y="168923"/>
                  <a:pt x="110368" y="165197"/>
                </a:cubicBezTo>
                <a:lnTo>
                  <a:pt x="118637" y="152776"/>
                </a:lnTo>
                <a:cubicBezTo>
                  <a:pt x="117962" y="151108"/>
                  <a:pt x="117359" y="149369"/>
                  <a:pt x="116862" y="147559"/>
                </a:cubicBezTo>
                <a:cubicBezTo>
                  <a:pt x="116365" y="145750"/>
                  <a:pt x="116046" y="143940"/>
                  <a:pt x="115798" y="142165"/>
                </a:cubicBezTo>
                <a:lnTo>
                  <a:pt x="102419" y="135564"/>
                </a:lnTo>
                <a:cubicBezTo>
                  <a:pt x="98408" y="133577"/>
                  <a:pt x="96386" y="129035"/>
                  <a:pt x="97521" y="124741"/>
                </a:cubicBezTo>
                <a:lnTo>
                  <a:pt x="100005" y="115443"/>
                </a:lnTo>
                <a:cubicBezTo>
                  <a:pt x="101177" y="111149"/>
                  <a:pt x="105187" y="108239"/>
                  <a:pt x="109658" y="108523"/>
                </a:cubicBezTo>
                <a:lnTo>
                  <a:pt x="124528" y="109481"/>
                </a:lnTo>
                <a:cubicBezTo>
                  <a:pt x="126763" y="106606"/>
                  <a:pt x="129354" y="103945"/>
                  <a:pt x="132300" y="101673"/>
                </a:cubicBezTo>
                <a:lnTo>
                  <a:pt x="131341" y="86839"/>
                </a:lnTo>
                <a:cubicBezTo>
                  <a:pt x="131057" y="82368"/>
                  <a:pt x="133967" y="78322"/>
                  <a:pt x="138262" y="77187"/>
                </a:cubicBezTo>
                <a:lnTo>
                  <a:pt x="147559" y="74702"/>
                </a:lnTo>
                <a:close/>
                <a:moveTo>
                  <a:pt x="159129" y="120659"/>
                </a:moveTo>
                <a:cubicBezTo>
                  <a:pt x="150511" y="120669"/>
                  <a:pt x="143522" y="127674"/>
                  <a:pt x="143532" y="136292"/>
                </a:cubicBezTo>
                <a:cubicBezTo>
                  <a:pt x="143541" y="144910"/>
                  <a:pt x="150546" y="151899"/>
                  <a:pt x="159164" y="151889"/>
                </a:cubicBezTo>
                <a:cubicBezTo>
                  <a:pt x="167782" y="151879"/>
                  <a:pt x="174771" y="144874"/>
                  <a:pt x="174761" y="136256"/>
                </a:cubicBezTo>
                <a:cubicBezTo>
                  <a:pt x="174751" y="127638"/>
                  <a:pt x="167747" y="120650"/>
                  <a:pt x="159129" y="120659"/>
                </a:cubicBezTo>
                <a:close/>
                <a:moveTo>
                  <a:pt x="79813" y="-16147"/>
                </a:moveTo>
                <a:lnTo>
                  <a:pt x="89111" y="-13663"/>
                </a:lnTo>
                <a:cubicBezTo>
                  <a:pt x="93405" y="-12492"/>
                  <a:pt x="96315" y="-8446"/>
                  <a:pt x="96031" y="-4010"/>
                </a:cubicBezTo>
                <a:lnTo>
                  <a:pt x="95073" y="10824"/>
                </a:lnTo>
                <a:cubicBezTo>
                  <a:pt x="98018" y="13095"/>
                  <a:pt x="100609" y="15721"/>
                  <a:pt x="102844" y="18631"/>
                </a:cubicBezTo>
                <a:lnTo>
                  <a:pt x="117749" y="17673"/>
                </a:lnTo>
                <a:cubicBezTo>
                  <a:pt x="122185" y="17389"/>
                  <a:pt x="126231" y="20299"/>
                  <a:pt x="127402" y="24593"/>
                </a:cubicBezTo>
                <a:lnTo>
                  <a:pt x="129886" y="33891"/>
                </a:lnTo>
                <a:cubicBezTo>
                  <a:pt x="131022" y="38185"/>
                  <a:pt x="128999" y="42728"/>
                  <a:pt x="124989" y="44715"/>
                </a:cubicBezTo>
                <a:lnTo>
                  <a:pt x="111610" y="51316"/>
                </a:lnTo>
                <a:cubicBezTo>
                  <a:pt x="111362" y="53126"/>
                  <a:pt x="111007" y="54936"/>
                  <a:pt x="110545" y="56710"/>
                </a:cubicBezTo>
                <a:cubicBezTo>
                  <a:pt x="110084" y="58484"/>
                  <a:pt x="109445" y="60259"/>
                  <a:pt x="108771" y="61927"/>
                </a:cubicBezTo>
                <a:lnTo>
                  <a:pt x="117040" y="74348"/>
                </a:lnTo>
                <a:cubicBezTo>
                  <a:pt x="119524" y="78074"/>
                  <a:pt x="119027" y="83007"/>
                  <a:pt x="115869" y="86165"/>
                </a:cubicBezTo>
                <a:lnTo>
                  <a:pt x="109055" y="92979"/>
                </a:lnTo>
                <a:cubicBezTo>
                  <a:pt x="105896" y="96137"/>
                  <a:pt x="100964" y="96634"/>
                  <a:pt x="97237" y="94150"/>
                </a:cubicBezTo>
                <a:lnTo>
                  <a:pt x="84817" y="85881"/>
                </a:lnTo>
                <a:cubicBezTo>
                  <a:pt x="81445" y="87265"/>
                  <a:pt x="77861" y="88259"/>
                  <a:pt x="74206" y="88756"/>
                </a:cubicBezTo>
                <a:lnTo>
                  <a:pt x="67605" y="102099"/>
                </a:lnTo>
                <a:cubicBezTo>
                  <a:pt x="65617" y="106109"/>
                  <a:pt x="61075" y="108132"/>
                  <a:pt x="56781" y="106997"/>
                </a:cubicBezTo>
                <a:lnTo>
                  <a:pt x="47483" y="104512"/>
                </a:lnTo>
                <a:cubicBezTo>
                  <a:pt x="43154" y="103341"/>
                  <a:pt x="40279" y="99296"/>
                  <a:pt x="40563" y="94860"/>
                </a:cubicBezTo>
                <a:lnTo>
                  <a:pt x="41521" y="79990"/>
                </a:lnTo>
                <a:cubicBezTo>
                  <a:pt x="38576" y="77719"/>
                  <a:pt x="35985" y="75093"/>
                  <a:pt x="33749" y="72183"/>
                </a:cubicBezTo>
                <a:lnTo>
                  <a:pt x="18844" y="73141"/>
                </a:lnTo>
                <a:cubicBezTo>
                  <a:pt x="14408" y="73425"/>
                  <a:pt x="10363" y="70515"/>
                  <a:pt x="9191" y="66221"/>
                </a:cubicBezTo>
                <a:lnTo>
                  <a:pt x="6707" y="56923"/>
                </a:lnTo>
                <a:cubicBezTo>
                  <a:pt x="5572" y="52629"/>
                  <a:pt x="7594" y="48086"/>
                  <a:pt x="11605" y="46099"/>
                </a:cubicBezTo>
                <a:lnTo>
                  <a:pt x="24984" y="39498"/>
                </a:lnTo>
                <a:cubicBezTo>
                  <a:pt x="25232" y="37688"/>
                  <a:pt x="25587" y="35914"/>
                  <a:pt x="26048" y="34104"/>
                </a:cubicBezTo>
                <a:cubicBezTo>
                  <a:pt x="26545" y="32294"/>
                  <a:pt x="27113" y="30555"/>
                  <a:pt x="27823" y="28887"/>
                </a:cubicBezTo>
                <a:lnTo>
                  <a:pt x="19554" y="16502"/>
                </a:lnTo>
                <a:cubicBezTo>
                  <a:pt x="17070" y="12776"/>
                  <a:pt x="17567" y="7843"/>
                  <a:pt x="20725" y="4684"/>
                </a:cubicBezTo>
                <a:lnTo>
                  <a:pt x="27539" y="-2129"/>
                </a:lnTo>
                <a:cubicBezTo>
                  <a:pt x="30697" y="-5288"/>
                  <a:pt x="35630" y="-5785"/>
                  <a:pt x="39356" y="-3300"/>
                </a:cubicBezTo>
                <a:lnTo>
                  <a:pt x="51777" y="4968"/>
                </a:lnTo>
                <a:cubicBezTo>
                  <a:pt x="55148" y="3584"/>
                  <a:pt x="58733" y="2591"/>
                  <a:pt x="62388" y="2094"/>
                </a:cubicBezTo>
                <a:lnTo>
                  <a:pt x="68989" y="-11250"/>
                </a:lnTo>
                <a:cubicBezTo>
                  <a:pt x="70976" y="-15260"/>
                  <a:pt x="75483" y="-17283"/>
                  <a:pt x="79813" y="-16147"/>
                </a:cubicBezTo>
                <a:close/>
                <a:moveTo>
                  <a:pt x="68279" y="29810"/>
                </a:moveTo>
                <a:cubicBezTo>
                  <a:pt x="59661" y="29810"/>
                  <a:pt x="52664" y="36807"/>
                  <a:pt x="52664" y="45425"/>
                </a:cubicBezTo>
                <a:cubicBezTo>
                  <a:pt x="52664" y="54043"/>
                  <a:pt x="59661" y="61039"/>
                  <a:pt x="68279" y="61039"/>
                </a:cubicBezTo>
                <a:cubicBezTo>
                  <a:pt x="76897" y="61039"/>
                  <a:pt x="83894" y="54043"/>
                  <a:pt x="83894" y="45425"/>
                </a:cubicBezTo>
                <a:cubicBezTo>
                  <a:pt x="83894" y="36807"/>
                  <a:pt x="76897" y="29810"/>
                  <a:pt x="68279" y="2981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1" name="Text 49"/>
          <p:cNvSpPr/>
          <p:nvPr/>
        </p:nvSpPr>
        <p:spPr>
          <a:xfrm>
            <a:off x="6748035" y="4088227"/>
            <a:ext cx="1399082" cy="2543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6411892" y="4487964"/>
            <a:ext cx="5269270" cy="472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was </a:t>
            </a:r>
            <a:r>
              <a:rPr lang="en-US" sz="1145" b="1" dirty="0">
                <a:solidFill>
                  <a:srgbClr val="38B2AC"/>
                </a:solidFill>
                <a:highlight>
                  <a:srgbClr val="38B2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cleaned and transformed </a:t>
            </a: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using SQL before analysis to ensure accuracy and reliability.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6411892" y="5105741"/>
            <a:ext cx="5196590" cy="436077"/>
          </a:xfrm>
          <a:custGeom>
            <a:avLst/>
            <a:gdLst/>
            <a:ahLst/>
            <a:cxnLst/>
            <a:rect l="l" t="t" r="r" b="b"/>
            <a:pathLst>
              <a:path w="5196590" h="436077">
                <a:moveTo>
                  <a:pt x="36338" y="0"/>
                </a:moveTo>
                <a:lnTo>
                  <a:pt x="5160252" y="0"/>
                </a:lnTo>
                <a:cubicBezTo>
                  <a:pt x="5180321" y="0"/>
                  <a:pt x="5196590" y="16269"/>
                  <a:pt x="5196590" y="36338"/>
                </a:cubicBezTo>
                <a:lnTo>
                  <a:pt x="5196590" y="399739"/>
                </a:lnTo>
                <a:cubicBezTo>
                  <a:pt x="5196590" y="419808"/>
                  <a:pt x="5180321" y="436077"/>
                  <a:pt x="5160252" y="436077"/>
                </a:cubicBezTo>
                <a:lnTo>
                  <a:pt x="36338" y="436077"/>
                </a:lnTo>
                <a:cubicBezTo>
                  <a:pt x="16269" y="436077"/>
                  <a:pt x="0" y="419808"/>
                  <a:pt x="0" y="399739"/>
                </a:cubicBezTo>
                <a:lnTo>
                  <a:pt x="0" y="36338"/>
                </a:lnTo>
                <a:cubicBezTo>
                  <a:pt x="0" y="16283"/>
                  <a:pt x="16283" y="0"/>
                  <a:pt x="3633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6539081" y="5251100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5" name="Text 53"/>
          <p:cNvSpPr/>
          <p:nvPr/>
        </p:nvSpPr>
        <p:spPr>
          <a:xfrm>
            <a:off x="6811629" y="5214760"/>
            <a:ext cx="1562611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Missing values handled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11892" y="5650838"/>
            <a:ext cx="5196590" cy="436077"/>
          </a:xfrm>
          <a:custGeom>
            <a:avLst/>
            <a:gdLst/>
            <a:ahLst/>
            <a:cxnLst/>
            <a:rect l="l" t="t" r="r" b="b"/>
            <a:pathLst>
              <a:path w="5196590" h="436077">
                <a:moveTo>
                  <a:pt x="36338" y="0"/>
                </a:moveTo>
                <a:lnTo>
                  <a:pt x="5160252" y="0"/>
                </a:lnTo>
                <a:cubicBezTo>
                  <a:pt x="5180321" y="0"/>
                  <a:pt x="5196590" y="16269"/>
                  <a:pt x="5196590" y="36338"/>
                </a:cubicBezTo>
                <a:lnTo>
                  <a:pt x="5196590" y="399739"/>
                </a:lnTo>
                <a:cubicBezTo>
                  <a:pt x="5196590" y="419808"/>
                  <a:pt x="5180321" y="436077"/>
                  <a:pt x="5160252" y="436077"/>
                </a:cubicBezTo>
                <a:lnTo>
                  <a:pt x="36338" y="436077"/>
                </a:lnTo>
                <a:cubicBezTo>
                  <a:pt x="16269" y="436077"/>
                  <a:pt x="0" y="419808"/>
                  <a:pt x="0" y="399739"/>
                </a:cubicBezTo>
                <a:lnTo>
                  <a:pt x="0" y="36338"/>
                </a:lnTo>
                <a:cubicBezTo>
                  <a:pt x="0" y="16283"/>
                  <a:pt x="16283" y="0"/>
                  <a:pt x="3633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6539081" y="5796197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58" name="Text 56"/>
          <p:cNvSpPr/>
          <p:nvPr/>
        </p:nvSpPr>
        <p:spPr>
          <a:xfrm>
            <a:off x="6811629" y="5759857"/>
            <a:ext cx="1935094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formatting standardized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6411892" y="6195934"/>
            <a:ext cx="5196590" cy="436077"/>
          </a:xfrm>
          <a:custGeom>
            <a:avLst/>
            <a:gdLst/>
            <a:ahLst/>
            <a:cxnLst/>
            <a:rect l="l" t="t" r="r" b="b"/>
            <a:pathLst>
              <a:path w="5196590" h="436077">
                <a:moveTo>
                  <a:pt x="36338" y="0"/>
                </a:moveTo>
                <a:lnTo>
                  <a:pt x="5160252" y="0"/>
                </a:lnTo>
                <a:cubicBezTo>
                  <a:pt x="5180321" y="0"/>
                  <a:pt x="5196590" y="16269"/>
                  <a:pt x="5196590" y="36338"/>
                </a:cubicBezTo>
                <a:lnTo>
                  <a:pt x="5196590" y="399739"/>
                </a:lnTo>
                <a:cubicBezTo>
                  <a:pt x="5196590" y="419808"/>
                  <a:pt x="5180321" y="436077"/>
                  <a:pt x="5160252" y="436077"/>
                </a:cubicBezTo>
                <a:lnTo>
                  <a:pt x="36338" y="436077"/>
                </a:lnTo>
                <a:cubicBezTo>
                  <a:pt x="16269" y="436077"/>
                  <a:pt x="0" y="419808"/>
                  <a:pt x="0" y="399739"/>
                </a:cubicBezTo>
                <a:lnTo>
                  <a:pt x="0" y="36338"/>
                </a:lnTo>
                <a:cubicBezTo>
                  <a:pt x="0" y="16283"/>
                  <a:pt x="16283" y="0"/>
                  <a:pt x="36338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539081" y="6341294"/>
            <a:ext cx="145359" cy="145359"/>
          </a:xfrm>
          <a:custGeom>
            <a:avLst/>
            <a:gdLst/>
            <a:ahLst/>
            <a:cxnLst/>
            <a:rect l="l" t="t" r="r" b="b"/>
            <a:pathLst>
              <a:path w="145359" h="145359">
                <a:moveTo>
                  <a:pt x="72680" y="145359"/>
                </a:moveTo>
                <a:cubicBezTo>
                  <a:pt x="112793" y="145359"/>
                  <a:pt x="145359" y="112793"/>
                  <a:pt x="145359" y="72680"/>
                </a:cubicBezTo>
                <a:cubicBezTo>
                  <a:pt x="145359" y="32567"/>
                  <a:pt x="112793" y="0"/>
                  <a:pt x="72680" y="0"/>
                </a:cubicBezTo>
                <a:cubicBezTo>
                  <a:pt x="32567" y="0"/>
                  <a:pt x="0" y="32567"/>
                  <a:pt x="0" y="72680"/>
                </a:cubicBezTo>
                <a:cubicBezTo>
                  <a:pt x="0" y="112793"/>
                  <a:pt x="32567" y="145359"/>
                  <a:pt x="72680" y="145359"/>
                </a:cubicBezTo>
                <a:close/>
                <a:moveTo>
                  <a:pt x="96641" y="60387"/>
                </a:moveTo>
                <a:lnTo>
                  <a:pt x="73929" y="96726"/>
                </a:lnTo>
                <a:cubicBezTo>
                  <a:pt x="72736" y="98628"/>
                  <a:pt x="70692" y="99821"/>
                  <a:pt x="68449" y="99934"/>
                </a:cubicBezTo>
                <a:cubicBezTo>
                  <a:pt x="66207" y="100048"/>
                  <a:pt x="64049" y="99026"/>
                  <a:pt x="62715" y="97209"/>
                </a:cubicBezTo>
                <a:lnTo>
                  <a:pt x="49087" y="79039"/>
                </a:lnTo>
                <a:cubicBezTo>
                  <a:pt x="46816" y="76030"/>
                  <a:pt x="47440" y="71771"/>
                  <a:pt x="50450" y="69500"/>
                </a:cubicBezTo>
                <a:cubicBezTo>
                  <a:pt x="53459" y="67229"/>
                  <a:pt x="57718" y="67853"/>
                  <a:pt x="59989" y="70863"/>
                </a:cubicBezTo>
                <a:lnTo>
                  <a:pt x="67654" y="81083"/>
                </a:lnTo>
                <a:lnTo>
                  <a:pt x="85086" y="53175"/>
                </a:lnTo>
                <a:cubicBezTo>
                  <a:pt x="87074" y="49996"/>
                  <a:pt x="91275" y="49002"/>
                  <a:pt x="94483" y="51018"/>
                </a:cubicBezTo>
                <a:cubicBezTo>
                  <a:pt x="97692" y="53033"/>
                  <a:pt x="98657" y="57207"/>
                  <a:pt x="96641" y="6041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1" name="Text 59"/>
          <p:cNvSpPr/>
          <p:nvPr/>
        </p:nvSpPr>
        <p:spPr>
          <a:xfrm>
            <a:off x="6811629" y="6304954"/>
            <a:ext cx="1889669" cy="2180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validation completed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0" y="26789"/>
                </a:moveTo>
                <a:cubicBezTo>
                  <a:pt x="0" y="17915"/>
                  <a:pt x="7200" y="10716"/>
                  <a:pt x="16073" y="10716"/>
                </a:cubicBezTo>
                <a:lnTo>
                  <a:pt x="48220" y="10716"/>
                </a:lnTo>
                <a:cubicBezTo>
                  <a:pt x="57094" y="10716"/>
                  <a:pt x="64294" y="17915"/>
                  <a:pt x="64294" y="26789"/>
                </a:cubicBezTo>
                <a:lnTo>
                  <a:pt x="64294" y="32147"/>
                </a:lnTo>
                <a:lnTo>
                  <a:pt x="107156" y="32147"/>
                </a:lnTo>
                <a:lnTo>
                  <a:pt x="107156" y="26789"/>
                </a:lnTo>
                <a:cubicBezTo>
                  <a:pt x="107156" y="17915"/>
                  <a:pt x="114356" y="10716"/>
                  <a:pt x="123230" y="10716"/>
                </a:cubicBezTo>
                <a:lnTo>
                  <a:pt x="155377" y="10716"/>
                </a:lnTo>
                <a:cubicBezTo>
                  <a:pt x="164250" y="10716"/>
                  <a:pt x="171450" y="17915"/>
                  <a:pt x="171450" y="26789"/>
                </a:cubicBezTo>
                <a:lnTo>
                  <a:pt x="171450" y="58936"/>
                </a:lnTo>
                <a:cubicBezTo>
                  <a:pt x="171450" y="67810"/>
                  <a:pt x="164250" y="75009"/>
                  <a:pt x="155377" y="75009"/>
                </a:cubicBezTo>
                <a:lnTo>
                  <a:pt x="123230" y="75009"/>
                </a:lnTo>
                <a:cubicBezTo>
                  <a:pt x="114356" y="75009"/>
                  <a:pt x="107156" y="67810"/>
                  <a:pt x="107156" y="58936"/>
                </a:cubicBezTo>
                <a:lnTo>
                  <a:pt x="107156" y="53578"/>
                </a:lnTo>
                <a:lnTo>
                  <a:pt x="64294" y="53578"/>
                </a:lnTo>
                <a:lnTo>
                  <a:pt x="64294" y="58936"/>
                </a:lnTo>
                <a:cubicBezTo>
                  <a:pt x="64294" y="61380"/>
                  <a:pt x="63724" y="63724"/>
                  <a:pt x="62753" y="65801"/>
                </a:cubicBezTo>
                <a:lnTo>
                  <a:pt x="85725" y="96441"/>
                </a:lnTo>
                <a:lnTo>
                  <a:pt x="112514" y="96441"/>
                </a:lnTo>
                <a:cubicBezTo>
                  <a:pt x="121388" y="96441"/>
                  <a:pt x="128588" y="103640"/>
                  <a:pt x="128588" y="112514"/>
                </a:cubicBezTo>
                <a:lnTo>
                  <a:pt x="128588" y="144661"/>
                </a:lnTo>
                <a:cubicBezTo>
                  <a:pt x="128588" y="153535"/>
                  <a:pt x="121388" y="160734"/>
                  <a:pt x="112514" y="160734"/>
                </a:cubicBezTo>
                <a:lnTo>
                  <a:pt x="80367" y="160734"/>
                </a:lnTo>
                <a:cubicBezTo>
                  <a:pt x="71493" y="160734"/>
                  <a:pt x="64294" y="153535"/>
                  <a:pt x="64294" y="144661"/>
                </a:cubicBezTo>
                <a:lnTo>
                  <a:pt x="64294" y="112514"/>
                </a:lnTo>
                <a:cubicBezTo>
                  <a:pt x="64294" y="110070"/>
                  <a:pt x="64863" y="107726"/>
                  <a:pt x="65834" y="105649"/>
                </a:cubicBezTo>
                <a:lnTo>
                  <a:pt x="42863" y="75009"/>
                </a:lnTo>
                <a:lnTo>
                  <a:pt x="16073" y="75009"/>
                </a:lnTo>
                <a:cubicBezTo>
                  <a:pt x="7200" y="75009"/>
                  <a:pt x="0" y="67810"/>
                  <a:pt x="0" y="58936"/>
                </a:cubicBezTo>
                <a:lnTo>
                  <a:pt x="0" y="2678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2192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Methodology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Approach &amp; Methodology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81150"/>
            <a:ext cx="2162175" cy="2743200"/>
          </a:xfrm>
          <a:custGeom>
            <a:avLst/>
            <a:gdLst/>
            <a:ahLst/>
            <a:cxnLst/>
            <a:rect l="l" t="t" r="r" b="b"/>
            <a:pathLst>
              <a:path w="2162175" h="27432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2667005"/>
                </a:lnTo>
                <a:cubicBezTo>
                  <a:pt x="2162175" y="2709086"/>
                  <a:pt x="2128061" y="2743200"/>
                  <a:pt x="2085980" y="2743200"/>
                </a:cubicBezTo>
                <a:lnTo>
                  <a:pt x="76195" y="2743200"/>
                </a:lnTo>
                <a:cubicBezTo>
                  <a:pt x="34114" y="2743200"/>
                  <a:pt x="0" y="2709086"/>
                  <a:pt x="0" y="26670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81000" y="15811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Shape 6"/>
          <p:cNvSpPr/>
          <p:nvPr/>
        </p:nvSpPr>
        <p:spPr>
          <a:xfrm>
            <a:off x="57150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62000" y="1885950"/>
            <a:ext cx="1714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" y="240030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Cleaning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1500" y="2781300"/>
            <a:ext cx="18478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Handling missing values, formatting inconsistencies, and ensuring data quality for reliable analysis.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60" y="1581150"/>
            <a:ext cx="2162175" cy="2743200"/>
          </a:xfrm>
          <a:custGeom>
            <a:avLst/>
            <a:gdLst/>
            <a:ahLst/>
            <a:cxnLst/>
            <a:rect l="l" t="t" r="r" b="b"/>
            <a:pathLst>
              <a:path w="2162175" h="27432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2667005"/>
                </a:lnTo>
                <a:cubicBezTo>
                  <a:pt x="2162175" y="2709086"/>
                  <a:pt x="2128061" y="2743200"/>
                  <a:pt x="2085980" y="2743200"/>
                </a:cubicBezTo>
                <a:lnTo>
                  <a:pt x="76195" y="2743200"/>
                </a:lnTo>
                <a:cubicBezTo>
                  <a:pt x="34114" y="2743200"/>
                  <a:pt x="0" y="2709086"/>
                  <a:pt x="0" y="26670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2697460" y="15811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4" name="Shape 12"/>
          <p:cNvSpPr/>
          <p:nvPr/>
        </p:nvSpPr>
        <p:spPr>
          <a:xfrm>
            <a:off x="288796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3061196" y="18859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887960" y="2400300"/>
            <a:ext cx="1866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Exploratory Data Analysis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87960" y="3048000"/>
            <a:ext cx="184785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Understanding data distributions, identifying patterns, and uncovering initial insights through visualization.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013921" y="1581150"/>
            <a:ext cx="2162175" cy="2743200"/>
          </a:xfrm>
          <a:custGeom>
            <a:avLst/>
            <a:gdLst/>
            <a:ahLst/>
            <a:cxnLst/>
            <a:rect l="l" t="t" r="r" b="b"/>
            <a:pathLst>
              <a:path w="2162175" h="27432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2667005"/>
                </a:lnTo>
                <a:cubicBezTo>
                  <a:pt x="2162175" y="2709086"/>
                  <a:pt x="2128061" y="2743200"/>
                  <a:pt x="2085980" y="2743200"/>
                </a:cubicBezTo>
                <a:lnTo>
                  <a:pt x="76195" y="2743200"/>
                </a:lnTo>
                <a:cubicBezTo>
                  <a:pt x="34114" y="2743200"/>
                  <a:pt x="0" y="2709086"/>
                  <a:pt x="0" y="26670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5013921" y="15811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Shape 18"/>
          <p:cNvSpPr/>
          <p:nvPr/>
        </p:nvSpPr>
        <p:spPr>
          <a:xfrm>
            <a:off x="5204421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376764" y="18859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04421" y="240030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204421" y="2781300"/>
            <a:ext cx="18478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Creating meaningful categories like price segments and review tiers for deeper analytical insights.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30380" y="1581150"/>
            <a:ext cx="2162175" cy="2743200"/>
          </a:xfrm>
          <a:custGeom>
            <a:avLst/>
            <a:gdLst/>
            <a:ahLst/>
            <a:cxnLst/>
            <a:rect l="l" t="t" r="r" b="b"/>
            <a:pathLst>
              <a:path w="2162175" h="27432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2667005"/>
                </a:lnTo>
                <a:cubicBezTo>
                  <a:pt x="2162175" y="2709086"/>
                  <a:pt x="2128061" y="2743200"/>
                  <a:pt x="2085980" y="2743200"/>
                </a:cubicBezTo>
                <a:lnTo>
                  <a:pt x="76195" y="2743200"/>
                </a:lnTo>
                <a:cubicBezTo>
                  <a:pt x="34114" y="2743200"/>
                  <a:pt x="0" y="2709086"/>
                  <a:pt x="0" y="26670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7330380" y="15811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Shape 24"/>
          <p:cNvSpPr/>
          <p:nvPr/>
        </p:nvSpPr>
        <p:spPr>
          <a:xfrm>
            <a:off x="7520880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693323" y="18859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20880" y="2400300"/>
            <a:ext cx="18669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Development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520880" y="3048000"/>
            <a:ext cx="18478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interactive Power BI dashboards for dynamic exploration and stakeholder communication.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646841" y="1581150"/>
            <a:ext cx="2162175" cy="2743200"/>
          </a:xfrm>
          <a:custGeom>
            <a:avLst/>
            <a:gdLst/>
            <a:ahLst/>
            <a:cxnLst/>
            <a:rect l="l" t="t" r="r" b="b"/>
            <a:pathLst>
              <a:path w="2162175" h="27432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2667005"/>
                </a:lnTo>
                <a:cubicBezTo>
                  <a:pt x="2162175" y="2709086"/>
                  <a:pt x="2128061" y="2743200"/>
                  <a:pt x="2085980" y="2743200"/>
                </a:cubicBezTo>
                <a:lnTo>
                  <a:pt x="76195" y="2743200"/>
                </a:lnTo>
                <a:cubicBezTo>
                  <a:pt x="34114" y="2743200"/>
                  <a:pt x="0" y="2709086"/>
                  <a:pt x="0" y="2667005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31" name="Shape 29"/>
          <p:cNvSpPr/>
          <p:nvPr/>
        </p:nvSpPr>
        <p:spPr>
          <a:xfrm>
            <a:off x="9646841" y="1581150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38100" y="0"/>
                </a:moveTo>
                <a:lnTo>
                  <a:pt x="2124075" y="0"/>
                </a:lnTo>
                <a:cubicBezTo>
                  <a:pt x="2145103" y="0"/>
                  <a:pt x="2162175" y="17072"/>
                  <a:pt x="2162175" y="38100"/>
                </a:cubicBezTo>
                <a:lnTo>
                  <a:pt x="2162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Shape 30"/>
          <p:cNvSpPr/>
          <p:nvPr/>
        </p:nvSpPr>
        <p:spPr>
          <a:xfrm>
            <a:off x="9837341" y="17907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011073" y="1885950"/>
            <a:ext cx="2095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37341" y="2400300"/>
            <a:ext cx="1866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Validation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837341" y="2781300"/>
            <a:ext cx="1847850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Testing hypotheses and validating findings through rigorous statistical methods to ensure reliability.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384175" y="4515644"/>
            <a:ext cx="11426825" cy="1958975"/>
          </a:xfrm>
          <a:custGeom>
            <a:avLst/>
            <a:gdLst/>
            <a:ahLst/>
            <a:cxnLst/>
            <a:rect l="l" t="t" r="r" b="b"/>
            <a:pathLst>
              <a:path w="11426825" h="1958975">
                <a:moveTo>
                  <a:pt x="76204" y="0"/>
                </a:moveTo>
                <a:lnTo>
                  <a:pt x="11350621" y="0"/>
                </a:lnTo>
                <a:cubicBezTo>
                  <a:pt x="11392707" y="0"/>
                  <a:pt x="11426825" y="34118"/>
                  <a:pt x="11426825" y="76204"/>
                </a:cubicBezTo>
                <a:lnTo>
                  <a:pt x="11426825" y="1882771"/>
                </a:lnTo>
                <a:cubicBezTo>
                  <a:pt x="11426825" y="1924857"/>
                  <a:pt x="11392707" y="1958975"/>
                  <a:pt x="11350621" y="1958975"/>
                </a:cubicBezTo>
                <a:lnTo>
                  <a:pt x="76204" y="1958975"/>
                </a:lnTo>
                <a:cubicBezTo>
                  <a:pt x="34118" y="1958975"/>
                  <a:pt x="0" y="1924857"/>
                  <a:pt x="0" y="18827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15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5950" y="4873228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796925" y="5025628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0775" y="171450"/>
                </a:moveTo>
                <a:cubicBezTo>
                  <a:pt x="134035" y="161493"/>
                  <a:pt x="140553" y="152474"/>
                  <a:pt x="147920" y="144706"/>
                </a:cubicBezTo>
                <a:cubicBezTo>
                  <a:pt x="162520" y="129347"/>
                  <a:pt x="171450" y="108585"/>
                  <a:pt x="171450" y="85725"/>
                </a:cubicBezTo>
                <a:cubicBezTo>
                  <a:pt x="171450" y="38398"/>
                  <a:pt x="133052" y="0"/>
                  <a:pt x="85725" y="0"/>
                </a:cubicBezTo>
                <a:cubicBezTo>
                  <a:pt x="38398" y="0"/>
                  <a:pt x="0" y="38398"/>
                  <a:pt x="0" y="85725"/>
                </a:cubicBezTo>
                <a:cubicBezTo>
                  <a:pt x="0" y="108585"/>
                  <a:pt x="8930" y="129347"/>
                  <a:pt x="23530" y="144706"/>
                </a:cubicBezTo>
                <a:cubicBezTo>
                  <a:pt x="30897" y="152474"/>
                  <a:pt x="37460" y="161493"/>
                  <a:pt x="40675" y="171450"/>
                </a:cubicBezTo>
                <a:lnTo>
                  <a:pt x="130731" y="171450"/>
                </a:lnTo>
                <a:close/>
                <a:moveTo>
                  <a:pt x="128588" y="192881"/>
                </a:moveTo>
                <a:lnTo>
                  <a:pt x="42863" y="192881"/>
                </a:lnTo>
                <a:lnTo>
                  <a:pt x="42863" y="200025"/>
                </a:lnTo>
                <a:cubicBezTo>
                  <a:pt x="42863" y="219760"/>
                  <a:pt x="58847" y="235744"/>
                  <a:pt x="78581" y="235744"/>
                </a:cubicBezTo>
                <a:lnTo>
                  <a:pt x="92869" y="235744"/>
                </a:lnTo>
                <a:cubicBezTo>
                  <a:pt x="112603" y="235744"/>
                  <a:pt x="128588" y="219760"/>
                  <a:pt x="128588" y="200025"/>
                </a:cubicBezTo>
                <a:lnTo>
                  <a:pt x="128588" y="192881"/>
                </a:lnTo>
                <a:close/>
                <a:moveTo>
                  <a:pt x="82153" y="50006"/>
                </a:moveTo>
                <a:cubicBezTo>
                  <a:pt x="64383" y="50006"/>
                  <a:pt x="50006" y="64383"/>
                  <a:pt x="50006" y="82153"/>
                </a:cubicBezTo>
                <a:cubicBezTo>
                  <a:pt x="50006" y="88091"/>
                  <a:pt x="45229" y="92869"/>
                  <a:pt x="39291" y="92869"/>
                </a:cubicBezTo>
                <a:cubicBezTo>
                  <a:pt x="33352" y="92869"/>
                  <a:pt x="28575" y="88091"/>
                  <a:pt x="28575" y="82153"/>
                </a:cubicBezTo>
                <a:cubicBezTo>
                  <a:pt x="28575" y="52551"/>
                  <a:pt x="52551" y="28575"/>
                  <a:pt x="82153" y="28575"/>
                </a:cubicBezTo>
                <a:cubicBezTo>
                  <a:pt x="88091" y="28575"/>
                  <a:pt x="92869" y="33352"/>
                  <a:pt x="92869" y="39291"/>
                </a:cubicBezTo>
                <a:cubicBezTo>
                  <a:pt x="92869" y="45229"/>
                  <a:pt x="88091" y="50006"/>
                  <a:pt x="82153" y="5000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9" name="Text 37"/>
          <p:cNvSpPr/>
          <p:nvPr/>
        </p:nvSpPr>
        <p:spPr>
          <a:xfrm>
            <a:off x="1301750" y="4987528"/>
            <a:ext cx="33813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Integrated Analytical Framework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5950" y="5559028"/>
            <a:ext cx="110490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analysis combines </a:t>
            </a:r>
            <a:r>
              <a:rPr lang="en-US" sz="1350" b="1" dirty="0">
                <a:solidFill>
                  <a:srgbClr val="38B2AC"/>
                </a:solidFill>
                <a:highlight>
                  <a:srgbClr val="38B2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SQL-based data processing </a:t>
            </a:r>
            <a:r>
              <a:rPr lang="en-US" sz="135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with </a:t>
            </a:r>
            <a:r>
              <a:rPr lang="en-US" sz="1350" b="1" dirty="0">
                <a:solidFill>
                  <a:srgbClr val="38B2AC"/>
                </a:solidFill>
                <a:highlight>
                  <a:srgbClr val="38B2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visual insights </a:t>
            </a:r>
            <a:r>
              <a:rPr lang="en-US" sz="135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</a:t>
            </a:r>
            <a:r>
              <a:rPr lang="en-US" sz="1350" b="1" dirty="0">
                <a:solidFill>
                  <a:srgbClr val="38B2AC"/>
                </a:solidFill>
                <a:highlight>
                  <a:srgbClr val="38B2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statistical reasoning </a:t>
            </a:r>
            <a:r>
              <a:rPr lang="en-US" sz="135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 deliver comprehensive, evidence-based conclusions that drive business decisions.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77441" y="4857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71584" y="80367"/>
                </a:moveTo>
                <a:lnTo>
                  <a:pt x="112648" y="80367"/>
                </a:lnTo>
                <a:cubicBezTo>
                  <a:pt x="106721" y="80367"/>
                  <a:pt x="101932" y="75579"/>
                  <a:pt x="101932" y="69652"/>
                </a:cubicBezTo>
                <a:lnTo>
                  <a:pt x="101932" y="10716"/>
                </a:lnTo>
                <a:cubicBezTo>
                  <a:pt x="101932" y="4789"/>
                  <a:pt x="106754" y="-67"/>
                  <a:pt x="112615" y="703"/>
                </a:cubicBezTo>
                <a:cubicBezTo>
                  <a:pt x="148445" y="5458"/>
                  <a:pt x="176841" y="33855"/>
                  <a:pt x="181596" y="69685"/>
                </a:cubicBezTo>
                <a:cubicBezTo>
                  <a:pt x="182367" y="75545"/>
                  <a:pt x="177511" y="80367"/>
                  <a:pt x="171584" y="80367"/>
                </a:cubicBezTo>
                <a:close/>
                <a:moveTo>
                  <a:pt x="74541" y="12457"/>
                </a:moveTo>
                <a:cubicBezTo>
                  <a:pt x="80602" y="11184"/>
                  <a:pt x="85859" y="16140"/>
                  <a:pt x="85859" y="22335"/>
                </a:cubicBezTo>
                <a:lnTo>
                  <a:pt x="85859" y="88404"/>
                </a:lnTo>
                <a:cubicBezTo>
                  <a:pt x="85859" y="90279"/>
                  <a:pt x="86529" y="92087"/>
                  <a:pt x="87701" y="93527"/>
                </a:cubicBezTo>
                <a:lnTo>
                  <a:pt x="131936" y="146905"/>
                </a:lnTo>
                <a:cubicBezTo>
                  <a:pt x="135854" y="151626"/>
                  <a:pt x="135017" y="158759"/>
                  <a:pt x="129626" y="161672"/>
                </a:cubicBezTo>
                <a:cubicBezTo>
                  <a:pt x="118207" y="167900"/>
                  <a:pt x="105114" y="171450"/>
                  <a:pt x="91217" y="171450"/>
                </a:cubicBezTo>
                <a:cubicBezTo>
                  <a:pt x="46847" y="171450"/>
                  <a:pt x="10850" y="135452"/>
                  <a:pt x="10850" y="91083"/>
                </a:cubicBezTo>
                <a:cubicBezTo>
                  <a:pt x="10850" y="52406"/>
                  <a:pt x="38141" y="20125"/>
                  <a:pt x="74541" y="12457"/>
                </a:cubicBezTo>
                <a:close/>
                <a:moveTo>
                  <a:pt x="159998" y="96441"/>
                </a:moveTo>
                <a:lnTo>
                  <a:pt x="181429" y="96441"/>
                </a:lnTo>
                <a:cubicBezTo>
                  <a:pt x="187624" y="96441"/>
                  <a:pt x="192580" y="101698"/>
                  <a:pt x="191307" y="107759"/>
                </a:cubicBezTo>
                <a:cubicBezTo>
                  <a:pt x="187892" y="123966"/>
                  <a:pt x="179587" y="138366"/>
                  <a:pt x="168001" y="149349"/>
                </a:cubicBezTo>
                <a:cubicBezTo>
                  <a:pt x="163882" y="153267"/>
                  <a:pt x="157419" y="152430"/>
                  <a:pt x="153803" y="148043"/>
                </a:cubicBezTo>
                <a:lnTo>
                  <a:pt x="125540" y="113987"/>
                </a:lnTo>
                <a:cubicBezTo>
                  <a:pt x="119747" y="106989"/>
                  <a:pt x="124737" y="96441"/>
                  <a:pt x="133778" y="96441"/>
                </a:cubicBezTo>
                <a:lnTo>
                  <a:pt x="159964" y="96441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057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Discoveries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 from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00050" y="1562100"/>
            <a:ext cx="5600700" cy="1543050"/>
          </a:xfrm>
          <a:custGeom>
            <a:avLst/>
            <a:gdLst/>
            <a:ahLst/>
            <a:cxnLst/>
            <a:rect l="l" t="t" r="r" b="b"/>
            <a:pathLst>
              <a:path w="5600700" h="1543050">
                <a:moveTo>
                  <a:pt x="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466854"/>
                </a:lnTo>
                <a:cubicBezTo>
                  <a:pt x="5600700" y="1508936"/>
                  <a:pt x="5566586" y="1543050"/>
                  <a:pt x="5524504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400050" y="15621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Shape 6"/>
          <p:cNvSpPr/>
          <p:nvPr/>
        </p:nvSpPr>
        <p:spPr>
          <a:xfrm>
            <a:off x="64770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14388" y="19431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661" y="-11787"/>
                </a:moveTo>
                <a:cubicBezTo>
                  <a:pt x="75813" y="-15270"/>
                  <a:pt x="81930" y="-15136"/>
                  <a:pt x="85904" y="-11385"/>
                </a:cubicBezTo>
                <a:cubicBezTo>
                  <a:pt x="91395" y="-6206"/>
                  <a:pt x="96307" y="-491"/>
                  <a:pt x="101039" y="5313"/>
                </a:cubicBezTo>
                <a:cubicBezTo>
                  <a:pt x="107067" y="12680"/>
                  <a:pt x="114300" y="22414"/>
                  <a:pt x="121265" y="33977"/>
                </a:cubicBezTo>
                <a:cubicBezTo>
                  <a:pt x="123587" y="30941"/>
                  <a:pt x="125730" y="28262"/>
                  <a:pt x="127605" y="25985"/>
                </a:cubicBezTo>
                <a:cubicBezTo>
                  <a:pt x="128096" y="25405"/>
                  <a:pt x="128588" y="24780"/>
                  <a:pt x="129079" y="24155"/>
                </a:cubicBezTo>
                <a:cubicBezTo>
                  <a:pt x="132606" y="19779"/>
                  <a:pt x="136981" y="14287"/>
                  <a:pt x="142830" y="14287"/>
                </a:cubicBezTo>
                <a:cubicBezTo>
                  <a:pt x="148813" y="14287"/>
                  <a:pt x="153010" y="19601"/>
                  <a:pt x="156582" y="24155"/>
                </a:cubicBezTo>
                <a:cubicBezTo>
                  <a:pt x="157163" y="24914"/>
                  <a:pt x="157743" y="25628"/>
                  <a:pt x="158323" y="26298"/>
                </a:cubicBezTo>
                <a:cubicBezTo>
                  <a:pt x="162922" y="31834"/>
                  <a:pt x="169039" y="39826"/>
                  <a:pt x="175156" y="49694"/>
                </a:cubicBezTo>
                <a:cubicBezTo>
                  <a:pt x="187300" y="69294"/>
                  <a:pt x="199980" y="97200"/>
                  <a:pt x="199980" y="128543"/>
                </a:cubicBezTo>
                <a:cubicBezTo>
                  <a:pt x="199980" y="183773"/>
                  <a:pt x="155198" y="228555"/>
                  <a:pt x="99968" y="228555"/>
                </a:cubicBezTo>
                <a:cubicBezTo>
                  <a:pt x="44738" y="228555"/>
                  <a:pt x="0" y="183818"/>
                  <a:pt x="0" y="128588"/>
                </a:cubicBezTo>
                <a:cubicBezTo>
                  <a:pt x="0" y="87913"/>
                  <a:pt x="18351" y="52685"/>
                  <a:pt x="35942" y="28129"/>
                </a:cubicBezTo>
                <a:cubicBezTo>
                  <a:pt x="44827" y="15761"/>
                  <a:pt x="53667" y="5849"/>
                  <a:pt x="60320" y="-938"/>
                </a:cubicBezTo>
                <a:cubicBezTo>
                  <a:pt x="63981" y="-4688"/>
                  <a:pt x="67687" y="-8394"/>
                  <a:pt x="71705" y="-11743"/>
                </a:cubicBezTo>
                <a:close/>
                <a:moveTo>
                  <a:pt x="100772" y="185738"/>
                </a:moveTo>
                <a:cubicBezTo>
                  <a:pt x="112068" y="185738"/>
                  <a:pt x="122069" y="182612"/>
                  <a:pt x="131490" y="176361"/>
                </a:cubicBezTo>
                <a:cubicBezTo>
                  <a:pt x="150287" y="163235"/>
                  <a:pt x="155332" y="136981"/>
                  <a:pt x="144036" y="116354"/>
                </a:cubicBezTo>
                <a:cubicBezTo>
                  <a:pt x="142027" y="112335"/>
                  <a:pt x="136892" y="112068"/>
                  <a:pt x="133990" y="115461"/>
                </a:cubicBezTo>
                <a:lnTo>
                  <a:pt x="122739" y="128543"/>
                </a:lnTo>
                <a:cubicBezTo>
                  <a:pt x="119792" y="131936"/>
                  <a:pt x="114479" y="131847"/>
                  <a:pt x="111710" y="128320"/>
                </a:cubicBezTo>
                <a:cubicBezTo>
                  <a:pt x="103986" y="118452"/>
                  <a:pt x="89788" y="100459"/>
                  <a:pt x="82555" y="91261"/>
                </a:cubicBezTo>
                <a:cubicBezTo>
                  <a:pt x="80144" y="88181"/>
                  <a:pt x="75768" y="87690"/>
                  <a:pt x="72956" y="90413"/>
                </a:cubicBezTo>
                <a:cubicBezTo>
                  <a:pt x="64785" y="98361"/>
                  <a:pt x="49962" y="115773"/>
                  <a:pt x="49962" y="136981"/>
                </a:cubicBezTo>
                <a:cubicBezTo>
                  <a:pt x="49962" y="167610"/>
                  <a:pt x="72554" y="185738"/>
                  <a:pt x="100727" y="18573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Text 8"/>
          <p:cNvSpPr/>
          <p:nvPr/>
        </p:nvSpPr>
        <p:spPr>
          <a:xfrm>
            <a:off x="1333500" y="17907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 Performance Leader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33500" y="213360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Fiction &amp; Action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genres drive the highest engagement with the largest total review volumes, indicating strong reader interest and market demand.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00050" y="3295650"/>
            <a:ext cx="5600700" cy="1543050"/>
          </a:xfrm>
          <a:custGeom>
            <a:avLst/>
            <a:gdLst/>
            <a:ahLst/>
            <a:cxnLst/>
            <a:rect l="l" t="t" r="r" b="b"/>
            <a:pathLst>
              <a:path w="5600700" h="1543050">
                <a:moveTo>
                  <a:pt x="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466854"/>
                </a:lnTo>
                <a:cubicBezTo>
                  <a:pt x="5600700" y="1508936"/>
                  <a:pt x="5566586" y="1543050"/>
                  <a:pt x="5524504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3" name="Shape 11"/>
          <p:cNvSpPr/>
          <p:nvPr/>
        </p:nvSpPr>
        <p:spPr>
          <a:xfrm>
            <a:off x="400050" y="329565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4" name="Shape 12"/>
          <p:cNvSpPr/>
          <p:nvPr/>
        </p:nvSpPr>
        <p:spPr>
          <a:xfrm>
            <a:off x="647700" y="35242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85813" y="367665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38187" y="-8439"/>
                </a:moveTo>
                <a:cubicBezTo>
                  <a:pt x="136356" y="-12010"/>
                  <a:pt x="132651" y="-14287"/>
                  <a:pt x="128632" y="-14287"/>
                </a:cubicBezTo>
                <a:cubicBezTo>
                  <a:pt x="124614" y="-14287"/>
                  <a:pt x="120908" y="-12010"/>
                  <a:pt x="119077" y="-8439"/>
                </a:cubicBezTo>
                <a:lnTo>
                  <a:pt x="86216" y="55944"/>
                </a:lnTo>
                <a:lnTo>
                  <a:pt x="14823" y="67285"/>
                </a:lnTo>
                <a:cubicBezTo>
                  <a:pt x="10850" y="67910"/>
                  <a:pt x="7546" y="70723"/>
                  <a:pt x="6295" y="74563"/>
                </a:cubicBezTo>
                <a:cubicBezTo>
                  <a:pt x="5045" y="78403"/>
                  <a:pt x="6072" y="82600"/>
                  <a:pt x="8885" y="85457"/>
                </a:cubicBezTo>
                <a:lnTo>
                  <a:pt x="59963" y="136580"/>
                </a:lnTo>
                <a:lnTo>
                  <a:pt x="48711" y="207972"/>
                </a:lnTo>
                <a:cubicBezTo>
                  <a:pt x="48086" y="211946"/>
                  <a:pt x="49738" y="215964"/>
                  <a:pt x="52998" y="218331"/>
                </a:cubicBezTo>
                <a:cubicBezTo>
                  <a:pt x="56257" y="220697"/>
                  <a:pt x="60543" y="221054"/>
                  <a:pt x="64160" y="219224"/>
                </a:cubicBezTo>
                <a:lnTo>
                  <a:pt x="128632" y="186452"/>
                </a:lnTo>
                <a:lnTo>
                  <a:pt x="193060" y="219224"/>
                </a:lnTo>
                <a:cubicBezTo>
                  <a:pt x="196632" y="221054"/>
                  <a:pt x="200963" y="220697"/>
                  <a:pt x="204222" y="218331"/>
                </a:cubicBezTo>
                <a:cubicBezTo>
                  <a:pt x="207481" y="215964"/>
                  <a:pt x="209133" y="211991"/>
                  <a:pt x="208508" y="207972"/>
                </a:cubicBezTo>
                <a:lnTo>
                  <a:pt x="197212" y="136580"/>
                </a:lnTo>
                <a:lnTo>
                  <a:pt x="248290" y="85457"/>
                </a:lnTo>
                <a:cubicBezTo>
                  <a:pt x="251147" y="82600"/>
                  <a:pt x="252130" y="78403"/>
                  <a:pt x="250880" y="74563"/>
                </a:cubicBezTo>
                <a:cubicBezTo>
                  <a:pt x="249629" y="70723"/>
                  <a:pt x="246370" y="67910"/>
                  <a:pt x="242352" y="67285"/>
                </a:cubicBezTo>
                <a:lnTo>
                  <a:pt x="171004" y="55944"/>
                </a:lnTo>
                <a:lnTo>
                  <a:pt x="138187" y="-8439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Text 14"/>
          <p:cNvSpPr/>
          <p:nvPr/>
        </p:nvSpPr>
        <p:spPr>
          <a:xfrm>
            <a:off x="1333500" y="352425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 Rating Quality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33500" y="386715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Ratings remain </a:t>
            </a:r>
            <a:r>
              <a:rPr lang="en-US" sz="12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consistently high (~4.6+)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all genres, demonstrating stable customer satisfaction regardless of book category.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10300" y="1562100"/>
            <a:ext cx="5600700" cy="1543050"/>
          </a:xfrm>
          <a:custGeom>
            <a:avLst/>
            <a:gdLst/>
            <a:ahLst/>
            <a:cxnLst/>
            <a:rect l="l" t="t" r="r" b="b"/>
            <a:pathLst>
              <a:path w="5600700" h="1543050">
                <a:moveTo>
                  <a:pt x="0" y="0"/>
                </a:moveTo>
                <a:lnTo>
                  <a:pt x="5524504" y="0"/>
                </a:lnTo>
                <a:cubicBezTo>
                  <a:pt x="5566586" y="0"/>
                  <a:pt x="5600700" y="34114"/>
                  <a:pt x="5600700" y="76196"/>
                </a:cubicBezTo>
                <a:lnTo>
                  <a:pt x="5600700" y="1466854"/>
                </a:lnTo>
                <a:cubicBezTo>
                  <a:pt x="5600700" y="1508936"/>
                  <a:pt x="5566586" y="1543050"/>
                  <a:pt x="5524504" y="1543050"/>
                </a:cubicBez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9" name="Shape 17"/>
          <p:cNvSpPr/>
          <p:nvPr/>
        </p:nvSpPr>
        <p:spPr>
          <a:xfrm>
            <a:off x="6210300" y="1562100"/>
            <a:ext cx="38100" cy="1543050"/>
          </a:xfrm>
          <a:custGeom>
            <a:avLst/>
            <a:gdLst/>
            <a:ahLst/>
            <a:cxnLst/>
            <a:rect l="l" t="t" r="r" b="b"/>
            <a:pathLst>
              <a:path w="38100" h="1543050">
                <a:moveTo>
                  <a:pt x="0" y="0"/>
                </a:moveTo>
                <a:lnTo>
                  <a:pt x="38100" y="0"/>
                </a:lnTo>
                <a:lnTo>
                  <a:pt x="38100" y="1543050"/>
                </a:lnTo>
                <a:lnTo>
                  <a:pt x="0" y="154305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7950" y="17907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596063" y="19431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179130" y="17458"/>
                </a:moveTo>
                <a:lnTo>
                  <a:pt x="245299" y="84564"/>
                </a:lnTo>
                <a:cubicBezTo>
                  <a:pt x="257666" y="97110"/>
                  <a:pt x="257666" y="117202"/>
                  <a:pt x="245299" y="129748"/>
                </a:cubicBezTo>
                <a:lnTo>
                  <a:pt x="175468" y="200427"/>
                </a:lnTo>
                <a:cubicBezTo>
                  <a:pt x="171316" y="204624"/>
                  <a:pt x="164529" y="204668"/>
                  <a:pt x="160333" y="200516"/>
                </a:cubicBezTo>
                <a:cubicBezTo>
                  <a:pt x="156136" y="196364"/>
                  <a:pt x="156091" y="189577"/>
                  <a:pt x="160243" y="185380"/>
                </a:cubicBezTo>
                <a:lnTo>
                  <a:pt x="230073" y="114657"/>
                </a:lnTo>
                <a:cubicBezTo>
                  <a:pt x="234181" y="110505"/>
                  <a:pt x="234181" y="103763"/>
                  <a:pt x="230073" y="99611"/>
                </a:cubicBezTo>
                <a:lnTo>
                  <a:pt x="163860" y="32549"/>
                </a:lnTo>
                <a:cubicBezTo>
                  <a:pt x="159707" y="28352"/>
                  <a:pt x="159752" y="21565"/>
                  <a:pt x="163949" y="17413"/>
                </a:cubicBezTo>
                <a:cubicBezTo>
                  <a:pt x="168146" y="13261"/>
                  <a:pt x="174933" y="13305"/>
                  <a:pt x="179085" y="17502"/>
                </a:cubicBezTo>
                <a:close/>
                <a:moveTo>
                  <a:pt x="14332" y="102468"/>
                </a:moveTo>
                <a:lnTo>
                  <a:pt x="14332" y="42863"/>
                </a:lnTo>
                <a:cubicBezTo>
                  <a:pt x="14332" y="27102"/>
                  <a:pt x="27146" y="14288"/>
                  <a:pt x="42907" y="14288"/>
                </a:cubicBezTo>
                <a:lnTo>
                  <a:pt x="102513" y="14288"/>
                </a:lnTo>
                <a:cubicBezTo>
                  <a:pt x="110103" y="14288"/>
                  <a:pt x="117381" y="17279"/>
                  <a:pt x="122739" y="22637"/>
                </a:cubicBezTo>
                <a:lnTo>
                  <a:pt x="187032" y="86931"/>
                </a:lnTo>
                <a:cubicBezTo>
                  <a:pt x="198194" y="98093"/>
                  <a:pt x="198194" y="116175"/>
                  <a:pt x="187032" y="127337"/>
                </a:cubicBezTo>
                <a:lnTo>
                  <a:pt x="127427" y="186943"/>
                </a:lnTo>
                <a:cubicBezTo>
                  <a:pt x="116265" y="198105"/>
                  <a:pt x="98182" y="198105"/>
                  <a:pt x="87020" y="186943"/>
                </a:cubicBezTo>
                <a:lnTo>
                  <a:pt x="22726" y="122649"/>
                </a:lnTo>
                <a:cubicBezTo>
                  <a:pt x="17368" y="117291"/>
                  <a:pt x="14377" y="110014"/>
                  <a:pt x="14377" y="102424"/>
                </a:cubicBezTo>
                <a:close/>
                <a:moveTo>
                  <a:pt x="78626" y="64294"/>
                </a:moveTo>
                <a:cubicBezTo>
                  <a:pt x="78626" y="56408"/>
                  <a:pt x="72224" y="50006"/>
                  <a:pt x="64338" y="50006"/>
                </a:cubicBezTo>
                <a:cubicBezTo>
                  <a:pt x="56453" y="50006"/>
                  <a:pt x="50051" y="56408"/>
                  <a:pt x="50051" y="64294"/>
                </a:cubicBezTo>
                <a:cubicBezTo>
                  <a:pt x="50051" y="72179"/>
                  <a:pt x="56453" y="78581"/>
                  <a:pt x="64338" y="78581"/>
                </a:cubicBezTo>
                <a:cubicBezTo>
                  <a:pt x="72224" y="78581"/>
                  <a:pt x="78626" y="72179"/>
                  <a:pt x="78626" y="6429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Text 20"/>
          <p:cNvSpPr/>
          <p:nvPr/>
        </p:nvSpPr>
        <p:spPr>
          <a:xfrm>
            <a:off x="7143750" y="17907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Distribution Pattern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143750" y="2133600"/>
            <a:ext cx="45148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majority of books fall under the </a:t>
            </a:r>
            <a:r>
              <a:rPr lang="en-US" sz="12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 price range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suggesting a balanced market positioning strategy across publishers.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194425" y="3298825"/>
            <a:ext cx="5616575" cy="1301750"/>
          </a:xfrm>
          <a:custGeom>
            <a:avLst/>
            <a:gdLst/>
            <a:ahLst/>
            <a:cxnLst/>
            <a:rect l="l" t="t" r="r" b="b"/>
            <a:pathLst>
              <a:path w="5616575" h="1301750">
                <a:moveTo>
                  <a:pt x="76204" y="0"/>
                </a:moveTo>
                <a:lnTo>
                  <a:pt x="5540371" y="0"/>
                </a:lnTo>
                <a:cubicBezTo>
                  <a:pt x="5582457" y="0"/>
                  <a:pt x="5616575" y="34118"/>
                  <a:pt x="5616575" y="76204"/>
                </a:cubicBezTo>
                <a:lnTo>
                  <a:pt x="5616575" y="1225546"/>
                </a:lnTo>
                <a:cubicBezTo>
                  <a:pt x="5616575" y="1267632"/>
                  <a:pt x="5582457" y="1301750"/>
                  <a:pt x="5540371" y="1301750"/>
                </a:cubicBezTo>
                <a:lnTo>
                  <a:pt x="76204" y="1301750"/>
                </a:lnTo>
                <a:cubicBezTo>
                  <a:pt x="34118" y="1301750"/>
                  <a:pt x="0" y="1267632"/>
                  <a:pt x="0" y="1225546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26200" y="3530601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78600" y="3683001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7" name="Text 25"/>
          <p:cNvSpPr/>
          <p:nvPr/>
        </p:nvSpPr>
        <p:spPr>
          <a:xfrm>
            <a:off x="7112000" y="3530601"/>
            <a:ext cx="4562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Price-Rating Independence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112000" y="3873501"/>
            <a:ext cx="45434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does not significantly influence ratings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indicating that customer satisfaction is driven by content quality rather than cost.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00050" y="5562600"/>
            <a:ext cx="11410950" cy="914400"/>
          </a:xfrm>
          <a:custGeom>
            <a:avLst/>
            <a:gdLst/>
            <a:ahLst/>
            <a:cxnLst/>
            <a:rect l="l" t="t" r="r" b="b"/>
            <a:pathLst>
              <a:path w="11410950" h="914400">
                <a:moveTo>
                  <a:pt x="0" y="0"/>
                </a:moveTo>
                <a:lnTo>
                  <a:pt x="11334753" y="0"/>
                </a:lnTo>
                <a:cubicBezTo>
                  <a:pt x="11376835" y="0"/>
                  <a:pt x="11410950" y="34115"/>
                  <a:pt x="11410950" y="76197"/>
                </a:cubicBezTo>
                <a:lnTo>
                  <a:pt x="11410950" y="838203"/>
                </a:lnTo>
                <a:cubicBezTo>
                  <a:pt x="11410950" y="880285"/>
                  <a:pt x="11376835" y="914400"/>
                  <a:pt x="11334753" y="914400"/>
                </a:cubicBez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0" name="Shape 28"/>
          <p:cNvSpPr/>
          <p:nvPr/>
        </p:nvSpPr>
        <p:spPr>
          <a:xfrm>
            <a:off x="400050" y="5562600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1" name="Shape 29"/>
          <p:cNvSpPr/>
          <p:nvPr/>
        </p:nvSpPr>
        <p:spPr>
          <a:xfrm>
            <a:off x="619125" y="59245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83344" y="59531"/>
                </a:moveTo>
                <a:cubicBezTo>
                  <a:pt x="83344" y="52960"/>
                  <a:pt x="88679" y="47625"/>
                  <a:pt x="95250" y="47625"/>
                </a:cubicBezTo>
                <a:cubicBezTo>
                  <a:pt x="101821" y="47625"/>
                  <a:pt x="107156" y="52960"/>
                  <a:pt x="107156" y="59531"/>
                </a:cubicBezTo>
                <a:cubicBezTo>
                  <a:pt x="107156" y="66102"/>
                  <a:pt x="101821" y="71438"/>
                  <a:pt x="95250" y="71438"/>
                </a:cubicBezTo>
                <a:cubicBezTo>
                  <a:pt x="88679" y="71438"/>
                  <a:pt x="83344" y="66102"/>
                  <a:pt x="83344" y="59531"/>
                </a:cubicBezTo>
                <a:close/>
                <a:moveTo>
                  <a:pt x="80367" y="83344"/>
                </a:moveTo>
                <a:lnTo>
                  <a:pt x="98227" y="83344"/>
                </a:lnTo>
                <a:cubicBezTo>
                  <a:pt x="103175" y="83344"/>
                  <a:pt x="107156" y="87325"/>
                  <a:pt x="107156" y="92273"/>
                </a:cubicBezTo>
                <a:lnTo>
                  <a:pt x="107156" y="125016"/>
                </a:lnTo>
                <a:lnTo>
                  <a:pt x="110133" y="125016"/>
                </a:lnTo>
                <a:cubicBezTo>
                  <a:pt x="115081" y="125016"/>
                  <a:pt x="119063" y="128997"/>
                  <a:pt x="119063" y="133945"/>
                </a:cubicBezTo>
                <a:cubicBezTo>
                  <a:pt x="119063" y="138894"/>
                  <a:pt x="115081" y="142875"/>
                  <a:pt x="110133" y="142875"/>
                </a:cubicBezTo>
                <a:lnTo>
                  <a:pt x="80367" y="142875"/>
                </a:lnTo>
                <a:cubicBezTo>
                  <a:pt x="75419" y="142875"/>
                  <a:pt x="71438" y="138894"/>
                  <a:pt x="71438" y="133945"/>
                </a:cubicBezTo>
                <a:cubicBezTo>
                  <a:pt x="71438" y="128997"/>
                  <a:pt x="75419" y="125016"/>
                  <a:pt x="80367" y="125016"/>
                </a:cubicBezTo>
                <a:lnTo>
                  <a:pt x="89297" y="125016"/>
                </a:lnTo>
                <a:lnTo>
                  <a:pt x="89297" y="101203"/>
                </a:lnTo>
                <a:lnTo>
                  <a:pt x="80367" y="101203"/>
                </a:lnTo>
                <a:cubicBezTo>
                  <a:pt x="75419" y="101203"/>
                  <a:pt x="71438" y="97222"/>
                  <a:pt x="71438" y="92273"/>
                </a:cubicBezTo>
                <a:cubicBezTo>
                  <a:pt x="71438" y="87325"/>
                  <a:pt x="75419" y="83344"/>
                  <a:pt x="80367" y="83344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30"/>
          <p:cNvSpPr/>
          <p:nvPr/>
        </p:nvSpPr>
        <p:spPr>
          <a:xfrm>
            <a:off x="933152" y="5753100"/>
            <a:ext cx="107727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Takeaway:</a:t>
            </a:r>
            <a:r>
              <a:rPr lang="en-US" sz="135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 satisfaction remains stable across all dimensions, suggesting that content quality and genre alignment matter more than pricing strategy.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296" y="376296"/>
            <a:ext cx="376296" cy="376296"/>
          </a:xfrm>
          <a:custGeom>
            <a:avLst/>
            <a:gdLst/>
            <a:ahLst/>
            <a:cxnLst/>
            <a:rect l="l" t="t" r="r" b="b"/>
            <a:pathLst>
              <a:path w="376296" h="376296">
                <a:moveTo>
                  <a:pt x="75259" y="0"/>
                </a:moveTo>
                <a:lnTo>
                  <a:pt x="301037" y="0"/>
                </a:lnTo>
                <a:cubicBezTo>
                  <a:pt x="342602" y="0"/>
                  <a:pt x="376296" y="33695"/>
                  <a:pt x="376296" y="75259"/>
                </a:cubicBezTo>
                <a:lnTo>
                  <a:pt x="376296" y="301037"/>
                </a:lnTo>
                <a:cubicBezTo>
                  <a:pt x="376296" y="342602"/>
                  <a:pt x="342602" y="376296"/>
                  <a:pt x="301037" y="376296"/>
                </a:cubicBezTo>
                <a:lnTo>
                  <a:pt x="75259" y="376296"/>
                </a:lnTo>
                <a:cubicBezTo>
                  <a:pt x="33695" y="376296"/>
                  <a:pt x="0" y="342602"/>
                  <a:pt x="0" y="301037"/>
                </a:cubicBezTo>
                <a:lnTo>
                  <a:pt x="0" y="75259"/>
                </a:lnTo>
                <a:cubicBezTo>
                  <a:pt x="0" y="33695"/>
                  <a:pt x="33695" y="0"/>
                  <a:pt x="75259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2130" y="479778"/>
            <a:ext cx="169333" cy="169333"/>
          </a:xfrm>
          <a:custGeom>
            <a:avLst/>
            <a:gdLst/>
            <a:ahLst/>
            <a:cxnLst/>
            <a:rect l="l" t="t" r="r" b="b"/>
            <a:pathLst>
              <a:path w="169333" h="169333">
                <a:moveTo>
                  <a:pt x="21167" y="10583"/>
                </a:moveTo>
                <a:cubicBezTo>
                  <a:pt x="9492" y="10583"/>
                  <a:pt x="0" y="20075"/>
                  <a:pt x="0" y="31750"/>
                </a:cubicBezTo>
                <a:lnTo>
                  <a:pt x="0" y="116417"/>
                </a:lnTo>
                <a:cubicBezTo>
                  <a:pt x="0" y="128091"/>
                  <a:pt x="9492" y="137583"/>
                  <a:pt x="21167" y="137583"/>
                </a:cubicBezTo>
                <a:lnTo>
                  <a:pt x="68792" y="137583"/>
                </a:lnTo>
                <a:lnTo>
                  <a:pt x="63500" y="153458"/>
                </a:lnTo>
                <a:lnTo>
                  <a:pt x="39688" y="153458"/>
                </a:lnTo>
                <a:cubicBezTo>
                  <a:pt x="35289" y="153458"/>
                  <a:pt x="31750" y="156997"/>
                  <a:pt x="31750" y="161396"/>
                </a:cubicBezTo>
                <a:cubicBezTo>
                  <a:pt x="31750" y="165795"/>
                  <a:pt x="35289" y="169333"/>
                  <a:pt x="39688" y="169333"/>
                </a:cubicBezTo>
                <a:lnTo>
                  <a:pt x="129646" y="169333"/>
                </a:lnTo>
                <a:cubicBezTo>
                  <a:pt x="134045" y="169333"/>
                  <a:pt x="137583" y="165795"/>
                  <a:pt x="137583" y="161396"/>
                </a:cubicBezTo>
                <a:cubicBezTo>
                  <a:pt x="137583" y="156997"/>
                  <a:pt x="134045" y="153458"/>
                  <a:pt x="129646" y="153458"/>
                </a:cubicBezTo>
                <a:lnTo>
                  <a:pt x="105833" y="153458"/>
                </a:lnTo>
                <a:lnTo>
                  <a:pt x="100542" y="137583"/>
                </a:lnTo>
                <a:lnTo>
                  <a:pt x="148167" y="137583"/>
                </a:lnTo>
                <a:cubicBezTo>
                  <a:pt x="159841" y="137583"/>
                  <a:pt x="169333" y="128091"/>
                  <a:pt x="169333" y="116417"/>
                </a:cubicBezTo>
                <a:lnTo>
                  <a:pt x="169333" y="31750"/>
                </a:lnTo>
                <a:cubicBezTo>
                  <a:pt x="169333" y="20075"/>
                  <a:pt x="159841" y="10583"/>
                  <a:pt x="148167" y="10583"/>
                </a:cubicBezTo>
                <a:lnTo>
                  <a:pt x="21167" y="10583"/>
                </a:lnTo>
                <a:close/>
                <a:moveTo>
                  <a:pt x="31750" y="31750"/>
                </a:moveTo>
                <a:lnTo>
                  <a:pt x="137583" y="31750"/>
                </a:lnTo>
                <a:cubicBezTo>
                  <a:pt x="143437" y="31750"/>
                  <a:pt x="148167" y="36479"/>
                  <a:pt x="148167" y="42333"/>
                </a:cubicBezTo>
                <a:lnTo>
                  <a:pt x="148167" y="95250"/>
                </a:lnTo>
                <a:cubicBezTo>
                  <a:pt x="148167" y="101104"/>
                  <a:pt x="143437" y="105833"/>
                  <a:pt x="137583" y="105833"/>
                </a:cubicBezTo>
                <a:lnTo>
                  <a:pt x="31750" y="105833"/>
                </a:lnTo>
                <a:cubicBezTo>
                  <a:pt x="25896" y="105833"/>
                  <a:pt x="21167" y="101104"/>
                  <a:pt x="21167" y="95250"/>
                </a:cubicBezTo>
                <a:lnTo>
                  <a:pt x="21167" y="42333"/>
                </a:lnTo>
                <a:cubicBezTo>
                  <a:pt x="21167" y="36479"/>
                  <a:pt x="25896" y="31750"/>
                  <a:pt x="31750" y="317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865481" y="470370"/>
            <a:ext cx="1204148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b="1" kern="0" spc="104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6296" y="865481"/>
            <a:ext cx="11665185" cy="4515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6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Dashboard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79432" y="1508321"/>
            <a:ext cx="6751383" cy="5152124"/>
          </a:xfrm>
          <a:custGeom>
            <a:avLst/>
            <a:gdLst/>
            <a:ahLst/>
            <a:cxnLst/>
            <a:rect l="l" t="t" r="r" b="b"/>
            <a:pathLst>
              <a:path w="6751383" h="5340272">
                <a:moveTo>
                  <a:pt x="75244" y="0"/>
                </a:moveTo>
                <a:lnTo>
                  <a:pt x="6676138" y="0"/>
                </a:lnTo>
                <a:cubicBezTo>
                  <a:pt x="6717695" y="0"/>
                  <a:pt x="6751383" y="33688"/>
                  <a:pt x="6751383" y="75244"/>
                </a:cubicBezTo>
                <a:lnTo>
                  <a:pt x="6751383" y="5265027"/>
                </a:lnTo>
                <a:cubicBezTo>
                  <a:pt x="6751383" y="5306584"/>
                  <a:pt x="6717695" y="5340272"/>
                  <a:pt x="6676138" y="5340272"/>
                </a:cubicBezTo>
                <a:lnTo>
                  <a:pt x="75244" y="5340272"/>
                </a:lnTo>
                <a:cubicBezTo>
                  <a:pt x="33688" y="5340272"/>
                  <a:pt x="0" y="5306584"/>
                  <a:pt x="0" y="5265027"/>
                </a:cubicBezTo>
                <a:lnTo>
                  <a:pt x="0" y="75244"/>
                </a:lnTo>
                <a:cubicBezTo>
                  <a:pt x="0" y="33716"/>
                  <a:pt x="33716" y="0"/>
                  <a:pt x="75244" y="0"/>
                </a:cubicBezTo>
                <a:close/>
              </a:path>
            </a:pathLst>
          </a:custGeom>
          <a:solidFill>
            <a:srgbClr val="1A1D21"/>
          </a:solidFill>
          <a:ln w="8467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23373" y="1508321"/>
            <a:ext cx="4493605" cy="3693975"/>
          </a:xfrm>
          <a:custGeom>
            <a:avLst/>
            <a:gdLst/>
            <a:ahLst/>
            <a:cxnLst/>
            <a:rect l="l" t="t" r="r" b="b"/>
            <a:pathLst>
              <a:path w="4493605" h="3693975">
                <a:moveTo>
                  <a:pt x="75246" y="0"/>
                </a:moveTo>
                <a:lnTo>
                  <a:pt x="4418359" y="0"/>
                </a:lnTo>
                <a:cubicBezTo>
                  <a:pt x="4459916" y="0"/>
                  <a:pt x="4493605" y="33689"/>
                  <a:pt x="4493605" y="75246"/>
                </a:cubicBezTo>
                <a:lnTo>
                  <a:pt x="4493605" y="3618729"/>
                </a:lnTo>
                <a:cubicBezTo>
                  <a:pt x="4493605" y="3660286"/>
                  <a:pt x="4459916" y="3693975"/>
                  <a:pt x="4418359" y="3693975"/>
                </a:cubicBezTo>
                <a:lnTo>
                  <a:pt x="75246" y="3693975"/>
                </a:lnTo>
                <a:cubicBezTo>
                  <a:pt x="33689" y="3693975"/>
                  <a:pt x="0" y="3660286"/>
                  <a:pt x="0" y="3618729"/>
                </a:cubicBezTo>
                <a:lnTo>
                  <a:pt x="0" y="75246"/>
                </a:lnTo>
                <a:cubicBezTo>
                  <a:pt x="0" y="33717"/>
                  <a:pt x="33717" y="0"/>
                  <a:pt x="75246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549935" y="1737235"/>
            <a:ext cx="164630" cy="188148"/>
          </a:xfrm>
          <a:custGeom>
            <a:avLst/>
            <a:gdLst/>
            <a:ahLst/>
            <a:cxnLst/>
            <a:rect l="l" t="t" r="r" b="b"/>
            <a:pathLst>
              <a:path w="164630" h="188148">
                <a:moveTo>
                  <a:pt x="141111" y="35278"/>
                </a:moveTo>
                <a:lnTo>
                  <a:pt x="94074" y="35278"/>
                </a:lnTo>
                <a:lnTo>
                  <a:pt x="94074" y="82315"/>
                </a:lnTo>
                <a:lnTo>
                  <a:pt x="141111" y="82315"/>
                </a:lnTo>
                <a:lnTo>
                  <a:pt x="141111" y="35278"/>
                </a:lnTo>
                <a:close/>
                <a:moveTo>
                  <a:pt x="164630" y="82315"/>
                </a:moveTo>
                <a:lnTo>
                  <a:pt x="164630" y="152870"/>
                </a:lnTo>
                <a:cubicBezTo>
                  <a:pt x="164630" y="165842"/>
                  <a:pt x="154083" y="176389"/>
                  <a:pt x="141111" y="176389"/>
                </a:cubicBezTo>
                <a:lnTo>
                  <a:pt x="23519" y="176389"/>
                </a:lnTo>
                <a:cubicBezTo>
                  <a:pt x="10547" y="176389"/>
                  <a:pt x="0" y="165842"/>
                  <a:pt x="0" y="152870"/>
                </a:cubicBezTo>
                <a:lnTo>
                  <a:pt x="0" y="35278"/>
                </a:lnTo>
                <a:cubicBezTo>
                  <a:pt x="0" y="22306"/>
                  <a:pt x="10547" y="11759"/>
                  <a:pt x="23519" y="11759"/>
                </a:cubicBezTo>
                <a:lnTo>
                  <a:pt x="141111" y="11759"/>
                </a:lnTo>
                <a:cubicBezTo>
                  <a:pt x="154083" y="11759"/>
                  <a:pt x="164630" y="22306"/>
                  <a:pt x="164630" y="35278"/>
                </a:cubicBezTo>
                <a:lnTo>
                  <a:pt x="164630" y="82315"/>
                </a:lnTo>
                <a:close/>
                <a:moveTo>
                  <a:pt x="23519" y="105833"/>
                </a:moveTo>
                <a:lnTo>
                  <a:pt x="23519" y="152870"/>
                </a:lnTo>
                <a:lnTo>
                  <a:pt x="70556" y="152870"/>
                </a:lnTo>
                <a:lnTo>
                  <a:pt x="70556" y="105833"/>
                </a:lnTo>
                <a:lnTo>
                  <a:pt x="23519" y="105833"/>
                </a:lnTo>
                <a:close/>
                <a:moveTo>
                  <a:pt x="70556" y="82315"/>
                </a:moveTo>
                <a:lnTo>
                  <a:pt x="70556" y="35278"/>
                </a:lnTo>
                <a:lnTo>
                  <a:pt x="23519" y="35278"/>
                </a:lnTo>
                <a:lnTo>
                  <a:pt x="23519" y="82315"/>
                </a:lnTo>
                <a:lnTo>
                  <a:pt x="70556" y="82315"/>
                </a:lnTo>
                <a:close/>
                <a:moveTo>
                  <a:pt x="94074" y="105833"/>
                </a:moveTo>
                <a:lnTo>
                  <a:pt x="94074" y="152870"/>
                </a:lnTo>
                <a:lnTo>
                  <a:pt x="141111" y="152870"/>
                </a:lnTo>
                <a:lnTo>
                  <a:pt x="141111" y="105833"/>
                </a:lnTo>
                <a:lnTo>
                  <a:pt x="94074" y="10583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Text 7"/>
          <p:cNvSpPr/>
          <p:nvPr/>
        </p:nvSpPr>
        <p:spPr>
          <a:xfrm>
            <a:off x="7862731" y="1699606"/>
            <a:ext cx="2107259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Components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514657" y="2113532"/>
            <a:ext cx="4111037" cy="639704"/>
          </a:xfrm>
          <a:custGeom>
            <a:avLst/>
            <a:gdLst/>
            <a:ahLst/>
            <a:cxnLst/>
            <a:rect l="l" t="t" r="r" b="b"/>
            <a:pathLst>
              <a:path w="4111037" h="639704">
                <a:moveTo>
                  <a:pt x="37627" y="0"/>
                </a:moveTo>
                <a:lnTo>
                  <a:pt x="4073410" y="0"/>
                </a:lnTo>
                <a:cubicBezTo>
                  <a:pt x="4094191" y="0"/>
                  <a:pt x="4111037" y="16846"/>
                  <a:pt x="4111037" y="37627"/>
                </a:cubicBezTo>
                <a:lnTo>
                  <a:pt x="4111037" y="602076"/>
                </a:lnTo>
                <a:cubicBezTo>
                  <a:pt x="4111037" y="622857"/>
                  <a:pt x="4094191" y="639704"/>
                  <a:pt x="4073410" y="639704"/>
                </a:cubicBezTo>
                <a:lnTo>
                  <a:pt x="37627" y="639704"/>
                </a:lnTo>
                <a:cubicBezTo>
                  <a:pt x="16846" y="639704"/>
                  <a:pt x="0" y="622857"/>
                  <a:pt x="0" y="602076"/>
                </a:cubicBezTo>
                <a:lnTo>
                  <a:pt x="0" y="37627"/>
                </a:lnTo>
                <a:cubicBezTo>
                  <a:pt x="0" y="16860"/>
                  <a:pt x="16860" y="0"/>
                  <a:pt x="376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7646361" y="2264052"/>
            <a:ext cx="150519" cy="150519"/>
          </a:xfrm>
          <a:custGeom>
            <a:avLst/>
            <a:gdLst/>
            <a:ahLst/>
            <a:cxnLst/>
            <a:rect l="l" t="t" r="r" b="b"/>
            <a:pathLst>
              <a:path w="150519" h="150519">
                <a:moveTo>
                  <a:pt x="0" y="75259"/>
                </a:moveTo>
                <a:cubicBezTo>
                  <a:pt x="0" y="33723"/>
                  <a:pt x="33723" y="0"/>
                  <a:pt x="75259" y="0"/>
                </a:cubicBezTo>
                <a:cubicBezTo>
                  <a:pt x="116796" y="0"/>
                  <a:pt x="150519" y="33723"/>
                  <a:pt x="150519" y="75259"/>
                </a:cubicBezTo>
                <a:cubicBezTo>
                  <a:pt x="150519" y="116796"/>
                  <a:pt x="116796" y="150519"/>
                  <a:pt x="75259" y="150519"/>
                </a:cubicBezTo>
                <a:cubicBezTo>
                  <a:pt x="33723" y="150519"/>
                  <a:pt x="0" y="116796"/>
                  <a:pt x="0" y="75259"/>
                </a:cubicBezTo>
                <a:close/>
                <a:moveTo>
                  <a:pt x="84667" y="28222"/>
                </a:moveTo>
                <a:cubicBezTo>
                  <a:pt x="84667" y="23030"/>
                  <a:pt x="80451" y="18815"/>
                  <a:pt x="75259" y="18815"/>
                </a:cubicBezTo>
                <a:cubicBezTo>
                  <a:pt x="70067" y="18815"/>
                  <a:pt x="65852" y="23030"/>
                  <a:pt x="65852" y="28222"/>
                </a:cubicBezTo>
                <a:cubicBezTo>
                  <a:pt x="65852" y="33414"/>
                  <a:pt x="70067" y="37630"/>
                  <a:pt x="75259" y="37630"/>
                </a:cubicBezTo>
                <a:cubicBezTo>
                  <a:pt x="80451" y="37630"/>
                  <a:pt x="84667" y="33414"/>
                  <a:pt x="84667" y="28222"/>
                </a:cubicBezTo>
                <a:close/>
                <a:moveTo>
                  <a:pt x="75259" y="122296"/>
                </a:moveTo>
                <a:cubicBezTo>
                  <a:pt x="85637" y="122296"/>
                  <a:pt x="94074" y="113859"/>
                  <a:pt x="94074" y="103481"/>
                </a:cubicBezTo>
                <a:cubicBezTo>
                  <a:pt x="94074" y="98719"/>
                  <a:pt x="92310" y="94339"/>
                  <a:pt x="89370" y="91046"/>
                </a:cubicBezTo>
                <a:lnTo>
                  <a:pt x="109802" y="50212"/>
                </a:lnTo>
                <a:cubicBezTo>
                  <a:pt x="111537" y="46714"/>
                  <a:pt x="110125" y="42480"/>
                  <a:pt x="106656" y="40746"/>
                </a:cubicBezTo>
                <a:cubicBezTo>
                  <a:pt x="103187" y="39011"/>
                  <a:pt x="98925" y="40422"/>
                  <a:pt x="97190" y="43891"/>
                </a:cubicBezTo>
                <a:lnTo>
                  <a:pt x="76759" y="84725"/>
                </a:lnTo>
                <a:cubicBezTo>
                  <a:pt x="76259" y="84696"/>
                  <a:pt x="75759" y="84667"/>
                  <a:pt x="75259" y="84667"/>
                </a:cubicBezTo>
                <a:cubicBezTo>
                  <a:pt x="64882" y="84667"/>
                  <a:pt x="56444" y="93104"/>
                  <a:pt x="56444" y="103481"/>
                </a:cubicBezTo>
                <a:cubicBezTo>
                  <a:pt x="56444" y="113859"/>
                  <a:pt x="64882" y="122296"/>
                  <a:pt x="75259" y="122296"/>
                </a:cubicBezTo>
                <a:close/>
                <a:moveTo>
                  <a:pt x="51741" y="42333"/>
                </a:moveTo>
                <a:cubicBezTo>
                  <a:pt x="51741" y="37141"/>
                  <a:pt x="47525" y="32926"/>
                  <a:pt x="42333" y="32926"/>
                </a:cubicBezTo>
                <a:cubicBezTo>
                  <a:pt x="37141" y="32926"/>
                  <a:pt x="32926" y="37141"/>
                  <a:pt x="32926" y="42333"/>
                </a:cubicBezTo>
                <a:cubicBezTo>
                  <a:pt x="32926" y="47525"/>
                  <a:pt x="37141" y="51741"/>
                  <a:pt x="42333" y="51741"/>
                </a:cubicBezTo>
                <a:cubicBezTo>
                  <a:pt x="47525" y="51741"/>
                  <a:pt x="51741" y="47525"/>
                  <a:pt x="51741" y="42333"/>
                </a:cubicBezTo>
                <a:close/>
                <a:moveTo>
                  <a:pt x="28222" y="84667"/>
                </a:moveTo>
                <a:cubicBezTo>
                  <a:pt x="33414" y="84667"/>
                  <a:pt x="37630" y="80451"/>
                  <a:pt x="37630" y="75259"/>
                </a:cubicBezTo>
                <a:cubicBezTo>
                  <a:pt x="37630" y="70067"/>
                  <a:pt x="33414" y="65852"/>
                  <a:pt x="28222" y="65852"/>
                </a:cubicBezTo>
                <a:cubicBezTo>
                  <a:pt x="23030" y="65852"/>
                  <a:pt x="18815" y="70067"/>
                  <a:pt x="18815" y="75259"/>
                </a:cubicBezTo>
                <a:cubicBezTo>
                  <a:pt x="18815" y="80451"/>
                  <a:pt x="23030" y="84667"/>
                  <a:pt x="28222" y="84667"/>
                </a:cubicBezTo>
                <a:close/>
                <a:moveTo>
                  <a:pt x="131704" y="75259"/>
                </a:moveTo>
                <a:cubicBezTo>
                  <a:pt x="131704" y="70067"/>
                  <a:pt x="127488" y="65852"/>
                  <a:pt x="122296" y="65852"/>
                </a:cubicBezTo>
                <a:cubicBezTo>
                  <a:pt x="117104" y="65852"/>
                  <a:pt x="112889" y="70067"/>
                  <a:pt x="112889" y="75259"/>
                </a:cubicBezTo>
                <a:cubicBezTo>
                  <a:pt x="112889" y="80451"/>
                  <a:pt x="117104" y="84667"/>
                  <a:pt x="122296" y="84667"/>
                </a:cubicBezTo>
                <a:cubicBezTo>
                  <a:pt x="127488" y="84667"/>
                  <a:pt x="131704" y="80451"/>
                  <a:pt x="131704" y="7525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3" name="Text 10"/>
          <p:cNvSpPr/>
          <p:nvPr/>
        </p:nvSpPr>
        <p:spPr>
          <a:xfrm>
            <a:off x="7928583" y="2226423"/>
            <a:ext cx="254940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 Tracking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928583" y="2452201"/>
            <a:ext cx="2540000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Books, Reviews, Rating, Price metrics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7514657" y="2866127"/>
            <a:ext cx="4111037" cy="639704"/>
          </a:xfrm>
          <a:custGeom>
            <a:avLst/>
            <a:gdLst/>
            <a:ahLst/>
            <a:cxnLst/>
            <a:rect l="l" t="t" r="r" b="b"/>
            <a:pathLst>
              <a:path w="4111037" h="639704">
                <a:moveTo>
                  <a:pt x="37627" y="0"/>
                </a:moveTo>
                <a:lnTo>
                  <a:pt x="4073410" y="0"/>
                </a:lnTo>
                <a:cubicBezTo>
                  <a:pt x="4094191" y="0"/>
                  <a:pt x="4111037" y="16846"/>
                  <a:pt x="4111037" y="37627"/>
                </a:cubicBezTo>
                <a:lnTo>
                  <a:pt x="4111037" y="602076"/>
                </a:lnTo>
                <a:cubicBezTo>
                  <a:pt x="4111037" y="622857"/>
                  <a:pt x="4094191" y="639704"/>
                  <a:pt x="4073410" y="639704"/>
                </a:cubicBezTo>
                <a:lnTo>
                  <a:pt x="37627" y="639704"/>
                </a:lnTo>
                <a:cubicBezTo>
                  <a:pt x="16846" y="639704"/>
                  <a:pt x="0" y="622857"/>
                  <a:pt x="0" y="602076"/>
                </a:cubicBezTo>
                <a:lnTo>
                  <a:pt x="0" y="37627"/>
                </a:lnTo>
                <a:cubicBezTo>
                  <a:pt x="0" y="16860"/>
                  <a:pt x="16860" y="0"/>
                  <a:pt x="376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636953" y="3016645"/>
            <a:ext cx="169333" cy="150519"/>
          </a:xfrm>
          <a:custGeom>
            <a:avLst/>
            <a:gdLst/>
            <a:ahLst/>
            <a:cxnLst/>
            <a:rect l="l" t="t" r="r" b="b"/>
            <a:pathLst>
              <a:path w="169333" h="150519">
                <a:moveTo>
                  <a:pt x="-1470" y="34690"/>
                </a:moveTo>
                <a:lnTo>
                  <a:pt x="6909" y="82227"/>
                </a:lnTo>
                <a:cubicBezTo>
                  <a:pt x="11024" y="105598"/>
                  <a:pt x="29339" y="123913"/>
                  <a:pt x="52711" y="128029"/>
                </a:cubicBezTo>
                <a:lnTo>
                  <a:pt x="56444" y="128676"/>
                </a:lnTo>
                <a:cubicBezTo>
                  <a:pt x="51594" y="120268"/>
                  <a:pt x="48478" y="110831"/>
                  <a:pt x="47449" y="100894"/>
                </a:cubicBezTo>
                <a:lnTo>
                  <a:pt x="40364" y="102159"/>
                </a:lnTo>
                <a:cubicBezTo>
                  <a:pt x="37512" y="102658"/>
                  <a:pt x="34837" y="100453"/>
                  <a:pt x="35395" y="97602"/>
                </a:cubicBezTo>
                <a:cubicBezTo>
                  <a:pt x="36806" y="90341"/>
                  <a:pt x="41010" y="83902"/>
                  <a:pt x="47066" y="79698"/>
                </a:cubicBezTo>
                <a:lnTo>
                  <a:pt x="47066" y="57767"/>
                </a:lnTo>
                <a:cubicBezTo>
                  <a:pt x="46655" y="58003"/>
                  <a:pt x="46184" y="58150"/>
                  <a:pt x="45685" y="58238"/>
                </a:cubicBezTo>
                <a:lnTo>
                  <a:pt x="27164" y="61501"/>
                </a:lnTo>
                <a:cubicBezTo>
                  <a:pt x="24606" y="61942"/>
                  <a:pt x="22078" y="60207"/>
                  <a:pt x="22490" y="57650"/>
                </a:cubicBezTo>
                <a:cubicBezTo>
                  <a:pt x="23401" y="51888"/>
                  <a:pt x="27899" y="47066"/>
                  <a:pt x="33984" y="45979"/>
                </a:cubicBezTo>
                <a:cubicBezTo>
                  <a:pt x="39041" y="45097"/>
                  <a:pt x="43950" y="47008"/>
                  <a:pt x="47096" y="50624"/>
                </a:cubicBezTo>
                <a:lnTo>
                  <a:pt x="47096" y="43950"/>
                </a:lnTo>
                <a:cubicBezTo>
                  <a:pt x="47096" y="37336"/>
                  <a:pt x="49124" y="28546"/>
                  <a:pt x="56591" y="22372"/>
                </a:cubicBezTo>
                <a:cubicBezTo>
                  <a:pt x="64235" y="16051"/>
                  <a:pt x="76494" y="9466"/>
                  <a:pt x="93310" y="6438"/>
                </a:cubicBezTo>
                <a:cubicBezTo>
                  <a:pt x="84343" y="1646"/>
                  <a:pt x="67939" y="-2969"/>
                  <a:pt x="45156" y="1029"/>
                </a:cubicBezTo>
                <a:cubicBezTo>
                  <a:pt x="21549" y="5203"/>
                  <a:pt x="7526" y="15757"/>
                  <a:pt x="1029" y="23401"/>
                </a:cubicBezTo>
                <a:cubicBezTo>
                  <a:pt x="-1617" y="26488"/>
                  <a:pt x="-2146" y="30721"/>
                  <a:pt x="-1441" y="34719"/>
                </a:cubicBezTo>
                <a:close/>
                <a:moveTo>
                  <a:pt x="61148" y="40775"/>
                </a:moveTo>
                <a:lnTo>
                  <a:pt x="61148" y="92163"/>
                </a:lnTo>
                <a:cubicBezTo>
                  <a:pt x="61148" y="115888"/>
                  <a:pt x="75994" y="137113"/>
                  <a:pt x="98307" y="145197"/>
                </a:cubicBezTo>
                <a:lnTo>
                  <a:pt x="106451" y="148167"/>
                </a:lnTo>
                <a:cubicBezTo>
                  <a:pt x="110596" y="149666"/>
                  <a:pt x="115153" y="149666"/>
                  <a:pt x="119298" y="148167"/>
                </a:cubicBezTo>
                <a:lnTo>
                  <a:pt x="127470" y="145227"/>
                </a:lnTo>
                <a:cubicBezTo>
                  <a:pt x="149784" y="137113"/>
                  <a:pt x="164630" y="115917"/>
                  <a:pt x="164630" y="92163"/>
                </a:cubicBezTo>
                <a:lnTo>
                  <a:pt x="164630" y="40775"/>
                </a:lnTo>
                <a:cubicBezTo>
                  <a:pt x="164630" y="38747"/>
                  <a:pt x="164012" y="36718"/>
                  <a:pt x="162572" y="35307"/>
                </a:cubicBezTo>
                <a:cubicBezTo>
                  <a:pt x="155928" y="28693"/>
                  <a:pt x="139582" y="18844"/>
                  <a:pt x="112889" y="18844"/>
                </a:cubicBezTo>
                <a:cubicBezTo>
                  <a:pt x="86195" y="18844"/>
                  <a:pt x="69850" y="28722"/>
                  <a:pt x="63206" y="35307"/>
                </a:cubicBezTo>
                <a:cubicBezTo>
                  <a:pt x="61766" y="36748"/>
                  <a:pt x="61148" y="38747"/>
                  <a:pt x="61148" y="40775"/>
                </a:cubicBezTo>
                <a:close/>
                <a:moveTo>
                  <a:pt x="80580" y="95779"/>
                </a:moveTo>
                <a:cubicBezTo>
                  <a:pt x="80169" y="93721"/>
                  <a:pt x="82638" y="92545"/>
                  <a:pt x="84314" y="93839"/>
                </a:cubicBezTo>
                <a:cubicBezTo>
                  <a:pt x="92222" y="99895"/>
                  <a:pt x="102129" y="103511"/>
                  <a:pt x="112889" y="103511"/>
                </a:cubicBezTo>
                <a:cubicBezTo>
                  <a:pt x="123649" y="103511"/>
                  <a:pt x="133526" y="99895"/>
                  <a:pt x="141464" y="93839"/>
                </a:cubicBezTo>
                <a:cubicBezTo>
                  <a:pt x="143140" y="92545"/>
                  <a:pt x="145609" y="93721"/>
                  <a:pt x="145197" y="95779"/>
                </a:cubicBezTo>
                <a:cubicBezTo>
                  <a:pt x="142228" y="110890"/>
                  <a:pt x="128881" y="122326"/>
                  <a:pt x="112889" y="122326"/>
                </a:cubicBezTo>
                <a:cubicBezTo>
                  <a:pt x="96896" y="122326"/>
                  <a:pt x="83550" y="110919"/>
                  <a:pt x="80580" y="95779"/>
                </a:cubicBezTo>
                <a:close/>
                <a:moveTo>
                  <a:pt x="80727" y="65940"/>
                </a:moveTo>
                <a:cubicBezTo>
                  <a:pt x="82668" y="60413"/>
                  <a:pt x="87900" y="56444"/>
                  <a:pt x="94074" y="56444"/>
                </a:cubicBezTo>
                <a:cubicBezTo>
                  <a:pt x="100248" y="56444"/>
                  <a:pt x="105510" y="60413"/>
                  <a:pt x="107421" y="65940"/>
                </a:cubicBezTo>
                <a:cubicBezTo>
                  <a:pt x="108273" y="68409"/>
                  <a:pt x="106098" y="70556"/>
                  <a:pt x="103481" y="70556"/>
                </a:cubicBezTo>
                <a:lnTo>
                  <a:pt x="84667" y="70556"/>
                </a:lnTo>
                <a:cubicBezTo>
                  <a:pt x="82080" y="70556"/>
                  <a:pt x="79875" y="68380"/>
                  <a:pt x="80727" y="65940"/>
                </a:cubicBezTo>
                <a:close/>
                <a:moveTo>
                  <a:pt x="141111" y="70556"/>
                </a:moveTo>
                <a:lnTo>
                  <a:pt x="122296" y="70556"/>
                </a:lnTo>
                <a:cubicBezTo>
                  <a:pt x="119709" y="70556"/>
                  <a:pt x="117504" y="68380"/>
                  <a:pt x="118357" y="65940"/>
                </a:cubicBezTo>
                <a:cubicBezTo>
                  <a:pt x="120268" y="60413"/>
                  <a:pt x="125530" y="56444"/>
                  <a:pt x="131704" y="56444"/>
                </a:cubicBezTo>
                <a:cubicBezTo>
                  <a:pt x="137877" y="56444"/>
                  <a:pt x="143140" y="60413"/>
                  <a:pt x="145050" y="65940"/>
                </a:cubicBezTo>
                <a:cubicBezTo>
                  <a:pt x="145903" y="68409"/>
                  <a:pt x="143728" y="70556"/>
                  <a:pt x="141111" y="7055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Text 14"/>
          <p:cNvSpPr/>
          <p:nvPr/>
        </p:nvSpPr>
        <p:spPr>
          <a:xfrm>
            <a:off x="7928583" y="2979015"/>
            <a:ext cx="2210741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 Analysis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928583" y="3204793"/>
            <a:ext cx="2201333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breakdown by category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14657" y="3618719"/>
            <a:ext cx="4111037" cy="639704"/>
          </a:xfrm>
          <a:custGeom>
            <a:avLst/>
            <a:gdLst/>
            <a:ahLst/>
            <a:cxnLst/>
            <a:rect l="l" t="t" r="r" b="b"/>
            <a:pathLst>
              <a:path w="4111037" h="639704">
                <a:moveTo>
                  <a:pt x="37627" y="0"/>
                </a:moveTo>
                <a:lnTo>
                  <a:pt x="4073410" y="0"/>
                </a:lnTo>
                <a:cubicBezTo>
                  <a:pt x="4094191" y="0"/>
                  <a:pt x="4111037" y="16846"/>
                  <a:pt x="4111037" y="37627"/>
                </a:cubicBezTo>
                <a:lnTo>
                  <a:pt x="4111037" y="602076"/>
                </a:lnTo>
                <a:cubicBezTo>
                  <a:pt x="4111037" y="622857"/>
                  <a:pt x="4094191" y="639704"/>
                  <a:pt x="4073410" y="639704"/>
                </a:cubicBezTo>
                <a:lnTo>
                  <a:pt x="37627" y="639704"/>
                </a:lnTo>
                <a:cubicBezTo>
                  <a:pt x="16846" y="639704"/>
                  <a:pt x="0" y="622857"/>
                  <a:pt x="0" y="602076"/>
                </a:cubicBezTo>
                <a:lnTo>
                  <a:pt x="0" y="37627"/>
                </a:lnTo>
                <a:cubicBezTo>
                  <a:pt x="0" y="16860"/>
                  <a:pt x="16860" y="0"/>
                  <a:pt x="376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7646361" y="3769238"/>
            <a:ext cx="150519" cy="150519"/>
          </a:xfrm>
          <a:custGeom>
            <a:avLst/>
            <a:gdLst/>
            <a:ahLst/>
            <a:cxnLst/>
            <a:rect l="l" t="t" r="r" b="b"/>
            <a:pathLst>
              <a:path w="150519" h="150519">
                <a:moveTo>
                  <a:pt x="19373" y="67175"/>
                </a:moveTo>
                <a:cubicBezTo>
                  <a:pt x="23283" y="39834"/>
                  <a:pt x="46831" y="18815"/>
                  <a:pt x="75259" y="18815"/>
                </a:cubicBezTo>
                <a:cubicBezTo>
                  <a:pt x="90840" y="18815"/>
                  <a:pt x="104951" y="25135"/>
                  <a:pt x="115182" y="35337"/>
                </a:cubicBezTo>
                <a:cubicBezTo>
                  <a:pt x="115241" y="35395"/>
                  <a:pt x="115300" y="35454"/>
                  <a:pt x="115358" y="35513"/>
                </a:cubicBezTo>
                <a:lnTo>
                  <a:pt x="117593" y="37630"/>
                </a:lnTo>
                <a:lnTo>
                  <a:pt x="103511" y="37630"/>
                </a:lnTo>
                <a:cubicBezTo>
                  <a:pt x="98307" y="37630"/>
                  <a:pt x="94103" y="41834"/>
                  <a:pt x="94103" y="47037"/>
                </a:cubicBezTo>
                <a:cubicBezTo>
                  <a:pt x="94103" y="52241"/>
                  <a:pt x="98307" y="56444"/>
                  <a:pt x="103511" y="56444"/>
                </a:cubicBezTo>
                <a:lnTo>
                  <a:pt x="141141" y="56444"/>
                </a:lnTo>
                <a:cubicBezTo>
                  <a:pt x="146344" y="56444"/>
                  <a:pt x="150548" y="52241"/>
                  <a:pt x="150548" y="47037"/>
                </a:cubicBezTo>
                <a:lnTo>
                  <a:pt x="150548" y="9407"/>
                </a:lnTo>
                <a:cubicBezTo>
                  <a:pt x="150548" y="4204"/>
                  <a:pt x="146344" y="0"/>
                  <a:pt x="141141" y="0"/>
                </a:cubicBezTo>
                <a:cubicBezTo>
                  <a:pt x="135937" y="0"/>
                  <a:pt x="131733" y="4204"/>
                  <a:pt x="131733" y="9407"/>
                </a:cubicBezTo>
                <a:lnTo>
                  <a:pt x="131733" y="25106"/>
                </a:lnTo>
                <a:lnTo>
                  <a:pt x="128411" y="21960"/>
                </a:lnTo>
                <a:cubicBezTo>
                  <a:pt x="114800" y="8408"/>
                  <a:pt x="95985" y="0"/>
                  <a:pt x="75259" y="0"/>
                </a:cubicBezTo>
                <a:cubicBezTo>
                  <a:pt x="37336" y="0"/>
                  <a:pt x="5968" y="28046"/>
                  <a:pt x="764" y="64529"/>
                </a:cubicBezTo>
                <a:cubicBezTo>
                  <a:pt x="29" y="69674"/>
                  <a:pt x="3587" y="74436"/>
                  <a:pt x="8731" y="75171"/>
                </a:cubicBezTo>
                <a:cubicBezTo>
                  <a:pt x="13876" y="75906"/>
                  <a:pt x="18638" y="72319"/>
                  <a:pt x="19373" y="67204"/>
                </a:cubicBezTo>
                <a:close/>
                <a:moveTo>
                  <a:pt x="149754" y="85990"/>
                </a:moveTo>
                <a:cubicBezTo>
                  <a:pt x="150489" y="80845"/>
                  <a:pt x="146903" y="76082"/>
                  <a:pt x="141787" y="75347"/>
                </a:cubicBezTo>
                <a:cubicBezTo>
                  <a:pt x="136672" y="74613"/>
                  <a:pt x="131880" y="78199"/>
                  <a:pt x="131145" y="83314"/>
                </a:cubicBezTo>
                <a:cubicBezTo>
                  <a:pt x="127235" y="110655"/>
                  <a:pt x="103687" y="131674"/>
                  <a:pt x="75259" y="131674"/>
                </a:cubicBezTo>
                <a:cubicBezTo>
                  <a:pt x="59678" y="131674"/>
                  <a:pt x="45567" y="125354"/>
                  <a:pt x="35337" y="115153"/>
                </a:cubicBezTo>
                <a:cubicBezTo>
                  <a:pt x="35278" y="115094"/>
                  <a:pt x="35219" y="115035"/>
                  <a:pt x="35160" y="114976"/>
                </a:cubicBezTo>
                <a:lnTo>
                  <a:pt x="32926" y="112859"/>
                </a:lnTo>
                <a:lnTo>
                  <a:pt x="47008" y="112859"/>
                </a:lnTo>
                <a:cubicBezTo>
                  <a:pt x="52211" y="112859"/>
                  <a:pt x="56415" y="108656"/>
                  <a:pt x="56415" y="103452"/>
                </a:cubicBezTo>
                <a:cubicBezTo>
                  <a:pt x="56415" y="98249"/>
                  <a:pt x="52211" y="94045"/>
                  <a:pt x="47008" y="94045"/>
                </a:cubicBezTo>
                <a:lnTo>
                  <a:pt x="9407" y="94074"/>
                </a:lnTo>
                <a:cubicBezTo>
                  <a:pt x="6909" y="94074"/>
                  <a:pt x="4498" y="95074"/>
                  <a:pt x="2734" y="96867"/>
                </a:cubicBezTo>
                <a:cubicBezTo>
                  <a:pt x="970" y="98660"/>
                  <a:pt x="-29" y="101041"/>
                  <a:pt x="0" y="103570"/>
                </a:cubicBezTo>
                <a:lnTo>
                  <a:pt x="294" y="140905"/>
                </a:lnTo>
                <a:cubicBezTo>
                  <a:pt x="323" y="146109"/>
                  <a:pt x="4586" y="150283"/>
                  <a:pt x="9790" y="150225"/>
                </a:cubicBezTo>
                <a:cubicBezTo>
                  <a:pt x="14993" y="150166"/>
                  <a:pt x="19168" y="145932"/>
                  <a:pt x="19109" y="140729"/>
                </a:cubicBezTo>
                <a:lnTo>
                  <a:pt x="18991" y="125589"/>
                </a:lnTo>
                <a:lnTo>
                  <a:pt x="22137" y="128558"/>
                </a:lnTo>
                <a:cubicBezTo>
                  <a:pt x="35748" y="142111"/>
                  <a:pt x="54534" y="150519"/>
                  <a:pt x="75259" y="150519"/>
                </a:cubicBezTo>
                <a:cubicBezTo>
                  <a:pt x="113183" y="150519"/>
                  <a:pt x="144551" y="122473"/>
                  <a:pt x="149754" y="8599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1" name="Text 18"/>
          <p:cNvSpPr/>
          <p:nvPr/>
        </p:nvSpPr>
        <p:spPr>
          <a:xfrm>
            <a:off x="7928583" y="3731608"/>
            <a:ext cx="153340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vs Rating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7928583" y="3957386"/>
            <a:ext cx="1524000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Relationship visualization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7514657" y="4371312"/>
            <a:ext cx="4111037" cy="639704"/>
          </a:xfrm>
          <a:custGeom>
            <a:avLst/>
            <a:gdLst/>
            <a:ahLst/>
            <a:cxnLst/>
            <a:rect l="l" t="t" r="r" b="b"/>
            <a:pathLst>
              <a:path w="4111037" h="639704">
                <a:moveTo>
                  <a:pt x="37627" y="0"/>
                </a:moveTo>
                <a:lnTo>
                  <a:pt x="4073410" y="0"/>
                </a:lnTo>
                <a:cubicBezTo>
                  <a:pt x="4094191" y="0"/>
                  <a:pt x="4111037" y="16846"/>
                  <a:pt x="4111037" y="37627"/>
                </a:cubicBezTo>
                <a:lnTo>
                  <a:pt x="4111037" y="602076"/>
                </a:lnTo>
                <a:cubicBezTo>
                  <a:pt x="4111037" y="622857"/>
                  <a:pt x="4094191" y="639704"/>
                  <a:pt x="4073410" y="639704"/>
                </a:cubicBezTo>
                <a:lnTo>
                  <a:pt x="37627" y="639704"/>
                </a:lnTo>
                <a:cubicBezTo>
                  <a:pt x="16846" y="639704"/>
                  <a:pt x="0" y="622857"/>
                  <a:pt x="0" y="602076"/>
                </a:cubicBezTo>
                <a:lnTo>
                  <a:pt x="0" y="37627"/>
                </a:lnTo>
                <a:cubicBezTo>
                  <a:pt x="0" y="16860"/>
                  <a:pt x="16860" y="0"/>
                  <a:pt x="37627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646361" y="4521830"/>
            <a:ext cx="150519" cy="150519"/>
          </a:xfrm>
          <a:custGeom>
            <a:avLst/>
            <a:gdLst/>
            <a:ahLst/>
            <a:cxnLst/>
            <a:rect l="l" t="t" r="r" b="b"/>
            <a:pathLst>
              <a:path w="150519" h="150519">
                <a:moveTo>
                  <a:pt x="9407" y="18815"/>
                </a:moveTo>
                <a:cubicBezTo>
                  <a:pt x="5615" y="18815"/>
                  <a:pt x="2175" y="21108"/>
                  <a:pt x="706" y="24636"/>
                </a:cubicBezTo>
                <a:cubicBezTo>
                  <a:pt x="-764" y="28163"/>
                  <a:pt x="59" y="32191"/>
                  <a:pt x="2763" y="34866"/>
                </a:cubicBezTo>
                <a:lnTo>
                  <a:pt x="56444" y="88577"/>
                </a:lnTo>
                <a:lnTo>
                  <a:pt x="56444" y="122296"/>
                </a:lnTo>
                <a:cubicBezTo>
                  <a:pt x="56444" y="124795"/>
                  <a:pt x="57444" y="127176"/>
                  <a:pt x="59208" y="128940"/>
                </a:cubicBezTo>
                <a:lnTo>
                  <a:pt x="78023" y="147755"/>
                </a:lnTo>
                <a:cubicBezTo>
                  <a:pt x="80727" y="150460"/>
                  <a:pt x="84755" y="151253"/>
                  <a:pt x="88283" y="149784"/>
                </a:cubicBezTo>
                <a:cubicBezTo>
                  <a:pt x="91810" y="148314"/>
                  <a:pt x="94074" y="144903"/>
                  <a:pt x="94074" y="141111"/>
                </a:cubicBezTo>
                <a:lnTo>
                  <a:pt x="94074" y="88577"/>
                </a:lnTo>
                <a:lnTo>
                  <a:pt x="147755" y="34896"/>
                </a:lnTo>
                <a:cubicBezTo>
                  <a:pt x="150460" y="32191"/>
                  <a:pt x="151253" y="28163"/>
                  <a:pt x="149784" y="24636"/>
                </a:cubicBezTo>
                <a:cubicBezTo>
                  <a:pt x="148314" y="21108"/>
                  <a:pt x="144903" y="18815"/>
                  <a:pt x="141111" y="18815"/>
                </a:cubicBezTo>
                <a:lnTo>
                  <a:pt x="9407" y="1881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2"/>
          <p:cNvSpPr/>
          <p:nvPr/>
        </p:nvSpPr>
        <p:spPr>
          <a:xfrm>
            <a:off x="7928583" y="4484201"/>
            <a:ext cx="1862667" cy="225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85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Filters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7928583" y="4709978"/>
            <a:ext cx="1853259" cy="188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37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slicers for exploration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323373" y="5287476"/>
            <a:ext cx="4493605" cy="1492642"/>
          </a:xfrm>
          <a:custGeom>
            <a:avLst/>
            <a:gdLst/>
            <a:ahLst/>
            <a:cxnLst/>
            <a:rect l="l" t="t" r="r" b="b"/>
            <a:pathLst>
              <a:path w="4493605" h="1492642">
                <a:moveTo>
                  <a:pt x="75259" y="0"/>
                </a:moveTo>
                <a:lnTo>
                  <a:pt x="4418346" y="0"/>
                </a:lnTo>
                <a:cubicBezTo>
                  <a:pt x="4459910" y="0"/>
                  <a:pt x="4493605" y="33695"/>
                  <a:pt x="4493605" y="75259"/>
                </a:cubicBezTo>
                <a:lnTo>
                  <a:pt x="4493605" y="1417383"/>
                </a:lnTo>
                <a:cubicBezTo>
                  <a:pt x="4493605" y="1458947"/>
                  <a:pt x="4459910" y="1492642"/>
                  <a:pt x="4418346" y="1492642"/>
                </a:cubicBezTo>
                <a:lnTo>
                  <a:pt x="75259" y="1492642"/>
                </a:lnTo>
                <a:cubicBezTo>
                  <a:pt x="33695" y="1492642"/>
                  <a:pt x="0" y="1458947"/>
                  <a:pt x="0" y="1417383"/>
                </a:cubicBezTo>
                <a:lnTo>
                  <a:pt x="0" y="75259"/>
                </a:lnTo>
                <a:cubicBezTo>
                  <a:pt x="0" y="33722"/>
                  <a:pt x="33722" y="0"/>
                  <a:pt x="75259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15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538176" y="5588000"/>
            <a:ext cx="188148" cy="188148"/>
          </a:xfrm>
          <a:custGeom>
            <a:avLst/>
            <a:gdLst/>
            <a:ahLst/>
            <a:cxnLst/>
            <a:rect l="l" t="t" r="r" b="b"/>
            <a:pathLst>
              <a:path w="188148" h="188148">
                <a:moveTo>
                  <a:pt x="47037" y="117593"/>
                </a:moveTo>
                <a:lnTo>
                  <a:pt x="9003" y="117593"/>
                </a:lnTo>
                <a:cubicBezTo>
                  <a:pt x="-147" y="117593"/>
                  <a:pt x="-5769" y="107634"/>
                  <a:pt x="-1066" y="99770"/>
                </a:cubicBezTo>
                <a:lnTo>
                  <a:pt x="18374" y="67359"/>
                </a:lnTo>
                <a:cubicBezTo>
                  <a:pt x="21571" y="62030"/>
                  <a:pt x="27304" y="58796"/>
                  <a:pt x="33514" y="58796"/>
                </a:cubicBezTo>
                <a:lnTo>
                  <a:pt x="68424" y="58796"/>
                </a:lnTo>
                <a:cubicBezTo>
                  <a:pt x="96389" y="11429"/>
                  <a:pt x="138098" y="9040"/>
                  <a:pt x="165989" y="13119"/>
                </a:cubicBezTo>
                <a:cubicBezTo>
                  <a:pt x="170693" y="13817"/>
                  <a:pt x="174368" y="17492"/>
                  <a:pt x="175029" y="22159"/>
                </a:cubicBezTo>
                <a:cubicBezTo>
                  <a:pt x="179108" y="50050"/>
                  <a:pt x="176720" y="91759"/>
                  <a:pt x="129352" y="119724"/>
                </a:cubicBezTo>
                <a:lnTo>
                  <a:pt x="129352" y="154634"/>
                </a:lnTo>
                <a:cubicBezTo>
                  <a:pt x="129352" y="160845"/>
                  <a:pt x="126118" y="166577"/>
                  <a:pt x="120790" y="169774"/>
                </a:cubicBezTo>
                <a:lnTo>
                  <a:pt x="88378" y="189214"/>
                </a:lnTo>
                <a:cubicBezTo>
                  <a:pt x="80551" y="193918"/>
                  <a:pt x="70556" y="188258"/>
                  <a:pt x="70556" y="179145"/>
                </a:cubicBezTo>
                <a:lnTo>
                  <a:pt x="70556" y="141111"/>
                </a:lnTo>
                <a:cubicBezTo>
                  <a:pt x="70556" y="128139"/>
                  <a:pt x="60009" y="117593"/>
                  <a:pt x="47037" y="117593"/>
                </a:cubicBezTo>
                <a:lnTo>
                  <a:pt x="47000" y="117593"/>
                </a:lnTo>
                <a:close/>
                <a:moveTo>
                  <a:pt x="146991" y="58796"/>
                </a:moveTo>
                <a:cubicBezTo>
                  <a:pt x="146991" y="49061"/>
                  <a:pt x="139087" y="41157"/>
                  <a:pt x="129352" y="41157"/>
                </a:cubicBezTo>
                <a:cubicBezTo>
                  <a:pt x="119617" y="41157"/>
                  <a:pt x="111713" y="49061"/>
                  <a:pt x="111713" y="58796"/>
                </a:cubicBezTo>
                <a:cubicBezTo>
                  <a:pt x="111713" y="68531"/>
                  <a:pt x="119617" y="76435"/>
                  <a:pt x="129352" y="76435"/>
                </a:cubicBezTo>
                <a:cubicBezTo>
                  <a:pt x="139087" y="76435"/>
                  <a:pt x="146991" y="68531"/>
                  <a:pt x="146991" y="5879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9" name="Text 26"/>
          <p:cNvSpPr/>
          <p:nvPr/>
        </p:nvSpPr>
        <p:spPr>
          <a:xfrm>
            <a:off x="7862731" y="5550370"/>
            <a:ext cx="1458148" cy="2634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514657" y="5926667"/>
            <a:ext cx="4186296" cy="7337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8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dashboard enables </a:t>
            </a:r>
            <a:r>
              <a:rPr lang="en-US" sz="118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dynamic exploration</a:t>
            </a:r>
            <a:r>
              <a:rPr lang="en-US" sz="118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insights and supports </a:t>
            </a:r>
            <a:r>
              <a:rPr lang="en-US" sz="1185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decisions</a:t>
            </a:r>
            <a:r>
              <a:rPr lang="en-US" sz="1185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real-time filtering and visualization capabilities.</a:t>
            </a:r>
            <a:endParaRPr lang="en-US" sz="1600" dirty="0"/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62" t="15019" r="16345" b="8580"/>
          <a:stretch/>
        </p:blipFill>
        <p:spPr>
          <a:xfrm>
            <a:off x="405052" y="1528447"/>
            <a:ext cx="6725763" cy="4161153"/>
          </a:xfrm>
          <a:prstGeom prst="rect">
            <a:avLst/>
          </a:prstGeom>
        </p:spPr>
      </p:pic>
      <p:sp>
        <p:nvSpPr>
          <p:cNvPr id="34" name="Text 7"/>
          <p:cNvSpPr/>
          <p:nvPr/>
        </p:nvSpPr>
        <p:spPr>
          <a:xfrm>
            <a:off x="413925" y="5867660"/>
            <a:ext cx="6716890" cy="584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81" b="1" dirty="0" smtClean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Power Bi dashboard used to explore genre performance, pricing trends and engagement patterns.</a:t>
            </a:r>
            <a:endParaRPr lang="en-US" sz="1600" b="1" dirty="0"/>
          </a:p>
        </p:txBody>
      </p:sp>
      <p:sp>
        <p:nvSpPr>
          <p:cNvPr id="35" name="Shape 5"/>
          <p:cNvSpPr/>
          <p:nvPr/>
        </p:nvSpPr>
        <p:spPr>
          <a:xfrm>
            <a:off x="379432" y="5810579"/>
            <a:ext cx="6751383" cy="753850"/>
          </a:xfrm>
          <a:custGeom>
            <a:avLst/>
            <a:gdLst/>
            <a:ahLst/>
            <a:cxnLst/>
            <a:rect l="l" t="t" r="r" b="b"/>
            <a:pathLst>
              <a:path w="4493605" h="3693975">
                <a:moveTo>
                  <a:pt x="75246" y="0"/>
                </a:moveTo>
                <a:lnTo>
                  <a:pt x="4418359" y="0"/>
                </a:lnTo>
                <a:cubicBezTo>
                  <a:pt x="4459916" y="0"/>
                  <a:pt x="4493605" y="33689"/>
                  <a:pt x="4493605" y="75246"/>
                </a:cubicBezTo>
                <a:lnTo>
                  <a:pt x="4493605" y="3618729"/>
                </a:lnTo>
                <a:cubicBezTo>
                  <a:pt x="4493605" y="3660286"/>
                  <a:pt x="4459916" y="3693975"/>
                  <a:pt x="4418359" y="3693975"/>
                </a:cubicBezTo>
                <a:lnTo>
                  <a:pt x="75246" y="3693975"/>
                </a:lnTo>
                <a:cubicBezTo>
                  <a:pt x="33689" y="3693975"/>
                  <a:pt x="0" y="3660286"/>
                  <a:pt x="0" y="3618729"/>
                </a:cubicBezTo>
                <a:lnTo>
                  <a:pt x="0" y="75246"/>
                </a:lnTo>
                <a:cubicBezTo>
                  <a:pt x="0" y="33717"/>
                  <a:pt x="33717" y="0"/>
                  <a:pt x="75246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8872" y="485775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96441" y="0"/>
                </a:moveTo>
                <a:lnTo>
                  <a:pt x="42863" y="0"/>
                </a:lnTo>
                <a:cubicBezTo>
                  <a:pt x="36935" y="0"/>
                  <a:pt x="32147" y="4789"/>
                  <a:pt x="32147" y="10716"/>
                </a:cubicBezTo>
                <a:cubicBezTo>
                  <a:pt x="32147" y="16643"/>
                  <a:pt x="36935" y="21431"/>
                  <a:pt x="42863" y="21431"/>
                </a:cubicBezTo>
                <a:lnTo>
                  <a:pt x="42863" y="72163"/>
                </a:lnTo>
                <a:lnTo>
                  <a:pt x="2511" y="142752"/>
                </a:lnTo>
                <a:cubicBezTo>
                  <a:pt x="871" y="145666"/>
                  <a:pt x="0" y="148914"/>
                  <a:pt x="0" y="152262"/>
                </a:cubicBezTo>
                <a:cubicBezTo>
                  <a:pt x="0" y="162878"/>
                  <a:pt x="8573" y="171450"/>
                  <a:pt x="19188" y="171450"/>
                </a:cubicBezTo>
                <a:lnTo>
                  <a:pt x="130831" y="171450"/>
                </a:lnTo>
                <a:cubicBezTo>
                  <a:pt x="141413" y="171450"/>
                  <a:pt x="150019" y="162878"/>
                  <a:pt x="150019" y="152262"/>
                </a:cubicBezTo>
                <a:cubicBezTo>
                  <a:pt x="150019" y="148914"/>
                  <a:pt x="149148" y="145632"/>
                  <a:pt x="147507" y="142752"/>
                </a:cubicBezTo>
                <a:lnTo>
                  <a:pt x="107156" y="72163"/>
                </a:lnTo>
                <a:lnTo>
                  <a:pt x="107156" y="21431"/>
                </a:lnTo>
                <a:cubicBezTo>
                  <a:pt x="113083" y="21431"/>
                  <a:pt x="117872" y="16643"/>
                  <a:pt x="117872" y="10716"/>
                </a:cubicBezTo>
                <a:cubicBezTo>
                  <a:pt x="117872" y="4789"/>
                  <a:pt x="113083" y="0"/>
                  <a:pt x="107156" y="0"/>
                </a:cubicBezTo>
                <a:lnTo>
                  <a:pt x="96441" y="0"/>
                </a:lnTo>
                <a:close/>
                <a:moveTo>
                  <a:pt x="64294" y="72163"/>
                </a:moveTo>
                <a:lnTo>
                  <a:pt x="64294" y="21431"/>
                </a:lnTo>
                <a:lnTo>
                  <a:pt x="85725" y="21431"/>
                </a:lnTo>
                <a:lnTo>
                  <a:pt x="85725" y="72163"/>
                </a:lnTo>
                <a:cubicBezTo>
                  <a:pt x="85725" y="75880"/>
                  <a:pt x="86696" y="79564"/>
                  <a:pt x="88538" y="82812"/>
                </a:cubicBezTo>
                <a:lnTo>
                  <a:pt x="102468" y="107156"/>
                </a:lnTo>
                <a:lnTo>
                  <a:pt x="47551" y="107156"/>
                </a:lnTo>
                <a:lnTo>
                  <a:pt x="61481" y="82812"/>
                </a:lnTo>
                <a:cubicBezTo>
                  <a:pt x="63323" y="79564"/>
                  <a:pt x="64294" y="75914"/>
                  <a:pt x="64294" y="7216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2028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Framework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Hypothesis Testing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4175" y="1565275"/>
            <a:ext cx="11426825" cy="1235075"/>
          </a:xfrm>
          <a:custGeom>
            <a:avLst/>
            <a:gdLst/>
            <a:ahLst/>
            <a:cxnLst/>
            <a:rect l="l" t="t" r="r" b="b"/>
            <a:pathLst>
              <a:path w="11426825" h="1235075">
                <a:moveTo>
                  <a:pt x="76204" y="0"/>
                </a:moveTo>
                <a:lnTo>
                  <a:pt x="11350621" y="0"/>
                </a:lnTo>
                <a:cubicBezTo>
                  <a:pt x="11392707" y="0"/>
                  <a:pt x="11426825" y="34118"/>
                  <a:pt x="11426825" y="76204"/>
                </a:cubicBezTo>
                <a:lnTo>
                  <a:pt x="11426825" y="1158871"/>
                </a:lnTo>
                <a:cubicBezTo>
                  <a:pt x="11426825" y="1200957"/>
                  <a:pt x="11392707" y="1235075"/>
                  <a:pt x="11350621" y="1235075"/>
                </a:cubicBezTo>
                <a:lnTo>
                  <a:pt x="76204" y="1235075"/>
                </a:lnTo>
                <a:cubicBezTo>
                  <a:pt x="34118" y="1235075"/>
                  <a:pt x="0" y="1200957"/>
                  <a:pt x="0" y="1158871"/>
                </a:cubicBezTo>
                <a:lnTo>
                  <a:pt x="0" y="76204"/>
                </a:lnTo>
                <a:cubicBezTo>
                  <a:pt x="0" y="34146"/>
                  <a:pt x="34146" y="0"/>
                  <a:pt x="76204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4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4525" y="1835153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cubicBezTo>
                  <a:pt x="177384" y="228600"/>
                  <a:pt x="228600" y="177384"/>
                  <a:pt x="228600" y="114300"/>
                </a:cubicBezTo>
                <a:cubicBezTo>
                  <a:pt x="228600" y="51216"/>
                  <a:pt x="177384" y="0"/>
                  <a:pt x="114300" y="0"/>
                </a:cubicBezTo>
                <a:cubicBezTo>
                  <a:pt x="51216" y="0"/>
                  <a:pt x="0" y="51216"/>
                  <a:pt x="0" y="114300"/>
                </a:cubicBezTo>
                <a:cubicBezTo>
                  <a:pt x="0" y="177384"/>
                  <a:pt x="51216" y="228600"/>
                  <a:pt x="114300" y="228600"/>
                </a:cubicBezTo>
                <a:close/>
                <a:moveTo>
                  <a:pt x="114300" y="78581"/>
                </a:moveTo>
                <a:cubicBezTo>
                  <a:pt x="106397" y="78581"/>
                  <a:pt x="100013" y="84966"/>
                  <a:pt x="100013" y="92869"/>
                </a:cubicBezTo>
                <a:cubicBezTo>
                  <a:pt x="100013" y="98807"/>
                  <a:pt x="95235" y="103584"/>
                  <a:pt x="89297" y="103584"/>
                </a:cubicBezTo>
                <a:cubicBezTo>
                  <a:pt x="83359" y="103584"/>
                  <a:pt x="78581" y="98807"/>
                  <a:pt x="78581" y="92869"/>
                </a:cubicBezTo>
                <a:cubicBezTo>
                  <a:pt x="78581" y="73134"/>
                  <a:pt x="94565" y="57150"/>
                  <a:pt x="114300" y="57150"/>
                </a:cubicBezTo>
                <a:cubicBezTo>
                  <a:pt x="134035" y="57150"/>
                  <a:pt x="150019" y="73134"/>
                  <a:pt x="150019" y="92869"/>
                </a:cubicBezTo>
                <a:cubicBezTo>
                  <a:pt x="150019" y="113943"/>
                  <a:pt x="133945" y="122873"/>
                  <a:pt x="125016" y="126132"/>
                </a:cubicBezTo>
                <a:lnTo>
                  <a:pt x="125016" y="127828"/>
                </a:lnTo>
                <a:cubicBezTo>
                  <a:pt x="125016" y="133767"/>
                  <a:pt x="120238" y="138544"/>
                  <a:pt x="114300" y="138544"/>
                </a:cubicBezTo>
                <a:cubicBezTo>
                  <a:pt x="108362" y="138544"/>
                  <a:pt x="103584" y="133767"/>
                  <a:pt x="103584" y="127828"/>
                </a:cubicBezTo>
                <a:lnTo>
                  <a:pt x="103584" y="124212"/>
                </a:lnTo>
                <a:cubicBezTo>
                  <a:pt x="103584" y="115059"/>
                  <a:pt x="110192" y="108496"/>
                  <a:pt x="117024" y="106263"/>
                </a:cubicBezTo>
                <a:cubicBezTo>
                  <a:pt x="119881" y="105326"/>
                  <a:pt x="122917" y="103808"/>
                  <a:pt x="125150" y="101664"/>
                </a:cubicBezTo>
                <a:cubicBezTo>
                  <a:pt x="127069" y="99789"/>
                  <a:pt x="128588" y="97200"/>
                  <a:pt x="128588" y="92913"/>
                </a:cubicBezTo>
                <a:cubicBezTo>
                  <a:pt x="128588" y="85011"/>
                  <a:pt x="122203" y="78626"/>
                  <a:pt x="114300" y="78626"/>
                </a:cubicBezTo>
                <a:close/>
                <a:moveTo>
                  <a:pt x="100013" y="164306"/>
                </a:moveTo>
                <a:cubicBezTo>
                  <a:pt x="100013" y="156421"/>
                  <a:pt x="106415" y="150019"/>
                  <a:pt x="114300" y="150019"/>
                </a:cubicBezTo>
                <a:cubicBezTo>
                  <a:pt x="122185" y="150019"/>
                  <a:pt x="128588" y="156421"/>
                  <a:pt x="128588" y="164306"/>
                </a:cubicBezTo>
                <a:cubicBezTo>
                  <a:pt x="128588" y="172192"/>
                  <a:pt x="122185" y="178594"/>
                  <a:pt x="114300" y="178594"/>
                </a:cubicBezTo>
                <a:cubicBezTo>
                  <a:pt x="106415" y="178594"/>
                  <a:pt x="100013" y="172192"/>
                  <a:pt x="100013" y="16430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1797053"/>
            <a:ext cx="20097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Research Question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5950" y="2254253"/>
            <a:ext cx="11058525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We aim to test whether </a:t>
            </a:r>
            <a:r>
              <a:rPr lang="en-US" sz="1500" b="1" dirty="0">
                <a:solidFill>
                  <a:srgbClr val="38B2AC"/>
                </a:solidFill>
                <a:highlight>
                  <a:srgbClr val="38B2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pricing influences customer satisfaction </a:t>
            </a: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the book market.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0525" y="2998789"/>
            <a:ext cx="5600700" cy="2362200"/>
          </a:xfrm>
          <a:custGeom>
            <a:avLst/>
            <a:gdLst/>
            <a:ahLst/>
            <a:cxnLst/>
            <a:rect l="l" t="t" r="r" b="b"/>
            <a:pathLst>
              <a:path w="5600700" h="2362200">
                <a:moveTo>
                  <a:pt x="76205" y="0"/>
                </a:moveTo>
                <a:lnTo>
                  <a:pt x="5524495" y="0"/>
                </a:lnTo>
                <a:cubicBezTo>
                  <a:pt x="5566554" y="0"/>
                  <a:pt x="5600700" y="34146"/>
                  <a:pt x="5600700" y="76205"/>
                </a:cubicBezTo>
                <a:lnTo>
                  <a:pt x="5600700" y="2285995"/>
                </a:lnTo>
                <a:cubicBezTo>
                  <a:pt x="5600700" y="2328082"/>
                  <a:pt x="5566582" y="2362200"/>
                  <a:pt x="552449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4A5568">
                  <a:alpha val="30000"/>
                </a:srgbClr>
              </a:gs>
              <a:gs pos="100000">
                <a:srgbClr val="4A5568">
                  <a:alpha val="10000"/>
                </a:srgbClr>
              </a:gs>
            </a:gsLst>
            <a:lin ang="2700000" scaled="1"/>
          </a:gradFill>
          <a:ln w="25400">
            <a:solidFill>
              <a:srgbClr val="4A5568">
                <a:alpha val="50196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650" y="323691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4A5568">
              <a:alpha val="4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63488" y="3351214"/>
            <a:ext cx="38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76350" y="3351214"/>
            <a:ext cx="1704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Null Hypothesis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5950" y="4183065"/>
            <a:ext cx="396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has </a:t>
            </a:r>
            <a:r>
              <a:rPr lang="en-US" sz="1500" b="1" dirty="0">
                <a:solidFill>
                  <a:srgbClr val="4A556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significant impact</a:t>
            </a: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book ratings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28700" y="4743450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200775" y="2998789"/>
            <a:ext cx="5600700" cy="2362200"/>
          </a:xfrm>
          <a:custGeom>
            <a:avLst/>
            <a:gdLst/>
            <a:ahLst/>
            <a:cxnLst/>
            <a:rect l="l" t="t" r="r" b="b"/>
            <a:pathLst>
              <a:path w="5600700" h="2362200">
                <a:moveTo>
                  <a:pt x="76205" y="0"/>
                </a:moveTo>
                <a:lnTo>
                  <a:pt x="5524495" y="0"/>
                </a:lnTo>
                <a:cubicBezTo>
                  <a:pt x="5566554" y="0"/>
                  <a:pt x="5600700" y="34146"/>
                  <a:pt x="5600700" y="76205"/>
                </a:cubicBezTo>
                <a:lnTo>
                  <a:pt x="5600700" y="2285995"/>
                </a:lnTo>
                <a:cubicBezTo>
                  <a:pt x="5600700" y="2328082"/>
                  <a:pt x="5566582" y="2362200"/>
                  <a:pt x="5524495" y="2362200"/>
                </a:cubicBezTo>
                <a:lnTo>
                  <a:pt x="76205" y="2362200"/>
                </a:lnTo>
                <a:cubicBezTo>
                  <a:pt x="34146" y="2362200"/>
                  <a:pt x="0" y="2328054"/>
                  <a:pt x="0" y="2285995"/>
                </a:cubicBezTo>
                <a:lnTo>
                  <a:pt x="0" y="76205"/>
                </a:lnTo>
                <a:cubicBezTo>
                  <a:pt x="0" y="34146"/>
                  <a:pt x="34146" y="0"/>
                  <a:pt x="76205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25400">
            <a:solidFill>
              <a:srgbClr val="38B2AC">
                <a:alpha val="5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38900" y="3236914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6592491" y="3351214"/>
            <a:ext cx="3429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086600" y="3351214"/>
            <a:ext cx="24098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Alternative Hypothesis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38900" y="4183064"/>
            <a:ext cx="33718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</a:t>
            </a:r>
            <a:r>
              <a:rPr lang="en-US" sz="15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significantly impacts</a:t>
            </a:r>
            <a:r>
              <a:rPr lang="en-US" sz="150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book ratings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38950" y="4743450"/>
            <a:ext cx="464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4212" y="364212"/>
            <a:ext cx="364212" cy="364212"/>
          </a:xfrm>
          <a:custGeom>
            <a:avLst/>
            <a:gdLst/>
            <a:ahLst/>
            <a:cxnLst/>
            <a:rect l="l" t="t" r="r" b="b"/>
            <a:pathLst>
              <a:path w="364212" h="364212">
                <a:moveTo>
                  <a:pt x="72842" y="0"/>
                </a:moveTo>
                <a:lnTo>
                  <a:pt x="291370" y="0"/>
                </a:lnTo>
                <a:cubicBezTo>
                  <a:pt x="331599" y="0"/>
                  <a:pt x="364212" y="32613"/>
                  <a:pt x="364212" y="72842"/>
                </a:cubicBezTo>
                <a:lnTo>
                  <a:pt x="364212" y="291370"/>
                </a:lnTo>
                <a:cubicBezTo>
                  <a:pt x="364212" y="331599"/>
                  <a:pt x="331599" y="364212"/>
                  <a:pt x="291370" y="364212"/>
                </a:cubicBezTo>
                <a:lnTo>
                  <a:pt x="72842" y="364212"/>
                </a:lnTo>
                <a:cubicBezTo>
                  <a:pt x="32613" y="364212"/>
                  <a:pt x="0" y="331599"/>
                  <a:pt x="0" y="291370"/>
                </a:cubicBezTo>
                <a:lnTo>
                  <a:pt x="0" y="72842"/>
                </a:lnTo>
                <a:cubicBezTo>
                  <a:pt x="0" y="32613"/>
                  <a:pt x="32613" y="0"/>
                  <a:pt x="72842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66647" y="464370"/>
            <a:ext cx="163895" cy="163895"/>
          </a:xfrm>
          <a:custGeom>
            <a:avLst/>
            <a:gdLst/>
            <a:ahLst/>
            <a:cxnLst/>
            <a:rect l="l" t="t" r="r" b="b"/>
            <a:pathLst>
              <a:path w="163895" h="163895">
                <a:moveTo>
                  <a:pt x="10243" y="10243"/>
                </a:moveTo>
                <a:cubicBezTo>
                  <a:pt x="15909" y="10243"/>
                  <a:pt x="20487" y="14821"/>
                  <a:pt x="20487" y="20487"/>
                </a:cubicBezTo>
                <a:lnTo>
                  <a:pt x="20487" y="128043"/>
                </a:lnTo>
                <a:cubicBezTo>
                  <a:pt x="20487" y="130860"/>
                  <a:pt x="22792" y="133165"/>
                  <a:pt x="25609" y="133165"/>
                </a:cubicBezTo>
                <a:lnTo>
                  <a:pt x="153652" y="133165"/>
                </a:lnTo>
                <a:cubicBezTo>
                  <a:pt x="159318" y="133165"/>
                  <a:pt x="163895" y="137743"/>
                  <a:pt x="163895" y="143409"/>
                </a:cubicBezTo>
                <a:cubicBezTo>
                  <a:pt x="163895" y="149074"/>
                  <a:pt x="159318" y="153652"/>
                  <a:pt x="153652" y="153652"/>
                </a:cubicBezTo>
                <a:lnTo>
                  <a:pt x="25609" y="153652"/>
                </a:lnTo>
                <a:cubicBezTo>
                  <a:pt x="11460" y="153652"/>
                  <a:pt x="0" y="142192"/>
                  <a:pt x="0" y="128043"/>
                </a:cubicBezTo>
                <a:lnTo>
                  <a:pt x="0" y="20487"/>
                </a:lnTo>
                <a:cubicBezTo>
                  <a:pt x="0" y="14821"/>
                  <a:pt x="4578" y="10243"/>
                  <a:pt x="10243" y="10243"/>
                </a:cubicBezTo>
                <a:close/>
                <a:moveTo>
                  <a:pt x="40974" y="30730"/>
                </a:moveTo>
                <a:cubicBezTo>
                  <a:pt x="40974" y="25064"/>
                  <a:pt x="45551" y="20487"/>
                  <a:pt x="51217" y="20487"/>
                </a:cubicBezTo>
                <a:lnTo>
                  <a:pt x="112678" y="20487"/>
                </a:lnTo>
                <a:cubicBezTo>
                  <a:pt x="118344" y="20487"/>
                  <a:pt x="122922" y="25064"/>
                  <a:pt x="122922" y="30730"/>
                </a:cubicBezTo>
                <a:cubicBezTo>
                  <a:pt x="122922" y="36396"/>
                  <a:pt x="118344" y="40974"/>
                  <a:pt x="112678" y="40974"/>
                </a:cubicBezTo>
                <a:lnTo>
                  <a:pt x="51217" y="40974"/>
                </a:lnTo>
                <a:cubicBezTo>
                  <a:pt x="45551" y="40974"/>
                  <a:pt x="40974" y="36396"/>
                  <a:pt x="40974" y="30730"/>
                </a:cubicBezTo>
                <a:close/>
                <a:moveTo>
                  <a:pt x="51217" y="56339"/>
                </a:moveTo>
                <a:lnTo>
                  <a:pt x="92191" y="56339"/>
                </a:lnTo>
                <a:cubicBezTo>
                  <a:pt x="97857" y="56339"/>
                  <a:pt x="102435" y="60917"/>
                  <a:pt x="102435" y="66583"/>
                </a:cubicBezTo>
                <a:cubicBezTo>
                  <a:pt x="102435" y="72248"/>
                  <a:pt x="97857" y="76826"/>
                  <a:pt x="92191" y="76826"/>
                </a:cubicBezTo>
                <a:lnTo>
                  <a:pt x="51217" y="76826"/>
                </a:lnTo>
                <a:cubicBezTo>
                  <a:pt x="45551" y="76826"/>
                  <a:pt x="40974" y="72248"/>
                  <a:pt x="40974" y="66583"/>
                </a:cubicBezTo>
                <a:cubicBezTo>
                  <a:pt x="40974" y="60917"/>
                  <a:pt x="45551" y="56339"/>
                  <a:pt x="51217" y="56339"/>
                </a:cubicBezTo>
                <a:close/>
                <a:moveTo>
                  <a:pt x="51217" y="92191"/>
                </a:moveTo>
                <a:lnTo>
                  <a:pt x="133165" y="92191"/>
                </a:lnTo>
                <a:cubicBezTo>
                  <a:pt x="138831" y="92191"/>
                  <a:pt x="143409" y="96769"/>
                  <a:pt x="143409" y="102435"/>
                </a:cubicBezTo>
                <a:cubicBezTo>
                  <a:pt x="143409" y="108101"/>
                  <a:pt x="138831" y="112678"/>
                  <a:pt x="133165" y="112678"/>
                </a:cubicBezTo>
                <a:lnTo>
                  <a:pt x="51217" y="112678"/>
                </a:lnTo>
                <a:cubicBezTo>
                  <a:pt x="45551" y="112678"/>
                  <a:pt x="40974" y="108101"/>
                  <a:pt x="40974" y="102435"/>
                </a:cubicBezTo>
                <a:cubicBezTo>
                  <a:pt x="40974" y="96769"/>
                  <a:pt x="45551" y="92191"/>
                  <a:pt x="51217" y="9219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837688" y="455265"/>
            <a:ext cx="1739113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04" b="1" kern="0" spc="100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Evidence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4212" y="837688"/>
            <a:ext cx="11682103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41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vs Rating Analysis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7247" y="1459883"/>
            <a:ext cx="3693718" cy="2154922"/>
          </a:xfrm>
          <a:custGeom>
            <a:avLst/>
            <a:gdLst/>
            <a:ahLst/>
            <a:cxnLst/>
            <a:rect l="l" t="t" r="r" b="b"/>
            <a:pathLst>
              <a:path w="3693718" h="2154922">
                <a:moveTo>
                  <a:pt x="72836" y="0"/>
                </a:moveTo>
                <a:lnTo>
                  <a:pt x="3620881" y="0"/>
                </a:lnTo>
                <a:cubicBezTo>
                  <a:pt x="3661108" y="0"/>
                  <a:pt x="3693718" y="32610"/>
                  <a:pt x="3693718" y="72836"/>
                </a:cubicBezTo>
                <a:lnTo>
                  <a:pt x="3693718" y="2082085"/>
                </a:lnTo>
                <a:cubicBezTo>
                  <a:pt x="3693718" y="2122312"/>
                  <a:pt x="3661108" y="2154922"/>
                  <a:pt x="3620881" y="2154922"/>
                </a:cubicBezTo>
                <a:lnTo>
                  <a:pt x="72836" y="2154922"/>
                </a:lnTo>
                <a:cubicBezTo>
                  <a:pt x="32610" y="2154922"/>
                  <a:pt x="0" y="2122312"/>
                  <a:pt x="0" y="2082085"/>
                </a:cubicBezTo>
                <a:lnTo>
                  <a:pt x="0" y="72836"/>
                </a:lnTo>
                <a:cubicBezTo>
                  <a:pt x="0" y="32610"/>
                  <a:pt x="32610" y="0"/>
                  <a:pt x="72836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22167" y="1681449"/>
            <a:ext cx="582739" cy="582739"/>
          </a:xfrm>
          <a:custGeom>
            <a:avLst/>
            <a:gdLst/>
            <a:ahLst/>
            <a:cxnLst/>
            <a:rect l="l" t="t" r="r" b="b"/>
            <a:pathLst>
              <a:path w="582739" h="582739">
                <a:moveTo>
                  <a:pt x="291370" y="0"/>
                </a:moveTo>
                <a:lnTo>
                  <a:pt x="291370" y="0"/>
                </a:lnTo>
                <a:cubicBezTo>
                  <a:pt x="452289" y="0"/>
                  <a:pt x="582739" y="130451"/>
                  <a:pt x="582739" y="291370"/>
                </a:cubicBezTo>
                <a:lnTo>
                  <a:pt x="582739" y="291370"/>
                </a:lnTo>
                <a:cubicBezTo>
                  <a:pt x="582739" y="452289"/>
                  <a:pt x="452289" y="582739"/>
                  <a:pt x="291370" y="582739"/>
                </a:cubicBezTo>
                <a:lnTo>
                  <a:pt x="291370" y="582739"/>
                </a:lnTo>
                <a:cubicBezTo>
                  <a:pt x="130451" y="582739"/>
                  <a:pt x="0" y="452289"/>
                  <a:pt x="0" y="291370"/>
                </a:cubicBezTo>
                <a:lnTo>
                  <a:pt x="0" y="291370"/>
                </a:lnTo>
                <a:cubicBezTo>
                  <a:pt x="0" y="130451"/>
                  <a:pt x="130451" y="0"/>
                  <a:pt x="29137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145247" y="1863555"/>
            <a:ext cx="136580" cy="218527"/>
          </a:xfrm>
          <a:custGeom>
            <a:avLst/>
            <a:gdLst/>
            <a:ahLst/>
            <a:cxnLst/>
            <a:rect l="l" t="t" r="r" b="b"/>
            <a:pathLst>
              <a:path w="136580" h="218527">
                <a:moveTo>
                  <a:pt x="58046" y="10243"/>
                </a:moveTo>
                <a:cubicBezTo>
                  <a:pt x="58046" y="4567"/>
                  <a:pt x="62613" y="0"/>
                  <a:pt x="68290" y="0"/>
                </a:cubicBezTo>
                <a:cubicBezTo>
                  <a:pt x="73966" y="0"/>
                  <a:pt x="78533" y="4567"/>
                  <a:pt x="78533" y="10243"/>
                </a:cubicBezTo>
                <a:lnTo>
                  <a:pt x="78533" y="27316"/>
                </a:lnTo>
                <a:lnTo>
                  <a:pt x="102435" y="27316"/>
                </a:lnTo>
                <a:cubicBezTo>
                  <a:pt x="109989" y="27316"/>
                  <a:pt x="116093" y="33419"/>
                  <a:pt x="116093" y="40974"/>
                </a:cubicBezTo>
                <a:cubicBezTo>
                  <a:pt x="116093" y="48528"/>
                  <a:pt x="109989" y="54632"/>
                  <a:pt x="102435" y="54632"/>
                </a:cubicBezTo>
                <a:lnTo>
                  <a:pt x="53394" y="54632"/>
                </a:lnTo>
                <a:cubicBezTo>
                  <a:pt x="42766" y="54632"/>
                  <a:pt x="34145" y="63253"/>
                  <a:pt x="34145" y="73881"/>
                </a:cubicBezTo>
                <a:cubicBezTo>
                  <a:pt x="34145" y="83484"/>
                  <a:pt x="41187" y="91594"/>
                  <a:pt x="50662" y="92959"/>
                </a:cubicBezTo>
                <a:lnTo>
                  <a:pt x="89758" y="98551"/>
                </a:lnTo>
                <a:cubicBezTo>
                  <a:pt x="112721" y="101837"/>
                  <a:pt x="129751" y="121470"/>
                  <a:pt x="129751" y="144646"/>
                </a:cubicBezTo>
                <a:cubicBezTo>
                  <a:pt x="129751" y="170383"/>
                  <a:pt x="108879" y="191211"/>
                  <a:pt x="83185" y="191211"/>
                </a:cubicBezTo>
                <a:lnTo>
                  <a:pt x="78533" y="191211"/>
                </a:lnTo>
                <a:lnTo>
                  <a:pt x="78533" y="208284"/>
                </a:lnTo>
                <a:cubicBezTo>
                  <a:pt x="78533" y="213960"/>
                  <a:pt x="73966" y="218527"/>
                  <a:pt x="68290" y="218527"/>
                </a:cubicBezTo>
                <a:cubicBezTo>
                  <a:pt x="62613" y="218527"/>
                  <a:pt x="58046" y="213960"/>
                  <a:pt x="58046" y="208284"/>
                </a:cubicBezTo>
                <a:lnTo>
                  <a:pt x="58046" y="191211"/>
                </a:lnTo>
                <a:lnTo>
                  <a:pt x="27316" y="191211"/>
                </a:lnTo>
                <a:cubicBezTo>
                  <a:pt x="19761" y="191211"/>
                  <a:pt x="13658" y="185108"/>
                  <a:pt x="13658" y="177553"/>
                </a:cubicBezTo>
                <a:cubicBezTo>
                  <a:pt x="13658" y="169999"/>
                  <a:pt x="19761" y="163895"/>
                  <a:pt x="27316" y="163895"/>
                </a:cubicBezTo>
                <a:lnTo>
                  <a:pt x="83185" y="163895"/>
                </a:lnTo>
                <a:cubicBezTo>
                  <a:pt x="93813" y="163895"/>
                  <a:pt x="102435" y="155274"/>
                  <a:pt x="102435" y="144646"/>
                </a:cubicBezTo>
                <a:cubicBezTo>
                  <a:pt x="102435" y="135043"/>
                  <a:pt x="95392" y="126934"/>
                  <a:pt x="85917" y="125568"/>
                </a:cubicBezTo>
                <a:lnTo>
                  <a:pt x="46821" y="119977"/>
                </a:lnTo>
                <a:cubicBezTo>
                  <a:pt x="23859" y="116733"/>
                  <a:pt x="6829" y="97057"/>
                  <a:pt x="6829" y="73881"/>
                </a:cubicBezTo>
                <a:cubicBezTo>
                  <a:pt x="6829" y="48187"/>
                  <a:pt x="27700" y="27316"/>
                  <a:pt x="53394" y="27316"/>
                </a:cubicBezTo>
                <a:lnTo>
                  <a:pt x="58046" y="27316"/>
                </a:lnTo>
                <a:lnTo>
                  <a:pt x="58046" y="10243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Text 7"/>
          <p:cNvSpPr/>
          <p:nvPr/>
        </p:nvSpPr>
        <p:spPr>
          <a:xfrm>
            <a:off x="556941" y="2409873"/>
            <a:ext cx="331433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4" kern="0" spc="5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Low Price Category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9546" y="2664821"/>
            <a:ext cx="3469120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41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~4.70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52388" y="3174718"/>
            <a:ext cx="3323435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Rating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48098" y="1459883"/>
            <a:ext cx="3693718" cy="2154922"/>
          </a:xfrm>
          <a:custGeom>
            <a:avLst/>
            <a:gdLst/>
            <a:ahLst/>
            <a:cxnLst/>
            <a:rect l="l" t="t" r="r" b="b"/>
            <a:pathLst>
              <a:path w="3693718" h="2154922">
                <a:moveTo>
                  <a:pt x="72836" y="0"/>
                </a:moveTo>
                <a:lnTo>
                  <a:pt x="3620881" y="0"/>
                </a:lnTo>
                <a:cubicBezTo>
                  <a:pt x="3661108" y="0"/>
                  <a:pt x="3693718" y="32610"/>
                  <a:pt x="3693718" y="72836"/>
                </a:cubicBezTo>
                <a:lnTo>
                  <a:pt x="3693718" y="2082085"/>
                </a:lnTo>
                <a:cubicBezTo>
                  <a:pt x="3693718" y="2122312"/>
                  <a:pt x="3661108" y="2154922"/>
                  <a:pt x="3620881" y="2154922"/>
                </a:cubicBezTo>
                <a:lnTo>
                  <a:pt x="72836" y="2154922"/>
                </a:lnTo>
                <a:cubicBezTo>
                  <a:pt x="32610" y="2154922"/>
                  <a:pt x="0" y="2122312"/>
                  <a:pt x="0" y="2082085"/>
                </a:cubicBezTo>
                <a:lnTo>
                  <a:pt x="0" y="72836"/>
                </a:lnTo>
                <a:cubicBezTo>
                  <a:pt x="0" y="32610"/>
                  <a:pt x="32610" y="0"/>
                  <a:pt x="72836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3018" y="1681449"/>
            <a:ext cx="582739" cy="582739"/>
          </a:xfrm>
          <a:custGeom>
            <a:avLst/>
            <a:gdLst/>
            <a:ahLst/>
            <a:cxnLst/>
            <a:rect l="l" t="t" r="r" b="b"/>
            <a:pathLst>
              <a:path w="582739" h="582739">
                <a:moveTo>
                  <a:pt x="291370" y="0"/>
                </a:moveTo>
                <a:lnTo>
                  <a:pt x="291370" y="0"/>
                </a:lnTo>
                <a:cubicBezTo>
                  <a:pt x="452289" y="0"/>
                  <a:pt x="582739" y="130451"/>
                  <a:pt x="582739" y="291370"/>
                </a:cubicBezTo>
                <a:lnTo>
                  <a:pt x="582739" y="291370"/>
                </a:lnTo>
                <a:cubicBezTo>
                  <a:pt x="582739" y="452289"/>
                  <a:pt x="452289" y="582739"/>
                  <a:pt x="291370" y="582739"/>
                </a:cubicBezTo>
                <a:lnTo>
                  <a:pt x="291370" y="582739"/>
                </a:lnTo>
                <a:cubicBezTo>
                  <a:pt x="130451" y="582739"/>
                  <a:pt x="0" y="452289"/>
                  <a:pt x="0" y="291370"/>
                </a:cubicBezTo>
                <a:lnTo>
                  <a:pt x="0" y="291370"/>
                </a:lnTo>
                <a:cubicBezTo>
                  <a:pt x="0" y="130451"/>
                  <a:pt x="130451" y="0"/>
                  <a:pt x="29137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5957808" y="1863555"/>
            <a:ext cx="273159" cy="218527"/>
          </a:xfrm>
          <a:custGeom>
            <a:avLst/>
            <a:gdLst/>
            <a:ahLst/>
            <a:cxnLst/>
            <a:rect l="l" t="t" r="r" b="b"/>
            <a:pathLst>
              <a:path w="273159" h="218527">
                <a:moveTo>
                  <a:pt x="163895" y="13658"/>
                </a:moveTo>
                <a:lnTo>
                  <a:pt x="218527" y="13658"/>
                </a:lnTo>
                <a:cubicBezTo>
                  <a:pt x="226082" y="13658"/>
                  <a:pt x="232185" y="19761"/>
                  <a:pt x="232185" y="27316"/>
                </a:cubicBezTo>
                <a:cubicBezTo>
                  <a:pt x="232185" y="34870"/>
                  <a:pt x="226082" y="40974"/>
                  <a:pt x="218527" y="40974"/>
                </a:cubicBezTo>
                <a:lnTo>
                  <a:pt x="170042" y="40974"/>
                </a:lnTo>
                <a:cubicBezTo>
                  <a:pt x="167822" y="51986"/>
                  <a:pt x="160268" y="61077"/>
                  <a:pt x="150237" y="65430"/>
                </a:cubicBezTo>
                <a:lnTo>
                  <a:pt x="150237" y="191211"/>
                </a:lnTo>
                <a:lnTo>
                  <a:pt x="218527" y="191211"/>
                </a:lnTo>
                <a:cubicBezTo>
                  <a:pt x="226082" y="191211"/>
                  <a:pt x="232185" y="197315"/>
                  <a:pt x="232185" y="204869"/>
                </a:cubicBezTo>
                <a:cubicBezTo>
                  <a:pt x="232185" y="212424"/>
                  <a:pt x="226082" y="218527"/>
                  <a:pt x="218527" y="218527"/>
                </a:cubicBezTo>
                <a:lnTo>
                  <a:pt x="54632" y="218527"/>
                </a:lnTo>
                <a:cubicBezTo>
                  <a:pt x="47077" y="218527"/>
                  <a:pt x="40974" y="212424"/>
                  <a:pt x="40974" y="204869"/>
                </a:cubicBezTo>
                <a:cubicBezTo>
                  <a:pt x="40974" y="197315"/>
                  <a:pt x="47077" y="191211"/>
                  <a:pt x="54632" y="191211"/>
                </a:cubicBezTo>
                <a:lnTo>
                  <a:pt x="122922" y="191211"/>
                </a:lnTo>
                <a:lnTo>
                  <a:pt x="122922" y="65430"/>
                </a:lnTo>
                <a:cubicBezTo>
                  <a:pt x="112892" y="61034"/>
                  <a:pt x="105337" y="51943"/>
                  <a:pt x="103118" y="40974"/>
                </a:cubicBezTo>
                <a:lnTo>
                  <a:pt x="54632" y="40974"/>
                </a:lnTo>
                <a:cubicBezTo>
                  <a:pt x="47077" y="40974"/>
                  <a:pt x="40974" y="34870"/>
                  <a:pt x="40974" y="27316"/>
                </a:cubicBezTo>
                <a:cubicBezTo>
                  <a:pt x="40974" y="19761"/>
                  <a:pt x="47077" y="13658"/>
                  <a:pt x="54632" y="13658"/>
                </a:cubicBezTo>
                <a:lnTo>
                  <a:pt x="109264" y="13658"/>
                </a:lnTo>
                <a:cubicBezTo>
                  <a:pt x="115495" y="5378"/>
                  <a:pt x="125397" y="0"/>
                  <a:pt x="136580" y="0"/>
                </a:cubicBezTo>
                <a:cubicBezTo>
                  <a:pt x="147762" y="0"/>
                  <a:pt x="157664" y="5378"/>
                  <a:pt x="163895" y="13658"/>
                </a:cubicBezTo>
                <a:close/>
                <a:moveTo>
                  <a:pt x="187626" y="136580"/>
                </a:moveTo>
                <a:lnTo>
                  <a:pt x="249428" y="136580"/>
                </a:lnTo>
                <a:lnTo>
                  <a:pt x="218527" y="83570"/>
                </a:lnTo>
                <a:lnTo>
                  <a:pt x="187626" y="136580"/>
                </a:lnTo>
                <a:close/>
                <a:moveTo>
                  <a:pt x="218527" y="177553"/>
                </a:moveTo>
                <a:cubicBezTo>
                  <a:pt x="191681" y="177553"/>
                  <a:pt x="169359" y="163042"/>
                  <a:pt x="164749" y="143878"/>
                </a:cubicBezTo>
                <a:cubicBezTo>
                  <a:pt x="163639" y="139183"/>
                  <a:pt x="165176" y="134360"/>
                  <a:pt x="167609" y="130177"/>
                </a:cubicBezTo>
                <a:lnTo>
                  <a:pt x="208241" y="60522"/>
                </a:lnTo>
                <a:cubicBezTo>
                  <a:pt x="210375" y="56851"/>
                  <a:pt x="214302" y="54632"/>
                  <a:pt x="218527" y="54632"/>
                </a:cubicBezTo>
                <a:cubicBezTo>
                  <a:pt x="222753" y="54632"/>
                  <a:pt x="226679" y="56894"/>
                  <a:pt x="228813" y="60522"/>
                </a:cubicBezTo>
                <a:lnTo>
                  <a:pt x="269446" y="130177"/>
                </a:lnTo>
                <a:cubicBezTo>
                  <a:pt x="271879" y="134360"/>
                  <a:pt x="273415" y="139183"/>
                  <a:pt x="272305" y="143878"/>
                </a:cubicBezTo>
                <a:cubicBezTo>
                  <a:pt x="267696" y="162999"/>
                  <a:pt x="245374" y="177553"/>
                  <a:pt x="218527" y="177553"/>
                </a:cubicBezTo>
                <a:close/>
                <a:moveTo>
                  <a:pt x="54120" y="83570"/>
                </a:moveTo>
                <a:lnTo>
                  <a:pt x="23219" y="136580"/>
                </a:lnTo>
                <a:lnTo>
                  <a:pt x="85063" y="136580"/>
                </a:lnTo>
                <a:lnTo>
                  <a:pt x="54120" y="83570"/>
                </a:lnTo>
                <a:close/>
                <a:moveTo>
                  <a:pt x="384" y="143878"/>
                </a:moveTo>
                <a:cubicBezTo>
                  <a:pt x="-726" y="139183"/>
                  <a:pt x="811" y="134360"/>
                  <a:pt x="3244" y="130177"/>
                </a:cubicBezTo>
                <a:lnTo>
                  <a:pt x="43876" y="60522"/>
                </a:lnTo>
                <a:cubicBezTo>
                  <a:pt x="46010" y="56851"/>
                  <a:pt x="49937" y="54632"/>
                  <a:pt x="54162" y="54632"/>
                </a:cubicBezTo>
                <a:cubicBezTo>
                  <a:pt x="58388" y="54632"/>
                  <a:pt x="62314" y="56894"/>
                  <a:pt x="64448" y="60522"/>
                </a:cubicBezTo>
                <a:lnTo>
                  <a:pt x="105081" y="130177"/>
                </a:lnTo>
                <a:cubicBezTo>
                  <a:pt x="107514" y="134360"/>
                  <a:pt x="109050" y="139183"/>
                  <a:pt x="107941" y="143878"/>
                </a:cubicBezTo>
                <a:cubicBezTo>
                  <a:pt x="103331" y="162999"/>
                  <a:pt x="81009" y="177553"/>
                  <a:pt x="54162" y="177553"/>
                </a:cubicBezTo>
                <a:cubicBezTo>
                  <a:pt x="27316" y="177553"/>
                  <a:pt x="4994" y="163042"/>
                  <a:pt x="384" y="14387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5" name="Text 13"/>
          <p:cNvSpPr/>
          <p:nvPr/>
        </p:nvSpPr>
        <p:spPr>
          <a:xfrm>
            <a:off x="4437792" y="2409873"/>
            <a:ext cx="331433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4" kern="0" spc="5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 Price Category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60397" y="2664821"/>
            <a:ext cx="3469120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41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~4.62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33239" y="3174718"/>
            <a:ext cx="3323435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Rating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128948" y="1459883"/>
            <a:ext cx="3693718" cy="2154922"/>
          </a:xfrm>
          <a:custGeom>
            <a:avLst/>
            <a:gdLst/>
            <a:ahLst/>
            <a:cxnLst/>
            <a:rect l="l" t="t" r="r" b="b"/>
            <a:pathLst>
              <a:path w="3693718" h="2154922">
                <a:moveTo>
                  <a:pt x="72836" y="0"/>
                </a:moveTo>
                <a:lnTo>
                  <a:pt x="3620881" y="0"/>
                </a:lnTo>
                <a:cubicBezTo>
                  <a:pt x="3661108" y="0"/>
                  <a:pt x="3693718" y="32610"/>
                  <a:pt x="3693718" y="72836"/>
                </a:cubicBezTo>
                <a:lnTo>
                  <a:pt x="3693718" y="2082085"/>
                </a:lnTo>
                <a:cubicBezTo>
                  <a:pt x="3693718" y="2122312"/>
                  <a:pt x="3661108" y="2154922"/>
                  <a:pt x="3620881" y="2154922"/>
                </a:cubicBezTo>
                <a:lnTo>
                  <a:pt x="72836" y="2154922"/>
                </a:lnTo>
                <a:cubicBezTo>
                  <a:pt x="32610" y="2154922"/>
                  <a:pt x="0" y="2122312"/>
                  <a:pt x="0" y="2082085"/>
                </a:cubicBezTo>
                <a:lnTo>
                  <a:pt x="0" y="72836"/>
                </a:lnTo>
                <a:cubicBezTo>
                  <a:pt x="0" y="32610"/>
                  <a:pt x="32610" y="0"/>
                  <a:pt x="72836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83869" y="1681449"/>
            <a:ext cx="582739" cy="582739"/>
          </a:xfrm>
          <a:custGeom>
            <a:avLst/>
            <a:gdLst/>
            <a:ahLst/>
            <a:cxnLst/>
            <a:rect l="l" t="t" r="r" b="b"/>
            <a:pathLst>
              <a:path w="582739" h="582739">
                <a:moveTo>
                  <a:pt x="291370" y="0"/>
                </a:moveTo>
                <a:lnTo>
                  <a:pt x="291370" y="0"/>
                </a:lnTo>
                <a:cubicBezTo>
                  <a:pt x="452289" y="0"/>
                  <a:pt x="582739" y="130451"/>
                  <a:pt x="582739" y="291370"/>
                </a:cubicBezTo>
                <a:lnTo>
                  <a:pt x="582739" y="291370"/>
                </a:lnTo>
                <a:cubicBezTo>
                  <a:pt x="582739" y="452289"/>
                  <a:pt x="452289" y="582739"/>
                  <a:pt x="291370" y="582739"/>
                </a:cubicBezTo>
                <a:lnTo>
                  <a:pt x="291370" y="582739"/>
                </a:lnTo>
                <a:cubicBezTo>
                  <a:pt x="130451" y="582739"/>
                  <a:pt x="0" y="452289"/>
                  <a:pt x="0" y="291370"/>
                </a:cubicBezTo>
                <a:lnTo>
                  <a:pt x="0" y="291370"/>
                </a:lnTo>
                <a:cubicBezTo>
                  <a:pt x="0" y="130451"/>
                  <a:pt x="130451" y="0"/>
                  <a:pt x="29137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9865975" y="1863555"/>
            <a:ext cx="218527" cy="218527"/>
          </a:xfrm>
          <a:custGeom>
            <a:avLst/>
            <a:gdLst/>
            <a:ahLst/>
            <a:cxnLst/>
            <a:rect l="l" t="t" r="r" b="b"/>
            <a:pathLst>
              <a:path w="218527" h="218527">
                <a:moveTo>
                  <a:pt x="49809" y="14426"/>
                </a:moveTo>
                <a:cubicBezTo>
                  <a:pt x="51729" y="11823"/>
                  <a:pt x="54803" y="10243"/>
                  <a:pt x="58046" y="10243"/>
                </a:cubicBezTo>
                <a:lnTo>
                  <a:pt x="160481" y="10243"/>
                </a:lnTo>
                <a:cubicBezTo>
                  <a:pt x="163725" y="10243"/>
                  <a:pt x="166798" y="11780"/>
                  <a:pt x="168718" y="14426"/>
                </a:cubicBezTo>
                <a:lnTo>
                  <a:pt x="216521" y="79301"/>
                </a:lnTo>
                <a:cubicBezTo>
                  <a:pt x="219424" y="83228"/>
                  <a:pt x="219125" y="88649"/>
                  <a:pt x="215881" y="92277"/>
                </a:cubicBezTo>
                <a:lnTo>
                  <a:pt x="116861" y="201540"/>
                </a:lnTo>
                <a:cubicBezTo>
                  <a:pt x="114940" y="203674"/>
                  <a:pt x="112166" y="204912"/>
                  <a:pt x="109264" y="204912"/>
                </a:cubicBezTo>
                <a:cubicBezTo>
                  <a:pt x="106361" y="204912"/>
                  <a:pt x="103630" y="203674"/>
                  <a:pt x="101666" y="201540"/>
                </a:cubicBezTo>
                <a:lnTo>
                  <a:pt x="2646" y="92277"/>
                </a:lnTo>
                <a:cubicBezTo>
                  <a:pt x="-640" y="88649"/>
                  <a:pt x="-896" y="83228"/>
                  <a:pt x="2006" y="79301"/>
                </a:cubicBezTo>
                <a:lnTo>
                  <a:pt x="49809" y="14426"/>
                </a:lnTo>
                <a:close/>
                <a:moveTo>
                  <a:pt x="66241" y="31413"/>
                </a:moveTo>
                <a:cubicBezTo>
                  <a:pt x="64833" y="32480"/>
                  <a:pt x="64448" y="34401"/>
                  <a:pt x="65345" y="35895"/>
                </a:cubicBezTo>
                <a:lnTo>
                  <a:pt x="89844" y="76741"/>
                </a:lnTo>
                <a:lnTo>
                  <a:pt x="27017" y="81948"/>
                </a:lnTo>
                <a:cubicBezTo>
                  <a:pt x="25267" y="82076"/>
                  <a:pt x="23901" y="83570"/>
                  <a:pt x="23901" y="85362"/>
                </a:cubicBezTo>
                <a:cubicBezTo>
                  <a:pt x="23901" y="87155"/>
                  <a:pt x="25267" y="88606"/>
                  <a:pt x="27017" y="88777"/>
                </a:cubicBezTo>
                <a:lnTo>
                  <a:pt x="108965" y="95606"/>
                </a:lnTo>
                <a:cubicBezTo>
                  <a:pt x="109136" y="95606"/>
                  <a:pt x="109349" y="95606"/>
                  <a:pt x="109520" y="95606"/>
                </a:cubicBezTo>
                <a:lnTo>
                  <a:pt x="191467" y="88777"/>
                </a:lnTo>
                <a:cubicBezTo>
                  <a:pt x="193217" y="88649"/>
                  <a:pt x="194583" y="87155"/>
                  <a:pt x="194583" y="85362"/>
                </a:cubicBezTo>
                <a:cubicBezTo>
                  <a:pt x="194583" y="83570"/>
                  <a:pt x="193217" y="82118"/>
                  <a:pt x="191467" y="81948"/>
                </a:cubicBezTo>
                <a:lnTo>
                  <a:pt x="128641" y="76698"/>
                </a:lnTo>
                <a:lnTo>
                  <a:pt x="153140" y="35895"/>
                </a:lnTo>
                <a:cubicBezTo>
                  <a:pt x="154036" y="34401"/>
                  <a:pt x="153652" y="32438"/>
                  <a:pt x="152244" y="31413"/>
                </a:cubicBezTo>
                <a:cubicBezTo>
                  <a:pt x="150835" y="30389"/>
                  <a:pt x="148872" y="30560"/>
                  <a:pt x="147677" y="31840"/>
                </a:cubicBezTo>
                <a:lnTo>
                  <a:pt x="109264" y="73497"/>
                </a:lnTo>
                <a:lnTo>
                  <a:pt x="70808" y="31840"/>
                </a:lnTo>
                <a:cubicBezTo>
                  <a:pt x="69613" y="30560"/>
                  <a:pt x="67650" y="30389"/>
                  <a:pt x="66241" y="31413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1" name="Text 19"/>
          <p:cNvSpPr/>
          <p:nvPr/>
        </p:nvSpPr>
        <p:spPr>
          <a:xfrm>
            <a:off x="8318642" y="2409873"/>
            <a:ext cx="331433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4" kern="0" spc="5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Price Category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241247" y="2664821"/>
            <a:ext cx="3469120" cy="4370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3441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~4.76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14090" y="3174718"/>
            <a:ext cx="3323435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47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Rating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67247" y="3747567"/>
            <a:ext cx="5633147" cy="3056347"/>
          </a:xfrm>
          <a:custGeom>
            <a:avLst/>
            <a:gdLst/>
            <a:ahLst/>
            <a:cxnLst/>
            <a:rect l="l" t="t" r="r" b="b"/>
            <a:pathLst>
              <a:path w="5633147" h="3056347">
                <a:moveTo>
                  <a:pt x="72833" y="0"/>
                </a:moveTo>
                <a:lnTo>
                  <a:pt x="5560314" y="0"/>
                </a:lnTo>
                <a:cubicBezTo>
                  <a:pt x="5600539" y="0"/>
                  <a:pt x="5633147" y="32608"/>
                  <a:pt x="5633147" y="72833"/>
                </a:cubicBezTo>
                <a:lnTo>
                  <a:pt x="5633147" y="2983514"/>
                </a:lnTo>
                <a:cubicBezTo>
                  <a:pt x="5633147" y="3023738"/>
                  <a:pt x="5600539" y="3056347"/>
                  <a:pt x="5560314" y="3056347"/>
                </a:cubicBezTo>
                <a:lnTo>
                  <a:pt x="72833" y="3056347"/>
                </a:lnTo>
                <a:cubicBezTo>
                  <a:pt x="32608" y="3056347"/>
                  <a:pt x="0" y="3023738"/>
                  <a:pt x="0" y="2983514"/>
                </a:cubicBezTo>
                <a:lnTo>
                  <a:pt x="0" y="72833"/>
                </a:lnTo>
                <a:cubicBezTo>
                  <a:pt x="0" y="32635"/>
                  <a:pt x="32635" y="0"/>
                  <a:pt x="72833" y="0"/>
                </a:cubicBezTo>
                <a:close/>
              </a:path>
            </a:pathLst>
          </a:custGeom>
          <a:solidFill>
            <a:srgbClr val="1A1D21"/>
          </a:solidFill>
          <a:ln w="8467">
            <a:solidFill>
              <a:srgbClr val="4A5568">
                <a:alpha val="4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0191" y="4334124"/>
            <a:ext cx="204869" cy="182106"/>
          </a:xfrm>
          <a:custGeom>
            <a:avLst/>
            <a:gdLst/>
            <a:ahLst/>
            <a:cxnLst/>
            <a:rect l="l" t="t" r="r" b="b"/>
            <a:pathLst>
              <a:path w="204869" h="182106">
                <a:moveTo>
                  <a:pt x="102435" y="11382"/>
                </a:moveTo>
                <a:cubicBezTo>
                  <a:pt x="73696" y="11382"/>
                  <a:pt x="50684" y="24471"/>
                  <a:pt x="33931" y="40049"/>
                </a:cubicBezTo>
                <a:cubicBezTo>
                  <a:pt x="17286" y="55521"/>
                  <a:pt x="6153" y="73981"/>
                  <a:pt x="854" y="86678"/>
                </a:cubicBezTo>
                <a:cubicBezTo>
                  <a:pt x="-320" y="89488"/>
                  <a:pt x="-320" y="92618"/>
                  <a:pt x="854" y="95428"/>
                </a:cubicBezTo>
                <a:cubicBezTo>
                  <a:pt x="6153" y="108125"/>
                  <a:pt x="17286" y="126621"/>
                  <a:pt x="33931" y="142057"/>
                </a:cubicBezTo>
                <a:cubicBezTo>
                  <a:pt x="50684" y="157600"/>
                  <a:pt x="73696" y="170724"/>
                  <a:pt x="102435" y="170724"/>
                </a:cubicBezTo>
                <a:cubicBezTo>
                  <a:pt x="131173" y="170724"/>
                  <a:pt x="154185" y="157636"/>
                  <a:pt x="170938" y="142057"/>
                </a:cubicBezTo>
                <a:cubicBezTo>
                  <a:pt x="187583" y="126585"/>
                  <a:pt x="198716" y="108125"/>
                  <a:pt x="204016" y="95428"/>
                </a:cubicBezTo>
                <a:cubicBezTo>
                  <a:pt x="205189" y="92618"/>
                  <a:pt x="205189" y="89488"/>
                  <a:pt x="204016" y="86678"/>
                </a:cubicBezTo>
                <a:cubicBezTo>
                  <a:pt x="198716" y="73981"/>
                  <a:pt x="187583" y="55485"/>
                  <a:pt x="170938" y="40049"/>
                </a:cubicBezTo>
                <a:cubicBezTo>
                  <a:pt x="154185" y="24506"/>
                  <a:pt x="131173" y="11382"/>
                  <a:pt x="102435" y="11382"/>
                </a:cubicBezTo>
                <a:close/>
                <a:moveTo>
                  <a:pt x="51217" y="91053"/>
                </a:moveTo>
                <a:cubicBezTo>
                  <a:pt x="51217" y="62785"/>
                  <a:pt x="74167" y="39836"/>
                  <a:pt x="102435" y="39836"/>
                </a:cubicBezTo>
                <a:cubicBezTo>
                  <a:pt x="130702" y="39836"/>
                  <a:pt x="153652" y="62785"/>
                  <a:pt x="153652" y="91053"/>
                </a:cubicBezTo>
                <a:cubicBezTo>
                  <a:pt x="153652" y="119321"/>
                  <a:pt x="130702" y="142270"/>
                  <a:pt x="102435" y="142270"/>
                </a:cubicBezTo>
                <a:cubicBezTo>
                  <a:pt x="74167" y="142270"/>
                  <a:pt x="51217" y="119321"/>
                  <a:pt x="51217" y="91053"/>
                </a:cubicBezTo>
                <a:close/>
                <a:moveTo>
                  <a:pt x="102435" y="68290"/>
                </a:moveTo>
                <a:cubicBezTo>
                  <a:pt x="102435" y="80845"/>
                  <a:pt x="92227" y="91053"/>
                  <a:pt x="79671" y="91053"/>
                </a:cubicBezTo>
                <a:cubicBezTo>
                  <a:pt x="75581" y="91053"/>
                  <a:pt x="71740" y="89986"/>
                  <a:pt x="68396" y="88065"/>
                </a:cubicBezTo>
                <a:cubicBezTo>
                  <a:pt x="68041" y="91942"/>
                  <a:pt x="68361" y="95926"/>
                  <a:pt x="69428" y="99874"/>
                </a:cubicBezTo>
                <a:cubicBezTo>
                  <a:pt x="74301" y="118084"/>
                  <a:pt x="93045" y="128897"/>
                  <a:pt x="111255" y="124024"/>
                </a:cubicBezTo>
                <a:cubicBezTo>
                  <a:pt x="129466" y="119151"/>
                  <a:pt x="140279" y="100407"/>
                  <a:pt x="135406" y="82197"/>
                </a:cubicBezTo>
                <a:cubicBezTo>
                  <a:pt x="131067" y="65942"/>
                  <a:pt x="115666" y="55592"/>
                  <a:pt x="99447" y="57015"/>
                </a:cubicBezTo>
                <a:cubicBezTo>
                  <a:pt x="101332" y="60323"/>
                  <a:pt x="102435" y="64164"/>
                  <a:pt x="102435" y="6829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Text 24"/>
          <p:cNvSpPr/>
          <p:nvPr/>
        </p:nvSpPr>
        <p:spPr>
          <a:xfrm>
            <a:off x="925706" y="4297703"/>
            <a:ext cx="1411322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88810" y="4698336"/>
            <a:ext cx="5271970" cy="53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1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Differences in average ratings across price categories are </a:t>
            </a:r>
            <a:r>
              <a:rPr lang="en-US" sz="1291" b="1" dirty="0" smtClean="0">
                <a:solidFill>
                  <a:srgbClr val="38B2AC"/>
                </a:solidFill>
                <a:highlight>
                  <a:srgbClr val="38B2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minimal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88810" y="5376681"/>
            <a:ext cx="5190022" cy="983373"/>
          </a:xfrm>
          <a:custGeom>
            <a:avLst/>
            <a:gdLst/>
            <a:ahLst/>
            <a:cxnLst/>
            <a:rect l="l" t="t" r="r" b="b"/>
            <a:pathLst>
              <a:path w="5190022" h="983373">
                <a:moveTo>
                  <a:pt x="72838" y="0"/>
                </a:moveTo>
                <a:lnTo>
                  <a:pt x="5117184" y="0"/>
                </a:lnTo>
                <a:cubicBezTo>
                  <a:pt x="5157412" y="0"/>
                  <a:pt x="5190022" y="32611"/>
                  <a:pt x="5190022" y="72838"/>
                </a:cubicBezTo>
                <a:lnTo>
                  <a:pt x="5190022" y="910534"/>
                </a:lnTo>
                <a:cubicBezTo>
                  <a:pt x="5190022" y="950762"/>
                  <a:pt x="5157412" y="983373"/>
                  <a:pt x="5117184" y="983373"/>
                </a:cubicBezTo>
                <a:lnTo>
                  <a:pt x="72838" y="983373"/>
                </a:lnTo>
                <a:cubicBezTo>
                  <a:pt x="32611" y="983373"/>
                  <a:pt x="0" y="950762"/>
                  <a:pt x="0" y="910534"/>
                </a:cubicBezTo>
                <a:lnTo>
                  <a:pt x="0" y="72838"/>
                </a:lnTo>
                <a:cubicBezTo>
                  <a:pt x="0" y="32638"/>
                  <a:pt x="32638" y="0"/>
                  <a:pt x="72838" y="0"/>
                </a:cubicBezTo>
                <a:close/>
              </a:path>
            </a:pathLst>
          </a:custGeom>
          <a:solidFill>
            <a:srgbClr val="2A4B5A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34494" y="5540577"/>
            <a:ext cx="919636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E2E8F0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Rating Range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858532" y="5522366"/>
            <a:ext cx="855898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91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4.62 - 4.76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734494" y="5850157"/>
            <a:ext cx="4898653" cy="109264"/>
          </a:xfrm>
          <a:custGeom>
            <a:avLst/>
            <a:gdLst/>
            <a:ahLst/>
            <a:cxnLst/>
            <a:rect l="l" t="t" r="r" b="b"/>
            <a:pathLst>
              <a:path w="4898653" h="109264">
                <a:moveTo>
                  <a:pt x="54632" y="0"/>
                </a:moveTo>
                <a:lnTo>
                  <a:pt x="4844021" y="0"/>
                </a:lnTo>
                <a:cubicBezTo>
                  <a:pt x="4874193" y="0"/>
                  <a:pt x="4898653" y="24459"/>
                  <a:pt x="4898653" y="54632"/>
                </a:cubicBezTo>
                <a:lnTo>
                  <a:pt x="4898653" y="54632"/>
                </a:lnTo>
                <a:cubicBezTo>
                  <a:pt x="4898653" y="84804"/>
                  <a:pt x="4874193" y="109264"/>
                  <a:pt x="4844021" y="109264"/>
                </a:cubicBezTo>
                <a:lnTo>
                  <a:pt x="54632" y="109264"/>
                </a:lnTo>
                <a:cubicBezTo>
                  <a:pt x="24480" y="109264"/>
                  <a:pt x="0" y="84784"/>
                  <a:pt x="0" y="54632"/>
                </a:cubicBezTo>
                <a:lnTo>
                  <a:pt x="0" y="54632"/>
                </a:lnTo>
                <a:cubicBezTo>
                  <a:pt x="0" y="24480"/>
                  <a:pt x="24480" y="0"/>
                  <a:pt x="54632" y="0"/>
                </a:cubicBezTo>
                <a:close/>
              </a:path>
            </a:pathLst>
          </a:custGeom>
          <a:solidFill>
            <a:srgbClr val="4A5568">
              <a:alpha val="30196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34494" y="5850157"/>
            <a:ext cx="682898" cy="109264"/>
          </a:xfrm>
          <a:custGeom>
            <a:avLst/>
            <a:gdLst/>
            <a:ahLst/>
            <a:cxnLst/>
            <a:rect l="l" t="t" r="r" b="b"/>
            <a:pathLst>
              <a:path w="682898" h="109264">
                <a:moveTo>
                  <a:pt x="54632" y="0"/>
                </a:moveTo>
                <a:lnTo>
                  <a:pt x="628266" y="0"/>
                </a:lnTo>
                <a:cubicBezTo>
                  <a:pt x="658438" y="0"/>
                  <a:pt x="682898" y="24459"/>
                  <a:pt x="682898" y="54632"/>
                </a:cubicBezTo>
                <a:lnTo>
                  <a:pt x="682898" y="54632"/>
                </a:lnTo>
                <a:cubicBezTo>
                  <a:pt x="682898" y="84804"/>
                  <a:pt x="658438" y="109264"/>
                  <a:pt x="628266" y="109264"/>
                </a:cubicBezTo>
                <a:lnTo>
                  <a:pt x="54632" y="109264"/>
                </a:lnTo>
                <a:cubicBezTo>
                  <a:pt x="24480" y="109264"/>
                  <a:pt x="0" y="84784"/>
                  <a:pt x="0" y="54632"/>
                </a:cubicBezTo>
                <a:lnTo>
                  <a:pt x="0" y="54632"/>
                </a:lnTo>
                <a:cubicBezTo>
                  <a:pt x="0" y="24480"/>
                  <a:pt x="24480" y="0"/>
                  <a:pt x="54632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/>
              </a:gs>
              <a:gs pos="100000">
                <a:srgbClr val="38B2AC">
                  <a:alpha val="60000"/>
                </a:srgbClr>
              </a:gs>
            </a:gsLst>
            <a:lin ang="0" scaled="1"/>
          </a:gradFill>
          <a:ln/>
        </p:spPr>
      </p:sp>
      <p:sp>
        <p:nvSpPr>
          <p:cNvPr id="33" name="Text 31"/>
          <p:cNvSpPr/>
          <p:nvPr/>
        </p:nvSpPr>
        <p:spPr>
          <a:xfrm>
            <a:off x="702626" y="6032263"/>
            <a:ext cx="4962390" cy="1821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04" dirty="0">
                <a:solidFill>
                  <a:srgbClr val="E2E8F0">
                    <a:alpha val="6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0.14 point difference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88571" y="3747567"/>
            <a:ext cx="5633147" cy="3056347"/>
          </a:xfrm>
          <a:custGeom>
            <a:avLst/>
            <a:gdLst/>
            <a:ahLst/>
            <a:cxnLst/>
            <a:rect l="l" t="t" r="r" b="b"/>
            <a:pathLst>
              <a:path w="5633147" h="3056347">
                <a:moveTo>
                  <a:pt x="72833" y="0"/>
                </a:moveTo>
                <a:lnTo>
                  <a:pt x="5560314" y="0"/>
                </a:lnTo>
                <a:cubicBezTo>
                  <a:pt x="5600539" y="0"/>
                  <a:pt x="5633147" y="32608"/>
                  <a:pt x="5633147" y="72833"/>
                </a:cubicBezTo>
                <a:lnTo>
                  <a:pt x="5633147" y="2983514"/>
                </a:lnTo>
                <a:cubicBezTo>
                  <a:pt x="5633147" y="3023738"/>
                  <a:pt x="5600539" y="3056347"/>
                  <a:pt x="5560314" y="3056347"/>
                </a:cubicBezTo>
                <a:lnTo>
                  <a:pt x="72833" y="3056347"/>
                </a:lnTo>
                <a:cubicBezTo>
                  <a:pt x="32608" y="3056347"/>
                  <a:pt x="0" y="3023738"/>
                  <a:pt x="0" y="2983514"/>
                </a:cubicBezTo>
                <a:lnTo>
                  <a:pt x="0" y="72833"/>
                </a:lnTo>
                <a:cubicBezTo>
                  <a:pt x="0" y="32635"/>
                  <a:pt x="32635" y="0"/>
                  <a:pt x="72833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15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2896" y="4060965"/>
            <a:ext cx="182106" cy="182106"/>
          </a:xfrm>
          <a:custGeom>
            <a:avLst/>
            <a:gdLst/>
            <a:ahLst/>
            <a:cxnLst/>
            <a:rect l="l" t="t" r="r" b="b"/>
            <a:pathLst>
              <a:path w="182106" h="182106">
                <a:moveTo>
                  <a:pt x="22763" y="22763"/>
                </a:moveTo>
                <a:cubicBezTo>
                  <a:pt x="22763" y="16468"/>
                  <a:pt x="17677" y="11382"/>
                  <a:pt x="11382" y="11382"/>
                </a:cubicBezTo>
                <a:cubicBezTo>
                  <a:pt x="5086" y="11382"/>
                  <a:pt x="0" y="16468"/>
                  <a:pt x="0" y="22763"/>
                </a:cubicBezTo>
                <a:lnTo>
                  <a:pt x="0" y="142270"/>
                </a:lnTo>
                <a:cubicBezTo>
                  <a:pt x="0" y="157991"/>
                  <a:pt x="12733" y="170724"/>
                  <a:pt x="28454" y="170724"/>
                </a:cubicBezTo>
                <a:lnTo>
                  <a:pt x="170724" y="170724"/>
                </a:lnTo>
                <a:cubicBezTo>
                  <a:pt x="177020" y="170724"/>
                  <a:pt x="182106" y="165638"/>
                  <a:pt x="182106" y="159343"/>
                </a:cubicBezTo>
                <a:cubicBezTo>
                  <a:pt x="182106" y="153047"/>
                  <a:pt x="177020" y="147961"/>
                  <a:pt x="170724" y="147961"/>
                </a:cubicBezTo>
                <a:lnTo>
                  <a:pt x="28454" y="147961"/>
                </a:lnTo>
                <a:cubicBezTo>
                  <a:pt x="25324" y="147961"/>
                  <a:pt x="22763" y="145400"/>
                  <a:pt x="22763" y="142270"/>
                </a:cubicBezTo>
                <a:lnTo>
                  <a:pt x="22763" y="22763"/>
                </a:lnTo>
                <a:close/>
                <a:moveTo>
                  <a:pt x="167381" y="53565"/>
                </a:moveTo>
                <a:cubicBezTo>
                  <a:pt x="171827" y="49119"/>
                  <a:pt x="171827" y="41899"/>
                  <a:pt x="167381" y="37453"/>
                </a:cubicBezTo>
                <a:cubicBezTo>
                  <a:pt x="162935" y="33007"/>
                  <a:pt x="155715" y="33007"/>
                  <a:pt x="151269" y="37453"/>
                </a:cubicBezTo>
                <a:lnTo>
                  <a:pt x="113816" y="74941"/>
                </a:lnTo>
                <a:lnTo>
                  <a:pt x="93400" y="54561"/>
                </a:lnTo>
                <a:cubicBezTo>
                  <a:pt x="88955" y="50115"/>
                  <a:pt x="81734" y="50115"/>
                  <a:pt x="77288" y="54561"/>
                </a:cubicBezTo>
                <a:lnTo>
                  <a:pt x="43143" y="88706"/>
                </a:lnTo>
                <a:cubicBezTo>
                  <a:pt x="38698" y="93152"/>
                  <a:pt x="38698" y="100372"/>
                  <a:pt x="43143" y="104818"/>
                </a:cubicBezTo>
                <a:cubicBezTo>
                  <a:pt x="47589" y="109264"/>
                  <a:pt x="54810" y="109264"/>
                  <a:pt x="59256" y="104818"/>
                </a:cubicBezTo>
                <a:lnTo>
                  <a:pt x="85362" y="78711"/>
                </a:lnTo>
                <a:lnTo>
                  <a:pt x="105778" y="99127"/>
                </a:lnTo>
                <a:cubicBezTo>
                  <a:pt x="110224" y="103573"/>
                  <a:pt x="117444" y="103573"/>
                  <a:pt x="121890" y="99127"/>
                </a:cubicBezTo>
                <a:lnTo>
                  <a:pt x="167417" y="5360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6" name="Text 34"/>
          <p:cNvSpPr/>
          <p:nvPr/>
        </p:nvSpPr>
        <p:spPr>
          <a:xfrm>
            <a:off x="6747029" y="4024544"/>
            <a:ext cx="2021377" cy="254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34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Statistical Interpretation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410133" y="4425177"/>
            <a:ext cx="5271970" cy="5372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91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strong variation</a:t>
            </a:r>
            <a:r>
              <a:rPr lang="en-US" sz="1291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indicates a weak relationship between price and rating.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10133" y="5103522"/>
            <a:ext cx="5190022" cy="437055"/>
          </a:xfrm>
          <a:custGeom>
            <a:avLst/>
            <a:gdLst/>
            <a:ahLst/>
            <a:cxnLst/>
            <a:rect l="l" t="t" r="r" b="b"/>
            <a:pathLst>
              <a:path w="5190022" h="437055">
                <a:moveTo>
                  <a:pt x="36420" y="0"/>
                </a:moveTo>
                <a:lnTo>
                  <a:pt x="5153603" y="0"/>
                </a:lnTo>
                <a:cubicBezTo>
                  <a:pt x="5173717" y="0"/>
                  <a:pt x="5190022" y="16306"/>
                  <a:pt x="5190022" y="36420"/>
                </a:cubicBezTo>
                <a:lnTo>
                  <a:pt x="5190022" y="400635"/>
                </a:lnTo>
                <a:cubicBezTo>
                  <a:pt x="5190022" y="420749"/>
                  <a:pt x="5173717" y="437055"/>
                  <a:pt x="5153603" y="437055"/>
                </a:cubicBezTo>
                <a:lnTo>
                  <a:pt x="36420" y="437055"/>
                </a:lnTo>
                <a:cubicBezTo>
                  <a:pt x="16306" y="437055"/>
                  <a:pt x="0" y="420749"/>
                  <a:pt x="0" y="400635"/>
                </a:cubicBezTo>
                <a:lnTo>
                  <a:pt x="0" y="36420"/>
                </a:lnTo>
                <a:cubicBezTo>
                  <a:pt x="0" y="16306"/>
                  <a:pt x="16306" y="0"/>
                  <a:pt x="364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537607" y="5249207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96858" y="60522"/>
                </a:moveTo>
                <a:lnTo>
                  <a:pt x="74094" y="96943"/>
                </a:lnTo>
                <a:cubicBezTo>
                  <a:pt x="72899" y="98849"/>
                  <a:pt x="70851" y="100045"/>
                  <a:pt x="68603" y="100158"/>
                </a:cubicBezTo>
                <a:cubicBezTo>
                  <a:pt x="66355" y="100272"/>
                  <a:pt x="64192" y="99248"/>
                  <a:pt x="62855" y="97427"/>
                </a:cubicBezTo>
                <a:lnTo>
                  <a:pt x="49197" y="79216"/>
                </a:lnTo>
                <a:cubicBezTo>
                  <a:pt x="46921" y="76200"/>
                  <a:pt x="47547" y="71932"/>
                  <a:pt x="50563" y="69656"/>
                </a:cubicBezTo>
                <a:cubicBezTo>
                  <a:pt x="53579" y="67379"/>
                  <a:pt x="57847" y="68005"/>
                  <a:pt x="60123" y="71021"/>
                </a:cubicBezTo>
                <a:lnTo>
                  <a:pt x="67806" y="81265"/>
                </a:lnTo>
                <a:lnTo>
                  <a:pt x="85277" y="53294"/>
                </a:lnTo>
                <a:cubicBezTo>
                  <a:pt x="87269" y="50108"/>
                  <a:pt x="91480" y="49112"/>
                  <a:pt x="94695" y="51132"/>
                </a:cubicBezTo>
                <a:cubicBezTo>
                  <a:pt x="97910" y="53152"/>
                  <a:pt x="98878" y="57335"/>
                  <a:pt x="96858" y="605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0" name="Text 38"/>
          <p:cNvSpPr/>
          <p:nvPr/>
        </p:nvSpPr>
        <p:spPr>
          <a:xfrm>
            <a:off x="6810766" y="5212786"/>
            <a:ext cx="1447743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Ratings remain stable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410133" y="5649840"/>
            <a:ext cx="5190022" cy="437055"/>
          </a:xfrm>
          <a:custGeom>
            <a:avLst/>
            <a:gdLst/>
            <a:ahLst/>
            <a:cxnLst/>
            <a:rect l="l" t="t" r="r" b="b"/>
            <a:pathLst>
              <a:path w="5190022" h="437055">
                <a:moveTo>
                  <a:pt x="36420" y="0"/>
                </a:moveTo>
                <a:lnTo>
                  <a:pt x="5153603" y="0"/>
                </a:lnTo>
                <a:cubicBezTo>
                  <a:pt x="5173717" y="0"/>
                  <a:pt x="5190022" y="16306"/>
                  <a:pt x="5190022" y="36420"/>
                </a:cubicBezTo>
                <a:lnTo>
                  <a:pt x="5190022" y="400635"/>
                </a:lnTo>
                <a:cubicBezTo>
                  <a:pt x="5190022" y="420749"/>
                  <a:pt x="5173717" y="437055"/>
                  <a:pt x="5153603" y="437055"/>
                </a:cubicBezTo>
                <a:lnTo>
                  <a:pt x="36420" y="437055"/>
                </a:lnTo>
                <a:cubicBezTo>
                  <a:pt x="16306" y="437055"/>
                  <a:pt x="0" y="420749"/>
                  <a:pt x="0" y="400635"/>
                </a:cubicBezTo>
                <a:lnTo>
                  <a:pt x="0" y="36420"/>
                </a:lnTo>
                <a:cubicBezTo>
                  <a:pt x="0" y="16306"/>
                  <a:pt x="16306" y="0"/>
                  <a:pt x="364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6537607" y="5795525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96858" y="60522"/>
                </a:moveTo>
                <a:lnTo>
                  <a:pt x="74094" y="96943"/>
                </a:lnTo>
                <a:cubicBezTo>
                  <a:pt x="72899" y="98849"/>
                  <a:pt x="70851" y="100045"/>
                  <a:pt x="68603" y="100158"/>
                </a:cubicBezTo>
                <a:cubicBezTo>
                  <a:pt x="66355" y="100272"/>
                  <a:pt x="64192" y="99248"/>
                  <a:pt x="62855" y="97427"/>
                </a:cubicBezTo>
                <a:lnTo>
                  <a:pt x="49197" y="79216"/>
                </a:lnTo>
                <a:cubicBezTo>
                  <a:pt x="46921" y="76200"/>
                  <a:pt x="47547" y="71932"/>
                  <a:pt x="50563" y="69656"/>
                </a:cubicBezTo>
                <a:cubicBezTo>
                  <a:pt x="53579" y="67379"/>
                  <a:pt x="57847" y="68005"/>
                  <a:pt x="60123" y="71021"/>
                </a:cubicBezTo>
                <a:lnTo>
                  <a:pt x="67806" y="81265"/>
                </a:lnTo>
                <a:lnTo>
                  <a:pt x="85277" y="53294"/>
                </a:lnTo>
                <a:cubicBezTo>
                  <a:pt x="87269" y="50108"/>
                  <a:pt x="91480" y="49112"/>
                  <a:pt x="94695" y="51132"/>
                </a:cubicBezTo>
                <a:cubicBezTo>
                  <a:pt x="97910" y="53152"/>
                  <a:pt x="98878" y="57335"/>
                  <a:pt x="96858" y="605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3" name="Text 41"/>
          <p:cNvSpPr/>
          <p:nvPr/>
        </p:nvSpPr>
        <p:spPr>
          <a:xfrm>
            <a:off x="6810766" y="5759104"/>
            <a:ext cx="1493270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is not a predictor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6410133" y="6196158"/>
            <a:ext cx="5190022" cy="437055"/>
          </a:xfrm>
          <a:custGeom>
            <a:avLst/>
            <a:gdLst/>
            <a:ahLst/>
            <a:cxnLst/>
            <a:rect l="l" t="t" r="r" b="b"/>
            <a:pathLst>
              <a:path w="5190022" h="437055">
                <a:moveTo>
                  <a:pt x="36420" y="0"/>
                </a:moveTo>
                <a:lnTo>
                  <a:pt x="5153603" y="0"/>
                </a:lnTo>
                <a:cubicBezTo>
                  <a:pt x="5173717" y="0"/>
                  <a:pt x="5190022" y="16306"/>
                  <a:pt x="5190022" y="36420"/>
                </a:cubicBezTo>
                <a:lnTo>
                  <a:pt x="5190022" y="400635"/>
                </a:lnTo>
                <a:cubicBezTo>
                  <a:pt x="5190022" y="420749"/>
                  <a:pt x="5173717" y="437055"/>
                  <a:pt x="5153603" y="437055"/>
                </a:cubicBezTo>
                <a:lnTo>
                  <a:pt x="36420" y="437055"/>
                </a:lnTo>
                <a:cubicBezTo>
                  <a:pt x="16306" y="437055"/>
                  <a:pt x="0" y="420749"/>
                  <a:pt x="0" y="400635"/>
                </a:cubicBezTo>
                <a:lnTo>
                  <a:pt x="0" y="36420"/>
                </a:lnTo>
                <a:cubicBezTo>
                  <a:pt x="0" y="16306"/>
                  <a:pt x="16306" y="0"/>
                  <a:pt x="3642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537607" y="6341843"/>
            <a:ext cx="145685" cy="145685"/>
          </a:xfrm>
          <a:custGeom>
            <a:avLst/>
            <a:gdLst/>
            <a:ahLst/>
            <a:cxnLst/>
            <a:rect l="l" t="t" r="r" b="b"/>
            <a:pathLst>
              <a:path w="145685" h="145685">
                <a:moveTo>
                  <a:pt x="72842" y="145685"/>
                </a:moveTo>
                <a:cubicBezTo>
                  <a:pt x="113045" y="145685"/>
                  <a:pt x="145685" y="113045"/>
                  <a:pt x="145685" y="72842"/>
                </a:cubicBezTo>
                <a:cubicBezTo>
                  <a:pt x="145685" y="32640"/>
                  <a:pt x="113045" y="0"/>
                  <a:pt x="72842" y="0"/>
                </a:cubicBezTo>
                <a:cubicBezTo>
                  <a:pt x="32640" y="0"/>
                  <a:pt x="0" y="32640"/>
                  <a:pt x="0" y="72842"/>
                </a:cubicBezTo>
                <a:cubicBezTo>
                  <a:pt x="0" y="113045"/>
                  <a:pt x="32640" y="145685"/>
                  <a:pt x="72842" y="145685"/>
                </a:cubicBezTo>
                <a:close/>
                <a:moveTo>
                  <a:pt x="96858" y="60522"/>
                </a:moveTo>
                <a:lnTo>
                  <a:pt x="74094" y="96943"/>
                </a:lnTo>
                <a:cubicBezTo>
                  <a:pt x="72899" y="98849"/>
                  <a:pt x="70851" y="100045"/>
                  <a:pt x="68603" y="100158"/>
                </a:cubicBezTo>
                <a:cubicBezTo>
                  <a:pt x="66355" y="100272"/>
                  <a:pt x="64192" y="99248"/>
                  <a:pt x="62855" y="97427"/>
                </a:cubicBezTo>
                <a:lnTo>
                  <a:pt x="49197" y="79216"/>
                </a:lnTo>
                <a:cubicBezTo>
                  <a:pt x="46921" y="76200"/>
                  <a:pt x="47547" y="71932"/>
                  <a:pt x="50563" y="69656"/>
                </a:cubicBezTo>
                <a:cubicBezTo>
                  <a:pt x="53579" y="67379"/>
                  <a:pt x="57847" y="68005"/>
                  <a:pt x="60123" y="71021"/>
                </a:cubicBezTo>
                <a:lnTo>
                  <a:pt x="67806" y="81265"/>
                </a:lnTo>
                <a:lnTo>
                  <a:pt x="85277" y="53294"/>
                </a:lnTo>
                <a:cubicBezTo>
                  <a:pt x="87269" y="50108"/>
                  <a:pt x="91480" y="49112"/>
                  <a:pt x="94695" y="51132"/>
                </a:cubicBezTo>
                <a:cubicBezTo>
                  <a:pt x="97910" y="53152"/>
                  <a:pt x="98878" y="57335"/>
                  <a:pt x="96858" y="6055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6" name="Text 44"/>
          <p:cNvSpPr/>
          <p:nvPr/>
        </p:nvSpPr>
        <p:spPr>
          <a:xfrm>
            <a:off x="6810766" y="6305422"/>
            <a:ext cx="1557007" cy="2185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47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factors dominate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8928" y="378928"/>
            <a:ext cx="378928" cy="378928"/>
          </a:xfrm>
          <a:custGeom>
            <a:avLst/>
            <a:gdLst/>
            <a:ahLst/>
            <a:cxnLst/>
            <a:rect l="l" t="t" r="r" b="b"/>
            <a:pathLst>
              <a:path w="378928" h="378928">
                <a:moveTo>
                  <a:pt x="75786" y="0"/>
                </a:moveTo>
                <a:lnTo>
                  <a:pt x="303142" y="0"/>
                </a:lnTo>
                <a:cubicBezTo>
                  <a:pt x="344997" y="0"/>
                  <a:pt x="378928" y="33930"/>
                  <a:pt x="378928" y="75786"/>
                </a:cubicBezTo>
                <a:lnTo>
                  <a:pt x="378928" y="303142"/>
                </a:lnTo>
                <a:cubicBezTo>
                  <a:pt x="378928" y="344997"/>
                  <a:pt x="344997" y="378928"/>
                  <a:pt x="303142" y="378928"/>
                </a:cubicBezTo>
                <a:lnTo>
                  <a:pt x="75786" y="378928"/>
                </a:lnTo>
                <a:cubicBezTo>
                  <a:pt x="33930" y="378928"/>
                  <a:pt x="0" y="344997"/>
                  <a:pt x="0" y="303142"/>
                </a:cubicBezTo>
                <a:lnTo>
                  <a:pt x="0" y="75786"/>
                </a:lnTo>
                <a:cubicBezTo>
                  <a:pt x="0" y="33958"/>
                  <a:pt x="33958" y="0"/>
                  <a:pt x="75786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96159" y="483133"/>
            <a:ext cx="149203" cy="170517"/>
          </a:xfrm>
          <a:custGeom>
            <a:avLst/>
            <a:gdLst/>
            <a:ahLst/>
            <a:cxnLst/>
            <a:rect l="l" t="t" r="r" b="b"/>
            <a:pathLst>
              <a:path w="149203" h="170517">
                <a:moveTo>
                  <a:pt x="10657" y="0"/>
                </a:moveTo>
                <a:cubicBezTo>
                  <a:pt x="16552" y="0"/>
                  <a:pt x="21315" y="4763"/>
                  <a:pt x="21315" y="10657"/>
                </a:cubicBezTo>
                <a:lnTo>
                  <a:pt x="21315" y="15986"/>
                </a:lnTo>
                <a:lnTo>
                  <a:pt x="44295" y="10258"/>
                </a:lnTo>
                <a:cubicBezTo>
                  <a:pt x="56983" y="7094"/>
                  <a:pt x="70372" y="8559"/>
                  <a:pt x="82095" y="14421"/>
                </a:cubicBezTo>
                <a:cubicBezTo>
                  <a:pt x="97515" y="22147"/>
                  <a:pt x="115665" y="22147"/>
                  <a:pt x="131085" y="14421"/>
                </a:cubicBezTo>
                <a:lnTo>
                  <a:pt x="134283" y="12822"/>
                </a:lnTo>
                <a:cubicBezTo>
                  <a:pt x="141143" y="9358"/>
                  <a:pt x="149203" y="14354"/>
                  <a:pt x="149203" y="22014"/>
                </a:cubicBezTo>
                <a:lnTo>
                  <a:pt x="149203" y="115166"/>
                </a:lnTo>
                <a:cubicBezTo>
                  <a:pt x="149203" y="119595"/>
                  <a:pt x="146439" y="123592"/>
                  <a:pt x="142276" y="125157"/>
                </a:cubicBezTo>
                <a:lnTo>
                  <a:pt x="130719" y="129487"/>
                </a:lnTo>
                <a:cubicBezTo>
                  <a:pt x="115332" y="135248"/>
                  <a:pt x="98214" y="134349"/>
                  <a:pt x="83527" y="127022"/>
                </a:cubicBezTo>
                <a:cubicBezTo>
                  <a:pt x="70905" y="120694"/>
                  <a:pt x="56417" y="119129"/>
                  <a:pt x="42729" y="122559"/>
                </a:cubicBezTo>
                <a:lnTo>
                  <a:pt x="21315" y="127888"/>
                </a:lnTo>
                <a:lnTo>
                  <a:pt x="21315" y="159860"/>
                </a:lnTo>
                <a:cubicBezTo>
                  <a:pt x="21315" y="165755"/>
                  <a:pt x="16552" y="170517"/>
                  <a:pt x="10657" y="170517"/>
                </a:cubicBezTo>
                <a:cubicBezTo>
                  <a:pt x="4762" y="170517"/>
                  <a:pt x="0" y="165755"/>
                  <a:pt x="0" y="159860"/>
                </a:cubicBezTo>
                <a:lnTo>
                  <a:pt x="0" y="10657"/>
                </a:lnTo>
                <a:cubicBezTo>
                  <a:pt x="0" y="4763"/>
                  <a:pt x="4763" y="0"/>
                  <a:pt x="10657" y="0"/>
                </a:cubicBezTo>
                <a:close/>
                <a:moveTo>
                  <a:pt x="21315" y="62312"/>
                </a:moveTo>
                <a:lnTo>
                  <a:pt x="42629" y="57683"/>
                </a:lnTo>
                <a:lnTo>
                  <a:pt x="42629" y="79497"/>
                </a:lnTo>
                <a:lnTo>
                  <a:pt x="21315" y="84126"/>
                </a:lnTo>
                <a:lnTo>
                  <a:pt x="21315" y="105941"/>
                </a:lnTo>
                <a:lnTo>
                  <a:pt x="37567" y="101878"/>
                </a:lnTo>
                <a:cubicBezTo>
                  <a:pt x="39266" y="101445"/>
                  <a:pt x="40931" y="101078"/>
                  <a:pt x="42629" y="100778"/>
                </a:cubicBezTo>
                <a:lnTo>
                  <a:pt x="42629" y="79497"/>
                </a:lnTo>
                <a:lnTo>
                  <a:pt x="55585" y="76700"/>
                </a:lnTo>
                <a:cubicBezTo>
                  <a:pt x="58349" y="76100"/>
                  <a:pt x="61147" y="75867"/>
                  <a:pt x="63944" y="76000"/>
                </a:cubicBezTo>
                <a:lnTo>
                  <a:pt x="63944" y="54685"/>
                </a:lnTo>
                <a:cubicBezTo>
                  <a:pt x="68473" y="54819"/>
                  <a:pt x="73003" y="55551"/>
                  <a:pt x="77399" y="56817"/>
                </a:cubicBezTo>
                <a:lnTo>
                  <a:pt x="85259" y="59115"/>
                </a:lnTo>
                <a:lnTo>
                  <a:pt x="85259" y="81329"/>
                </a:lnTo>
                <a:lnTo>
                  <a:pt x="71371" y="77232"/>
                </a:lnTo>
                <a:cubicBezTo>
                  <a:pt x="68940" y="76533"/>
                  <a:pt x="66442" y="76100"/>
                  <a:pt x="63944" y="75967"/>
                </a:cubicBezTo>
                <a:lnTo>
                  <a:pt x="63944" y="99746"/>
                </a:lnTo>
                <a:cubicBezTo>
                  <a:pt x="71204" y="100379"/>
                  <a:pt x="78365" y="101977"/>
                  <a:pt x="85259" y="104542"/>
                </a:cubicBezTo>
                <a:lnTo>
                  <a:pt x="85259" y="81296"/>
                </a:lnTo>
                <a:lnTo>
                  <a:pt x="92819" y="83527"/>
                </a:lnTo>
                <a:cubicBezTo>
                  <a:pt x="97315" y="84859"/>
                  <a:pt x="101911" y="85658"/>
                  <a:pt x="106573" y="85991"/>
                </a:cubicBezTo>
                <a:lnTo>
                  <a:pt x="106573" y="64610"/>
                </a:lnTo>
                <a:cubicBezTo>
                  <a:pt x="103976" y="64344"/>
                  <a:pt x="101378" y="63844"/>
                  <a:pt x="98847" y="63111"/>
                </a:cubicBezTo>
                <a:lnTo>
                  <a:pt x="85259" y="59115"/>
                </a:lnTo>
                <a:lnTo>
                  <a:pt x="85259" y="38466"/>
                </a:lnTo>
                <a:cubicBezTo>
                  <a:pt x="80929" y="37201"/>
                  <a:pt x="76666" y="35536"/>
                  <a:pt x="72537" y="33471"/>
                </a:cubicBezTo>
                <a:cubicBezTo>
                  <a:pt x="69806" y="32105"/>
                  <a:pt x="66908" y="31139"/>
                  <a:pt x="63944" y="30540"/>
                </a:cubicBezTo>
                <a:lnTo>
                  <a:pt x="63944" y="54652"/>
                </a:lnTo>
                <a:cubicBezTo>
                  <a:pt x="59615" y="54519"/>
                  <a:pt x="55285" y="54919"/>
                  <a:pt x="51055" y="55851"/>
                </a:cubicBezTo>
                <a:lnTo>
                  <a:pt x="42629" y="57683"/>
                </a:lnTo>
                <a:lnTo>
                  <a:pt x="42629" y="32638"/>
                </a:lnTo>
                <a:lnTo>
                  <a:pt x="21315" y="37967"/>
                </a:lnTo>
                <a:lnTo>
                  <a:pt x="21315" y="62312"/>
                </a:lnTo>
                <a:close/>
                <a:moveTo>
                  <a:pt x="106573" y="111802"/>
                </a:moveTo>
                <a:cubicBezTo>
                  <a:pt x="112169" y="112302"/>
                  <a:pt x="117864" y="111569"/>
                  <a:pt x="123226" y="109538"/>
                </a:cubicBezTo>
                <a:lnTo>
                  <a:pt x="127888" y="107806"/>
                </a:lnTo>
                <a:lnTo>
                  <a:pt x="127888" y="83927"/>
                </a:lnTo>
                <a:lnTo>
                  <a:pt x="125257" y="84526"/>
                </a:lnTo>
                <a:cubicBezTo>
                  <a:pt x="119129" y="85958"/>
                  <a:pt x="112835" y="86424"/>
                  <a:pt x="106573" y="86025"/>
                </a:cubicBezTo>
                <a:lnTo>
                  <a:pt x="106573" y="111802"/>
                </a:lnTo>
                <a:close/>
                <a:moveTo>
                  <a:pt x="127888" y="62046"/>
                </a:moveTo>
                <a:lnTo>
                  <a:pt x="127888" y="38466"/>
                </a:lnTo>
                <a:cubicBezTo>
                  <a:pt x="120928" y="40498"/>
                  <a:pt x="113767" y="41497"/>
                  <a:pt x="106573" y="41497"/>
                </a:cubicBezTo>
                <a:lnTo>
                  <a:pt x="106573" y="64610"/>
                </a:lnTo>
                <a:cubicBezTo>
                  <a:pt x="111203" y="65076"/>
                  <a:pt x="115899" y="64777"/>
                  <a:pt x="120461" y="63744"/>
                </a:cubicBezTo>
                <a:lnTo>
                  <a:pt x="127888" y="62012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871534" y="473660"/>
            <a:ext cx="776802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44" b="1" kern="0" spc="104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Findings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78928" y="871534"/>
            <a:ext cx="11661501" cy="454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8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Final Conclusion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8401" y="1563077"/>
            <a:ext cx="11415198" cy="1487291"/>
          </a:xfrm>
          <a:custGeom>
            <a:avLst/>
            <a:gdLst/>
            <a:ahLst/>
            <a:cxnLst/>
            <a:rect l="l" t="t" r="r" b="b"/>
            <a:pathLst>
              <a:path w="11415198" h="1487291">
                <a:moveTo>
                  <a:pt x="75792" y="0"/>
                </a:moveTo>
                <a:lnTo>
                  <a:pt x="11339406" y="0"/>
                </a:lnTo>
                <a:cubicBezTo>
                  <a:pt x="11381265" y="0"/>
                  <a:pt x="11415198" y="33933"/>
                  <a:pt x="11415198" y="75792"/>
                </a:cubicBezTo>
                <a:lnTo>
                  <a:pt x="11415198" y="1411499"/>
                </a:lnTo>
                <a:cubicBezTo>
                  <a:pt x="11415198" y="1453358"/>
                  <a:pt x="11381265" y="1487291"/>
                  <a:pt x="11339406" y="1487291"/>
                </a:cubicBezTo>
                <a:lnTo>
                  <a:pt x="75792" y="1487291"/>
                </a:lnTo>
                <a:cubicBezTo>
                  <a:pt x="33933" y="1487291"/>
                  <a:pt x="0" y="1453358"/>
                  <a:pt x="0" y="1411499"/>
                </a:cubicBezTo>
                <a:lnTo>
                  <a:pt x="0" y="75792"/>
                </a:lnTo>
                <a:cubicBezTo>
                  <a:pt x="0" y="33961"/>
                  <a:pt x="33961" y="0"/>
                  <a:pt x="75792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25400">
            <a:solidFill>
              <a:srgbClr val="38B2AC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1016" y="1875692"/>
            <a:ext cx="757855" cy="757855"/>
          </a:xfrm>
          <a:custGeom>
            <a:avLst/>
            <a:gdLst/>
            <a:ahLst/>
            <a:cxnLst/>
            <a:rect l="l" t="t" r="r" b="b"/>
            <a:pathLst>
              <a:path w="757855" h="757855">
                <a:moveTo>
                  <a:pt x="378928" y="0"/>
                </a:moveTo>
                <a:lnTo>
                  <a:pt x="378928" y="0"/>
                </a:lnTo>
                <a:cubicBezTo>
                  <a:pt x="588204" y="0"/>
                  <a:pt x="757855" y="169652"/>
                  <a:pt x="757855" y="378928"/>
                </a:cubicBezTo>
                <a:lnTo>
                  <a:pt x="757855" y="378928"/>
                </a:lnTo>
                <a:cubicBezTo>
                  <a:pt x="757855" y="588204"/>
                  <a:pt x="588204" y="757855"/>
                  <a:pt x="378928" y="757855"/>
                </a:cubicBezTo>
                <a:lnTo>
                  <a:pt x="378928" y="757855"/>
                </a:lnTo>
                <a:cubicBezTo>
                  <a:pt x="169652" y="757855"/>
                  <a:pt x="0" y="588204"/>
                  <a:pt x="0" y="378928"/>
                </a:cubicBezTo>
                <a:lnTo>
                  <a:pt x="0" y="378928"/>
                </a:lnTo>
                <a:cubicBezTo>
                  <a:pt x="0" y="169652"/>
                  <a:pt x="169652" y="0"/>
                  <a:pt x="378928" y="0"/>
                </a:cubicBezTo>
                <a:close/>
              </a:path>
            </a:pathLst>
          </a:custGeom>
          <a:solidFill>
            <a:srgbClr val="38B2AC">
              <a:alpha val="30196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952056" y="2084103"/>
            <a:ext cx="255776" cy="341035"/>
          </a:xfrm>
          <a:custGeom>
            <a:avLst/>
            <a:gdLst/>
            <a:ahLst/>
            <a:cxnLst/>
            <a:rect l="l" t="t" r="r" b="b"/>
            <a:pathLst>
              <a:path w="255776" h="341035">
                <a:moveTo>
                  <a:pt x="166454" y="44494"/>
                </a:moveTo>
                <a:cubicBezTo>
                  <a:pt x="173382" y="34969"/>
                  <a:pt x="171250" y="21648"/>
                  <a:pt x="161725" y="14720"/>
                </a:cubicBezTo>
                <a:cubicBezTo>
                  <a:pt x="152200" y="7793"/>
                  <a:pt x="138878" y="9925"/>
                  <a:pt x="131951" y="19450"/>
                </a:cubicBezTo>
                <a:lnTo>
                  <a:pt x="61346" y="116498"/>
                </a:lnTo>
                <a:lnTo>
                  <a:pt x="36368" y="91520"/>
                </a:lnTo>
                <a:cubicBezTo>
                  <a:pt x="28042" y="83194"/>
                  <a:pt x="14521" y="83194"/>
                  <a:pt x="6195" y="91520"/>
                </a:cubicBezTo>
                <a:cubicBezTo>
                  <a:pt x="-2131" y="99846"/>
                  <a:pt x="-2131" y="113367"/>
                  <a:pt x="6195" y="121694"/>
                </a:cubicBezTo>
                <a:lnTo>
                  <a:pt x="48824" y="164323"/>
                </a:lnTo>
                <a:cubicBezTo>
                  <a:pt x="53220" y="168719"/>
                  <a:pt x="59348" y="170984"/>
                  <a:pt x="65543" y="170517"/>
                </a:cubicBezTo>
                <a:cubicBezTo>
                  <a:pt x="71737" y="170051"/>
                  <a:pt x="77466" y="166854"/>
                  <a:pt x="81129" y="161792"/>
                </a:cubicBezTo>
                <a:lnTo>
                  <a:pt x="166388" y="44561"/>
                </a:lnTo>
                <a:close/>
                <a:moveTo>
                  <a:pt x="251713" y="135082"/>
                </a:moveTo>
                <a:cubicBezTo>
                  <a:pt x="258640" y="125557"/>
                  <a:pt x="256509" y="112235"/>
                  <a:pt x="246984" y="105308"/>
                </a:cubicBezTo>
                <a:cubicBezTo>
                  <a:pt x="237459" y="98381"/>
                  <a:pt x="224137" y="100512"/>
                  <a:pt x="217210" y="110037"/>
                </a:cubicBezTo>
                <a:lnTo>
                  <a:pt x="103976" y="265701"/>
                </a:lnTo>
                <a:lnTo>
                  <a:pt x="57683" y="219408"/>
                </a:lnTo>
                <a:cubicBezTo>
                  <a:pt x="49357" y="211082"/>
                  <a:pt x="35835" y="211082"/>
                  <a:pt x="27509" y="219408"/>
                </a:cubicBezTo>
                <a:cubicBezTo>
                  <a:pt x="19183" y="227734"/>
                  <a:pt x="19183" y="241256"/>
                  <a:pt x="27509" y="249582"/>
                </a:cubicBezTo>
                <a:lnTo>
                  <a:pt x="91453" y="313526"/>
                </a:lnTo>
                <a:cubicBezTo>
                  <a:pt x="95849" y="317922"/>
                  <a:pt x="101977" y="320187"/>
                  <a:pt x="108172" y="319720"/>
                </a:cubicBezTo>
                <a:cubicBezTo>
                  <a:pt x="114367" y="319254"/>
                  <a:pt x="120095" y="316057"/>
                  <a:pt x="123758" y="310995"/>
                </a:cubicBezTo>
                <a:lnTo>
                  <a:pt x="251647" y="135148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9" name="Text 7"/>
          <p:cNvSpPr/>
          <p:nvPr/>
        </p:nvSpPr>
        <p:spPr>
          <a:xfrm>
            <a:off x="1648336" y="1875692"/>
            <a:ext cx="9899487" cy="341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38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Finding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8336" y="2368298"/>
            <a:ext cx="9871068" cy="3694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79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analysis shows that </a:t>
            </a:r>
            <a:r>
              <a:rPr lang="en-US" sz="1790" b="1" dirty="0">
                <a:solidFill>
                  <a:srgbClr val="38B2AC"/>
                </a:solidFill>
                <a:highlight>
                  <a:srgbClr val="38B2AC">
                    <a:alpha val="3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pricing has minimal impact </a:t>
            </a:r>
            <a:r>
              <a:rPr lang="en-US" sz="1790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customer satisfaction in the book market.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82085" y="3252463"/>
            <a:ext cx="5614446" cy="2772488"/>
          </a:xfrm>
          <a:custGeom>
            <a:avLst/>
            <a:gdLst/>
            <a:ahLst/>
            <a:cxnLst/>
            <a:rect l="l" t="t" r="r" b="b"/>
            <a:pathLst>
              <a:path w="5614446" h="2772488">
                <a:moveTo>
                  <a:pt x="75772" y="0"/>
                </a:moveTo>
                <a:lnTo>
                  <a:pt x="5538674" y="0"/>
                </a:lnTo>
                <a:cubicBezTo>
                  <a:pt x="5580522" y="0"/>
                  <a:pt x="5614446" y="33924"/>
                  <a:pt x="5614446" y="75772"/>
                </a:cubicBezTo>
                <a:lnTo>
                  <a:pt x="5614446" y="2696716"/>
                </a:lnTo>
                <a:cubicBezTo>
                  <a:pt x="5614446" y="2738564"/>
                  <a:pt x="5580522" y="2772488"/>
                  <a:pt x="5538674" y="2772488"/>
                </a:cubicBezTo>
                <a:lnTo>
                  <a:pt x="75772" y="2772488"/>
                </a:lnTo>
                <a:cubicBezTo>
                  <a:pt x="33924" y="2772488"/>
                  <a:pt x="0" y="2738564"/>
                  <a:pt x="0" y="2696716"/>
                </a:cubicBezTo>
                <a:lnTo>
                  <a:pt x="0" y="75772"/>
                </a:lnTo>
                <a:cubicBezTo>
                  <a:pt x="0" y="33952"/>
                  <a:pt x="33952" y="0"/>
                  <a:pt x="75772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1019" y="3520873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14210" y="14210"/>
                </a:moveTo>
                <a:cubicBezTo>
                  <a:pt x="22070" y="14210"/>
                  <a:pt x="28420" y="20560"/>
                  <a:pt x="28420" y="28420"/>
                </a:cubicBezTo>
                <a:lnTo>
                  <a:pt x="28420" y="177622"/>
                </a:lnTo>
                <a:cubicBezTo>
                  <a:pt x="28420" y="181530"/>
                  <a:pt x="31617" y="184727"/>
                  <a:pt x="35524" y="184727"/>
                </a:cubicBezTo>
                <a:lnTo>
                  <a:pt x="213147" y="184727"/>
                </a:lnTo>
                <a:cubicBezTo>
                  <a:pt x="221007" y="184727"/>
                  <a:pt x="227357" y="191077"/>
                  <a:pt x="227357" y="198937"/>
                </a:cubicBezTo>
                <a:cubicBezTo>
                  <a:pt x="227357" y="206797"/>
                  <a:pt x="221007" y="213147"/>
                  <a:pt x="213147" y="213147"/>
                </a:cubicBezTo>
                <a:lnTo>
                  <a:pt x="35524" y="213147"/>
                </a:lnTo>
                <a:cubicBezTo>
                  <a:pt x="15897" y="213147"/>
                  <a:pt x="0" y="197250"/>
                  <a:pt x="0" y="177622"/>
                </a:cubicBezTo>
                <a:lnTo>
                  <a:pt x="0" y="28420"/>
                </a:lnTo>
                <a:cubicBezTo>
                  <a:pt x="0" y="20560"/>
                  <a:pt x="6350" y="14210"/>
                  <a:pt x="14210" y="14210"/>
                </a:cubicBezTo>
                <a:close/>
                <a:moveTo>
                  <a:pt x="106573" y="42629"/>
                </a:moveTo>
                <a:cubicBezTo>
                  <a:pt x="109549" y="42629"/>
                  <a:pt x="112391" y="43873"/>
                  <a:pt x="114433" y="46093"/>
                </a:cubicBezTo>
                <a:lnTo>
                  <a:pt x="146006" y="80507"/>
                </a:lnTo>
                <a:lnTo>
                  <a:pt x="166521" y="59948"/>
                </a:lnTo>
                <a:cubicBezTo>
                  <a:pt x="170695" y="55773"/>
                  <a:pt x="177445" y="55773"/>
                  <a:pt x="181574" y="59948"/>
                </a:cubicBezTo>
                <a:lnTo>
                  <a:pt x="209994" y="88367"/>
                </a:lnTo>
                <a:cubicBezTo>
                  <a:pt x="211992" y="90365"/>
                  <a:pt x="213102" y="93074"/>
                  <a:pt x="213102" y="95916"/>
                </a:cubicBezTo>
                <a:lnTo>
                  <a:pt x="213102" y="145650"/>
                </a:lnTo>
                <a:cubicBezTo>
                  <a:pt x="213102" y="151556"/>
                  <a:pt x="208351" y="156308"/>
                  <a:pt x="202445" y="156308"/>
                </a:cubicBezTo>
                <a:lnTo>
                  <a:pt x="67452" y="156308"/>
                </a:lnTo>
                <a:cubicBezTo>
                  <a:pt x="61546" y="156308"/>
                  <a:pt x="56795" y="151556"/>
                  <a:pt x="56795" y="145650"/>
                </a:cubicBezTo>
                <a:lnTo>
                  <a:pt x="56795" y="95916"/>
                </a:lnTo>
                <a:cubicBezTo>
                  <a:pt x="56795" y="93252"/>
                  <a:pt x="57816" y="90676"/>
                  <a:pt x="59592" y="88722"/>
                </a:cubicBezTo>
                <a:lnTo>
                  <a:pt x="98669" y="46093"/>
                </a:lnTo>
                <a:cubicBezTo>
                  <a:pt x="100667" y="43873"/>
                  <a:pt x="103554" y="42629"/>
                  <a:pt x="106529" y="42629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3" name="Text 11"/>
          <p:cNvSpPr/>
          <p:nvPr/>
        </p:nvSpPr>
        <p:spPr>
          <a:xfrm>
            <a:off x="1010474" y="3482981"/>
            <a:ext cx="2055683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Rating Consistency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00" y="3937694"/>
            <a:ext cx="5238676" cy="8336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ratings remain </a:t>
            </a:r>
            <a:r>
              <a:rPr lang="en-US" sz="1343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consistently high</a:t>
            </a:r>
            <a:r>
              <a:rPr lang="en-US" sz="1343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across all price categories, demonstrating that readers value content quality over cost.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00" y="4920538"/>
            <a:ext cx="5153417" cy="871534"/>
          </a:xfrm>
          <a:custGeom>
            <a:avLst/>
            <a:gdLst/>
            <a:ahLst/>
            <a:cxnLst/>
            <a:rect l="l" t="t" r="r" b="b"/>
            <a:pathLst>
              <a:path w="5153417" h="871534">
                <a:moveTo>
                  <a:pt x="75789" y="0"/>
                </a:moveTo>
                <a:lnTo>
                  <a:pt x="5077629" y="0"/>
                </a:lnTo>
                <a:cubicBezTo>
                  <a:pt x="5119486" y="0"/>
                  <a:pt x="5153417" y="33932"/>
                  <a:pt x="5153417" y="75789"/>
                </a:cubicBezTo>
                <a:lnTo>
                  <a:pt x="5153417" y="795745"/>
                </a:lnTo>
                <a:cubicBezTo>
                  <a:pt x="5153417" y="837602"/>
                  <a:pt x="5119486" y="871534"/>
                  <a:pt x="5077629" y="871534"/>
                </a:cubicBezTo>
                <a:lnTo>
                  <a:pt x="75789" y="871534"/>
                </a:lnTo>
                <a:cubicBezTo>
                  <a:pt x="33960" y="871534"/>
                  <a:pt x="0" y="837574"/>
                  <a:pt x="0" y="795745"/>
                </a:cubicBezTo>
                <a:lnTo>
                  <a:pt x="0" y="75789"/>
                </a:lnTo>
                <a:cubicBezTo>
                  <a:pt x="0" y="33932"/>
                  <a:pt x="33932" y="0"/>
                  <a:pt x="75789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274652" y="5147894"/>
            <a:ext cx="170517" cy="151571"/>
          </a:xfrm>
          <a:custGeom>
            <a:avLst/>
            <a:gdLst/>
            <a:ahLst/>
            <a:cxnLst/>
            <a:rect l="l" t="t" r="r" b="b"/>
            <a:pathLst>
              <a:path w="170517" h="151571">
                <a:moveTo>
                  <a:pt x="91624" y="-5595"/>
                </a:moveTo>
                <a:cubicBezTo>
                  <a:pt x="90410" y="-7963"/>
                  <a:pt x="87953" y="-9473"/>
                  <a:pt x="85288" y="-9473"/>
                </a:cubicBezTo>
                <a:cubicBezTo>
                  <a:pt x="82624" y="-9473"/>
                  <a:pt x="80167" y="-7963"/>
                  <a:pt x="78953" y="-5595"/>
                </a:cubicBezTo>
                <a:lnTo>
                  <a:pt x="57165" y="37093"/>
                </a:lnTo>
                <a:lnTo>
                  <a:pt x="9828" y="44613"/>
                </a:lnTo>
                <a:cubicBezTo>
                  <a:pt x="7194" y="45027"/>
                  <a:pt x="5003" y="46892"/>
                  <a:pt x="4174" y="49438"/>
                </a:cubicBezTo>
                <a:cubicBezTo>
                  <a:pt x="3345" y="51984"/>
                  <a:pt x="4026" y="54767"/>
                  <a:pt x="5891" y="56662"/>
                </a:cubicBezTo>
                <a:lnTo>
                  <a:pt x="39758" y="90558"/>
                </a:lnTo>
                <a:lnTo>
                  <a:pt x="32298" y="137894"/>
                </a:lnTo>
                <a:cubicBezTo>
                  <a:pt x="31883" y="140529"/>
                  <a:pt x="32979" y="143193"/>
                  <a:pt x="35140" y="144762"/>
                </a:cubicBezTo>
                <a:cubicBezTo>
                  <a:pt x="37301" y="146331"/>
                  <a:pt x="40143" y="146568"/>
                  <a:pt x="42541" y="145354"/>
                </a:cubicBezTo>
                <a:lnTo>
                  <a:pt x="85288" y="123625"/>
                </a:lnTo>
                <a:lnTo>
                  <a:pt x="128007" y="145354"/>
                </a:lnTo>
                <a:cubicBezTo>
                  <a:pt x="130375" y="146568"/>
                  <a:pt x="133246" y="146331"/>
                  <a:pt x="135407" y="144762"/>
                </a:cubicBezTo>
                <a:cubicBezTo>
                  <a:pt x="137569" y="143193"/>
                  <a:pt x="138664" y="140559"/>
                  <a:pt x="138249" y="137894"/>
                </a:cubicBezTo>
                <a:lnTo>
                  <a:pt x="130760" y="90558"/>
                </a:lnTo>
                <a:lnTo>
                  <a:pt x="164626" y="56662"/>
                </a:lnTo>
                <a:cubicBezTo>
                  <a:pt x="166521" y="54767"/>
                  <a:pt x="167172" y="51984"/>
                  <a:pt x="166343" y="49438"/>
                </a:cubicBezTo>
                <a:cubicBezTo>
                  <a:pt x="165514" y="46892"/>
                  <a:pt x="163353" y="45027"/>
                  <a:pt x="160689" y="44613"/>
                </a:cubicBezTo>
                <a:lnTo>
                  <a:pt x="113382" y="37093"/>
                </a:lnTo>
                <a:lnTo>
                  <a:pt x="91624" y="-559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Shape 15"/>
          <p:cNvSpPr/>
          <p:nvPr/>
        </p:nvSpPr>
        <p:spPr>
          <a:xfrm>
            <a:off x="2539901" y="5147894"/>
            <a:ext cx="170517" cy="151571"/>
          </a:xfrm>
          <a:custGeom>
            <a:avLst/>
            <a:gdLst/>
            <a:ahLst/>
            <a:cxnLst/>
            <a:rect l="l" t="t" r="r" b="b"/>
            <a:pathLst>
              <a:path w="170517" h="151571">
                <a:moveTo>
                  <a:pt x="91624" y="-5595"/>
                </a:moveTo>
                <a:cubicBezTo>
                  <a:pt x="90410" y="-7963"/>
                  <a:pt x="87953" y="-9473"/>
                  <a:pt x="85288" y="-9473"/>
                </a:cubicBezTo>
                <a:cubicBezTo>
                  <a:pt x="82624" y="-9473"/>
                  <a:pt x="80167" y="-7963"/>
                  <a:pt x="78953" y="-5595"/>
                </a:cubicBezTo>
                <a:lnTo>
                  <a:pt x="57165" y="37093"/>
                </a:lnTo>
                <a:lnTo>
                  <a:pt x="9828" y="44613"/>
                </a:lnTo>
                <a:cubicBezTo>
                  <a:pt x="7194" y="45027"/>
                  <a:pt x="5003" y="46892"/>
                  <a:pt x="4174" y="49438"/>
                </a:cubicBezTo>
                <a:cubicBezTo>
                  <a:pt x="3345" y="51984"/>
                  <a:pt x="4026" y="54767"/>
                  <a:pt x="5891" y="56662"/>
                </a:cubicBezTo>
                <a:lnTo>
                  <a:pt x="39758" y="90558"/>
                </a:lnTo>
                <a:lnTo>
                  <a:pt x="32298" y="137894"/>
                </a:lnTo>
                <a:cubicBezTo>
                  <a:pt x="31883" y="140529"/>
                  <a:pt x="32979" y="143193"/>
                  <a:pt x="35140" y="144762"/>
                </a:cubicBezTo>
                <a:cubicBezTo>
                  <a:pt x="37301" y="146331"/>
                  <a:pt x="40143" y="146568"/>
                  <a:pt x="42541" y="145354"/>
                </a:cubicBezTo>
                <a:lnTo>
                  <a:pt x="85288" y="123625"/>
                </a:lnTo>
                <a:lnTo>
                  <a:pt x="128007" y="145354"/>
                </a:lnTo>
                <a:cubicBezTo>
                  <a:pt x="130375" y="146568"/>
                  <a:pt x="133246" y="146331"/>
                  <a:pt x="135407" y="144762"/>
                </a:cubicBezTo>
                <a:cubicBezTo>
                  <a:pt x="137569" y="143193"/>
                  <a:pt x="138664" y="140559"/>
                  <a:pt x="138249" y="137894"/>
                </a:cubicBezTo>
                <a:lnTo>
                  <a:pt x="130760" y="90558"/>
                </a:lnTo>
                <a:lnTo>
                  <a:pt x="164626" y="56662"/>
                </a:lnTo>
                <a:cubicBezTo>
                  <a:pt x="166521" y="54767"/>
                  <a:pt x="167172" y="51984"/>
                  <a:pt x="166343" y="49438"/>
                </a:cubicBezTo>
                <a:cubicBezTo>
                  <a:pt x="165514" y="46892"/>
                  <a:pt x="163353" y="45027"/>
                  <a:pt x="160689" y="44613"/>
                </a:cubicBezTo>
                <a:lnTo>
                  <a:pt x="113382" y="37093"/>
                </a:lnTo>
                <a:lnTo>
                  <a:pt x="91624" y="-559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Shape 16"/>
          <p:cNvSpPr/>
          <p:nvPr/>
        </p:nvSpPr>
        <p:spPr>
          <a:xfrm>
            <a:off x="2805151" y="5147894"/>
            <a:ext cx="170517" cy="151571"/>
          </a:xfrm>
          <a:custGeom>
            <a:avLst/>
            <a:gdLst/>
            <a:ahLst/>
            <a:cxnLst/>
            <a:rect l="l" t="t" r="r" b="b"/>
            <a:pathLst>
              <a:path w="170517" h="151571">
                <a:moveTo>
                  <a:pt x="91624" y="-5595"/>
                </a:moveTo>
                <a:cubicBezTo>
                  <a:pt x="90410" y="-7963"/>
                  <a:pt x="87953" y="-9473"/>
                  <a:pt x="85288" y="-9473"/>
                </a:cubicBezTo>
                <a:cubicBezTo>
                  <a:pt x="82624" y="-9473"/>
                  <a:pt x="80167" y="-7963"/>
                  <a:pt x="78953" y="-5595"/>
                </a:cubicBezTo>
                <a:lnTo>
                  <a:pt x="57165" y="37093"/>
                </a:lnTo>
                <a:lnTo>
                  <a:pt x="9828" y="44613"/>
                </a:lnTo>
                <a:cubicBezTo>
                  <a:pt x="7194" y="45027"/>
                  <a:pt x="5003" y="46892"/>
                  <a:pt x="4174" y="49438"/>
                </a:cubicBezTo>
                <a:cubicBezTo>
                  <a:pt x="3345" y="51984"/>
                  <a:pt x="4026" y="54767"/>
                  <a:pt x="5891" y="56662"/>
                </a:cubicBezTo>
                <a:lnTo>
                  <a:pt x="39758" y="90558"/>
                </a:lnTo>
                <a:lnTo>
                  <a:pt x="32298" y="137894"/>
                </a:lnTo>
                <a:cubicBezTo>
                  <a:pt x="31883" y="140529"/>
                  <a:pt x="32979" y="143193"/>
                  <a:pt x="35140" y="144762"/>
                </a:cubicBezTo>
                <a:cubicBezTo>
                  <a:pt x="37301" y="146331"/>
                  <a:pt x="40143" y="146568"/>
                  <a:pt x="42541" y="145354"/>
                </a:cubicBezTo>
                <a:lnTo>
                  <a:pt x="85288" y="123625"/>
                </a:lnTo>
                <a:lnTo>
                  <a:pt x="128007" y="145354"/>
                </a:lnTo>
                <a:cubicBezTo>
                  <a:pt x="130375" y="146568"/>
                  <a:pt x="133246" y="146331"/>
                  <a:pt x="135407" y="144762"/>
                </a:cubicBezTo>
                <a:cubicBezTo>
                  <a:pt x="137569" y="143193"/>
                  <a:pt x="138664" y="140559"/>
                  <a:pt x="138249" y="137894"/>
                </a:cubicBezTo>
                <a:lnTo>
                  <a:pt x="130760" y="90558"/>
                </a:lnTo>
                <a:lnTo>
                  <a:pt x="164626" y="56662"/>
                </a:lnTo>
                <a:cubicBezTo>
                  <a:pt x="166521" y="54767"/>
                  <a:pt x="167172" y="51984"/>
                  <a:pt x="166343" y="49438"/>
                </a:cubicBezTo>
                <a:cubicBezTo>
                  <a:pt x="165514" y="46892"/>
                  <a:pt x="163353" y="45027"/>
                  <a:pt x="160689" y="44613"/>
                </a:cubicBezTo>
                <a:lnTo>
                  <a:pt x="113382" y="37093"/>
                </a:lnTo>
                <a:lnTo>
                  <a:pt x="91624" y="-559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Shape 17"/>
          <p:cNvSpPr/>
          <p:nvPr/>
        </p:nvSpPr>
        <p:spPr>
          <a:xfrm>
            <a:off x="3070400" y="5147894"/>
            <a:ext cx="170517" cy="151571"/>
          </a:xfrm>
          <a:custGeom>
            <a:avLst/>
            <a:gdLst/>
            <a:ahLst/>
            <a:cxnLst/>
            <a:rect l="l" t="t" r="r" b="b"/>
            <a:pathLst>
              <a:path w="170517" h="151571">
                <a:moveTo>
                  <a:pt x="91624" y="-5595"/>
                </a:moveTo>
                <a:cubicBezTo>
                  <a:pt x="90410" y="-7963"/>
                  <a:pt x="87953" y="-9473"/>
                  <a:pt x="85288" y="-9473"/>
                </a:cubicBezTo>
                <a:cubicBezTo>
                  <a:pt x="82624" y="-9473"/>
                  <a:pt x="80167" y="-7963"/>
                  <a:pt x="78953" y="-5595"/>
                </a:cubicBezTo>
                <a:lnTo>
                  <a:pt x="57165" y="37093"/>
                </a:lnTo>
                <a:lnTo>
                  <a:pt x="9828" y="44613"/>
                </a:lnTo>
                <a:cubicBezTo>
                  <a:pt x="7194" y="45027"/>
                  <a:pt x="5003" y="46892"/>
                  <a:pt x="4174" y="49438"/>
                </a:cubicBezTo>
                <a:cubicBezTo>
                  <a:pt x="3345" y="51984"/>
                  <a:pt x="4026" y="54767"/>
                  <a:pt x="5891" y="56662"/>
                </a:cubicBezTo>
                <a:lnTo>
                  <a:pt x="39758" y="90558"/>
                </a:lnTo>
                <a:lnTo>
                  <a:pt x="32298" y="137894"/>
                </a:lnTo>
                <a:cubicBezTo>
                  <a:pt x="31883" y="140529"/>
                  <a:pt x="32979" y="143193"/>
                  <a:pt x="35140" y="144762"/>
                </a:cubicBezTo>
                <a:cubicBezTo>
                  <a:pt x="37301" y="146331"/>
                  <a:pt x="40143" y="146568"/>
                  <a:pt x="42541" y="145354"/>
                </a:cubicBezTo>
                <a:lnTo>
                  <a:pt x="85288" y="123625"/>
                </a:lnTo>
                <a:lnTo>
                  <a:pt x="128007" y="145354"/>
                </a:lnTo>
                <a:cubicBezTo>
                  <a:pt x="130375" y="146568"/>
                  <a:pt x="133246" y="146331"/>
                  <a:pt x="135407" y="144762"/>
                </a:cubicBezTo>
                <a:cubicBezTo>
                  <a:pt x="137569" y="143193"/>
                  <a:pt x="138664" y="140559"/>
                  <a:pt x="138249" y="137894"/>
                </a:cubicBezTo>
                <a:lnTo>
                  <a:pt x="130760" y="90558"/>
                </a:lnTo>
                <a:lnTo>
                  <a:pt x="164626" y="56662"/>
                </a:lnTo>
                <a:cubicBezTo>
                  <a:pt x="166521" y="54767"/>
                  <a:pt x="167172" y="51984"/>
                  <a:pt x="166343" y="49438"/>
                </a:cubicBezTo>
                <a:cubicBezTo>
                  <a:pt x="165514" y="46892"/>
                  <a:pt x="163353" y="45027"/>
                  <a:pt x="160689" y="44613"/>
                </a:cubicBezTo>
                <a:lnTo>
                  <a:pt x="113382" y="37093"/>
                </a:lnTo>
                <a:lnTo>
                  <a:pt x="91624" y="-559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0" name="Shape 18"/>
          <p:cNvSpPr/>
          <p:nvPr/>
        </p:nvSpPr>
        <p:spPr>
          <a:xfrm>
            <a:off x="3335650" y="5147894"/>
            <a:ext cx="170517" cy="151571"/>
          </a:xfrm>
          <a:custGeom>
            <a:avLst/>
            <a:gdLst/>
            <a:ahLst/>
            <a:cxnLst/>
            <a:rect l="l" t="t" r="r" b="b"/>
            <a:pathLst>
              <a:path w="170517" h="151571">
                <a:moveTo>
                  <a:pt x="85288" y="104679"/>
                </a:moveTo>
                <a:cubicBezTo>
                  <a:pt x="88249" y="104679"/>
                  <a:pt x="91179" y="105360"/>
                  <a:pt x="93873" y="106751"/>
                </a:cubicBezTo>
                <a:lnTo>
                  <a:pt x="115899" y="117971"/>
                </a:lnTo>
                <a:lnTo>
                  <a:pt x="112050" y="93548"/>
                </a:lnTo>
                <a:cubicBezTo>
                  <a:pt x="111103" y="87568"/>
                  <a:pt x="113086" y="81499"/>
                  <a:pt x="117349" y="77207"/>
                </a:cubicBezTo>
                <a:lnTo>
                  <a:pt x="134815" y="59711"/>
                </a:lnTo>
                <a:lnTo>
                  <a:pt x="110392" y="55833"/>
                </a:lnTo>
                <a:cubicBezTo>
                  <a:pt x="104412" y="54885"/>
                  <a:pt x="99232" y="51126"/>
                  <a:pt x="96479" y="45738"/>
                </a:cubicBezTo>
                <a:lnTo>
                  <a:pt x="85229" y="23713"/>
                </a:lnTo>
                <a:lnTo>
                  <a:pt x="85229" y="104708"/>
                </a:lnTo>
                <a:close/>
                <a:moveTo>
                  <a:pt x="135407" y="144762"/>
                </a:moveTo>
                <a:cubicBezTo>
                  <a:pt x="133246" y="146331"/>
                  <a:pt x="130375" y="146568"/>
                  <a:pt x="128007" y="145354"/>
                </a:cubicBezTo>
                <a:lnTo>
                  <a:pt x="85288" y="123625"/>
                </a:lnTo>
                <a:lnTo>
                  <a:pt x="42570" y="145354"/>
                </a:lnTo>
                <a:cubicBezTo>
                  <a:pt x="40202" y="146568"/>
                  <a:pt x="37330" y="146331"/>
                  <a:pt x="35169" y="144762"/>
                </a:cubicBezTo>
                <a:cubicBezTo>
                  <a:pt x="33008" y="143193"/>
                  <a:pt x="31913" y="140559"/>
                  <a:pt x="32327" y="137894"/>
                </a:cubicBezTo>
                <a:lnTo>
                  <a:pt x="39787" y="90558"/>
                </a:lnTo>
                <a:lnTo>
                  <a:pt x="5921" y="56662"/>
                </a:lnTo>
                <a:cubicBezTo>
                  <a:pt x="4026" y="54767"/>
                  <a:pt x="3375" y="51984"/>
                  <a:pt x="4204" y="49438"/>
                </a:cubicBezTo>
                <a:cubicBezTo>
                  <a:pt x="5033" y="46892"/>
                  <a:pt x="7194" y="45027"/>
                  <a:pt x="9858" y="44613"/>
                </a:cubicBezTo>
                <a:lnTo>
                  <a:pt x="57194" y="37093"/>
                </a:lnTo>
                <a:lnTo>
                  <a:pt x="78983" y="-5595"/>
                </a:lnTo>
                <a:cubicBezTo>
                  <a:pt x="80197" y="-7963"/>
                  <a:pt x="82654" y="-9473"/>
                  <a:pt x="85318" y="-9473"/>
                </a:cubicBezTo>
                <a:cubicBezTo>
                  <a:pt x="87982" y="-9473"/>
                  <a:pt x="90439" y="-7963"/>
                  <a:pt x="91653" y="-5595"/>
                </a:cubicBezTo>
                <a:lnTo>
                  <a:pt x="113382" y="37093"/>
                </a:lnTo>
                <a:lnTo>
                  <a:pt x="160719" y="44613"/>
                </a:lnTo>
                <a:cubicBezTo>
                  <a:pt x="163353" y="45027"/>
                  <a:pt x="165544" y="46892"/>
                  <a:pt x="166373" y="49438"/>
                </a:cubicBezTo>
                <a:cubicBezTo>
                  <a:pt x="167202" y="51984"/>
                  <a:pt x="166521" y="54767"/>
                  <a:pt x="164656" y="56662"/>
                </a:cubicBezTo>
                <a:lnTo>
                  <a:pt x="130760" y="90558"/>
                </a:lnTo>
                <a:lnTo>
                  <a:pt x="138249" y="137894"/>
                </a:lnTo>
                <a:cubicBezTo>
                  <a:pt x="138664" y="140529"/>
                  <a:pt x="137569" y="143193"/>
                  <a:pt x="135407" y="144762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1" name="Text 19"/>
          <p:cNvSpPr/>
          <p:nvPr/>
        </p:nvSpPr>
        <p:spPr>
          <a:xfrm>
            <a:off x="3667211" y="5072109"/>
            <a:ext cx="558918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4.6+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015" y="5451036"/>
            <a:ext cx="4916587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across all price tiers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194383" y="3252463"/>
            <a:ext cx="5614446" cy="2772488"/>
          </a:xfrm>
          <a:custGeom>
            <a:avLst/>
            <a:gdLst/>
            <a:ahLst/>
            <a:cxnLst/>
            <a:rect l="l" t="t" r="r" b="b"/>
            <a:pathLst>
              <a:path w="5614446" h="2772488">
                <a:moveTo>
                  <a:pt x="75772" y="0"/>
                </a:moveTo>
                <a:lnTo>
                  <a:pt x="5538674" y="0"/>
                </a:lnTo>
                <a:cubicBezTo>
                  <a:pt x="5580522" y="0"/>
                  <a:pt x="5614446" y="33924"/>
                  <a:pt x="5614446" y="75772"/>
                </a:cubicBezTo>
                <a:lnTo>
                  <a:pt x="5614446" y="2696716"/>
                </a:lnTo>
                <a:cubicBezTo>
                  <a:pt x="5614446" y="2738564"/>
                  <a:pt x="5580522" y="2772488"/>
                  <a:pt x="5538674" y="2772488"/>
                </a:cubicBezTo>
                <a:lnTo>
                  <a:pt x="75772" y="2772488"/>
                </a:lnTo>
                <a:cubicBezTo>
                  <a:pt x="33924" y="2772488"/>
                  <a:pt x="0" y="2738564"/>
                  <a:pt x="0" y="2696716"/>
                </a:cubicBezTo>
                <a:lnTo>
                  <a:pt x="0" y="75772"/>
                </a:lnTo>
                <a:cubicBezTo>
                  <a:pt x="0" y="33952"/>
                  <a:pt x="33952" y="0"/>
                  <a:pt x="75772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 w="8467">
            <a:solidFill>
              <a:srgbClr val="38B2AC">
                <a:alpha val="30196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53317" y="3640472"/>
            <a:ext cx="227357" cy="227357"/>
          </a:xfrm>
          <a:custGeom>
            <a:avLst/>
            <a:gdLst/>
            <a:ahLst/>
            <a:cxnLst/>
            <a:rect l="l" t="t" r="r" b="b"/>
            <a:pathLst>
              <a:path w="227357" h="227357">
                <a:moveTo>
                  <a:pt x="99469" y="0"/>
                </a:moveTo>
                <a:cubicBezTo>
                  <a:pt x="115144" y="0"/>
                  <a:pt x="127888" y="9547"/>
                  <a:pt x="127888" y="21315"/>
                </a:cubicBezTo>
                <a:cubicBezTo>
                  <a:pt x="127888" y="25933"/>
                  <a:pt x="125934" y="30196"/>
                  <a:pt x="122559" y="33704"/>
                </a:cubicBezTo>
                <a:cubicBezTo>
                  <a:pt x="119629" y="36768"/>
                  <a:pt x="117231" y="40498"/>
                  <a:pt x="117231" y="44761"/>
                </a:cubicBezTo>
                <a:cubicBezTo>
                  <a:pt x="117231" y="51422"/>
                  <a:pt x="122648" y="56839"/>
                  <a:pt x="129309" y="56839"/>
                </a:cubicBezTo>
                <a:lnTo>
                  <a:pt x="149203" y="56839"/>
                </a:lnTo>
                <a:cubicBezTo>
                  <a:pt x="160970" y="56839"/>
                  <a:pt x="170517" y="66386"/>
                  <a:pt x="170517" y="78154"/>
                </a:cubicBezTo>
                <a:lnTo>
                  <a:pt x="170517" y="98048"/>
                </a:lnTo>
                <a:cubicBezTo>
                  <a:pt x="170517" y="104708"/>
                  <a:pt x="175935" y="110126"/>
                  <a:pt x="182596" y="110126"/>
                </a:cubicBezTo>
                <a:cubicBezTo>
                  <a:pt x="186814" y="110126"/>
                  <a:pt x="190589" y="107728"/>
                  <a:pt x="193653" y="104797"/>
                </a:cubicBezTo>
                <a:cubicBezTo>
                  <a:pt x="197161" y="101467"/>
                  <a:pt x="201424" y="99469"/>
                  <a:pt x="206042" y="99469"/>
                </a:cubicBezTo>
                <a:cubicBezTo>
                  <a:pt x="217809" y="99469"/>
                  <a:pt x="227357" y="112213"/>
                  <a:pt x="227357" y="127888"/>
                </a:cubicBezTo>
                <a:cubicBezTo>
                  <a:pt x="227357" y="143563"/>
                  <a:pt x="217809" y="156308"/>
                  <a:pt x="206042" y="156308"/>
                </a:cubicBezTo>
                <a:cubicBezTo>
                  <a:pt x="201424" y="156308"/>
                  <a:pt x="197116" y="154354"/>
                  <a:pt x="193653" y="150979"/>
                </a:cubicBezTo>
                <a:cubicBezTo>
                  <a:pt x="190589" y="148048"/>
                  <a:pt x="186859" y="145650"/>
                  <a:pt x="182596" y="145650"/>
                </a:cubicBezTo>
                <a:cubicBezTo>
                  <a:pt x="175935" y="145650"/>
                  <a:pt x="170517" y="151068"/>
                  <a:pt x="170517" y="157729"/>
                </a:cubicBezTo>
                <a:lnTo>
                  <a:pt x="170517" y="206042"/>
                </a:lnTo>
                <a:cubicBezTo>
                  <a:pt x="170517" y="217809"/>
                  <a:pt x="160970" y="227357"/>
                  <a:pt x="149203" y="227357"/>
                </a:cubicBezTo>
                <a:lnTo>
                  <a:pt x="123980" y="227357"/>
                </a:lnTo>
                <a:cubicBezTo>
                  <a:pt x="118297" y="227357"/>
                  <a:pt x="113678" y="222738"/>
                  <a:pt x="113678" y="217055"/>
                </a:cubicBezTo>
                <a:cubicBezTo>
                  <a:pt x="113678" y="212969"/>
                  <a:pt x="116254" y="209372"/>
                  <a:pt x="119540" y="206930"/>
                </a:cubicBezTo>
                <a:cubicBezTo>
                  <a:pt x="124691" y="203067"/>
                  <a:pt x="127888" y="197738"/>
                  <a:pt x="127888" y="191832"/>
                </a:cubicBezTo>
                <a:cubicBezTo>
                  <a:pt x="127888" y="180065"/>
                  <a:pt x="115144" y="170517"/>
                  <a:pt x="99469" y="170517"/>
                </a:cubicBezTo>
                <a:cubicBezTo>
                  <a:pt x="83793" y="170517"/>
                  <a:pt x="71049" y="180065"/>
                  <a:pt x="71049" y="191832"/>
                </a:cubicBezTo>
                <a:cubicBezTo>
                  <a:pt x="71049" y="197738"/>
                  <a:pt x="74246" y="203067"/>
                  <a:pt x="79397" y="206930"/>
                </a:cubicBezTo>
                <a:cubicBezTo>
                  <a:pt x="82683" y="209372"/>
                  <a:pt x="85259" y="212925"/>
                  <a:pt x="85259" y="217055"/>
                </a:cubicBezTo>
                <a:cubicBezTo>
                  <a:pt x="85259" y="222738"/>
                  <a:pt x="80641" y="227357"/>
                  <a:pt x="74957" y="227357"/>
                </a:cubicBezTo>
                <a:lnTo>
                  <a:pt x="21315" y="227357"/>
                </a:lnTo>
                <a:cubicBezTo>
                  <a:pt x="9547" y="227357"/>
                  <a:pt x="0" y="217809"/>
                  <a:pt x="0" y="206042"/>
                </a:cubicBezTo>
                <a:lnTo>
                  <a:pt x="0" y="152400"/>
                </a:lnTo>
                <a:cubicBezTo>
                  <a:pt x="0" y="146716"/>
                  <a:pt x="4618" y="142098"/>
                  <a:pt x="10302" y="142098"/>
                </a:cubicBezTo>
                <a:cubicBezTo>
                  <a:pt x="14387" y="142098"/>
                  <a:pt x="17984" y="144673"/>
                  <a:pt x="20427" y="147959"/>
                </a:cubicBezTo>
                <a:cubicBezTo>
                  <a:pt x="24290" y="153110"/>
                  <a:pt x="29619" y="156308"/>
                  <a:pt x="35524" y="156308"/>
                </a:cubicBezTo>
                <a:cubicBezTo>
                  <a:pt x="47292" y="156308"/>
                  <a:pt x="56839" y="143563"/>
                  <a:pt x="56839" y="127888"/>
                </a:cubicBezTo>
                <a:cubicBezTo>
                  <a:pt x="56839" y="112213"/>
                  <a:pt x="47292" y="99469"/>
                  <a:pt x="35524" y="99469"/>
                </a:cubicBezTo>
                <a:cubicBezTo>
                  <a:pt x="29619" y="99469"/>
                  <a:pt x="24290" y="102666"/>
                  <a:pt x="20427" y="107817"/>
                </a:cubicBezTo>
                <a:cubicBezTo>
                  <a:pt x="17984" y="111103"/>
                  <a:pt x="14432" y="113678"/>
                  <a:pt x="10302" y="113678"/>
                </a:cubicBezTo>
                <a:cubicBezTo>
                  <a:pt x="4618" y="113678"/>
                  <a:pt x="0" y="109060"/>
                  <a:pt x="0" y="103376"/>
                </a:cubicBezTo>
                <a:lnTo>
                  <a:pt x="0" y="78154"/>
                </a:lnTo>
                <a:cubicBezTo>
                  <a:pt x="0" y="66386"/>
                  <a:pt x="9547" y="56839"/>
                  <a:pt x="21315" y="56839"/>
                </a:cubicBezTo>
                <a:lnTo>
                  <a:pt x="69628" y="56839"/>
                </a:lnTo>
                <a:cubicBezTo>
                  <a:pt x="76289" y="56839"/>
                  <a:pt x="81706" y="51422"/>
                  <a:pt x="81706" y="44761"/>
                </a:cubicBezTo>
                <a:cubicBezTo>
                  <a:pt x="81706" y="40542"/>
                  <a:pt x="79308" y="36768"/>
                  <a:pt x="76378" y="33704"/>
                </a:cubicBezTo>
                <a:cubicBezTo>
                  <a:pt x="73047" y="30196"/>
                  <a:pt x="71049" y="25933"/>
                  <a:pt x="71049" y="21315"/>
                </a:cubicBezTo>
                <a:cubicBezTo>
                  <a:pt x="71049" y="9547"/>
                  <a:pt x="83793" y="0"/>
                  <a:pt x="99469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5" name="Text 23"/>
          <p:cNvSpPr/>
          <p:nvPr/>
        </p:nvSpPr>
        <p:spPr>
          <a:xfrm>
            <a:off x="6822772" y="3602580"/>
            <a:ext cx="1250462" cy="303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9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Drivers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24897" y="4057293"/>
            <a:ext cx="5238676" cy="5589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43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Other factors like </a:t>
            </a:r>
            <a:r>
              <a:rPr lang="en-US" sz="1343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</a:t>
            </a:r>
            <a:r>
              <a:rPr lang="en-US" sz="1343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r>
              <a:rPr lang="en-US" sz="1343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quality</a:t>
            </a:r>
            <a:r>
              <a:rPr lang="en-US" sz="1343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influence reader engagement more significantly than price.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424897" y="4763046"/>
            <a:ext cx="2519869" cy="909427"/>
          </a:xfrm>
          <a:custGeom>
            <a:avLst/>
            <a:gdLst/>
            <a:ahLst/>
            <a:cxnLst/>
            <a:rect l="l" t="t" r="r" b="b"/>
            <a:pathLst>
              <a:path w="2519869" h="909427">
                <a:moveTo>
                  <a:pt x="37896" y="0"/>
                </a:moveTo>
                <a:lnTo>
                  <a:pt x="2481974" y="0"/>
                </a:lnTo>
                <a:cubicBezTo>
                  <a:pt x="2502889" y="0"/>
                  <a:pt x="2519869" y="16981"/>
                  <a:pt x="2519869" y="37896"/>
                </a:cubicBezTo>
                <a:lnTo>
                  <a:pt x="2519869" y="871531"/>
                </a:lnTo>
                <a:cubicBezTo>
                  <a:pt x="2519869" y="892446"/>
                  <a:pt x="2502889" y="909427"/>
                  <a:pt x="2481974" y="909427"/>
                </a:cubicBezTo>
                <a:lnTo>
                  <a:pt x="37896" y="909427"/>
                </a:lnTo>
                <a:cubicBezTo>
                  <a:pt x="16981" y="909427"/>
                  <a:pt x="0" y="892446"/>
                  <a:pt x="0" y="871531"/>
                </a:cubicBezTo>
                <a:lnTo>
                  <a:pt x="0" y="37896"/>
                </a:lnTo>
                <a:cubicBezTo>
                  <a:pt x="0" y="16967"/>
                  <a:pt x="16967" y="0"/>
                  <a:pt x="378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578753" y="4876724"/>
            <a:ext cx="213147" cy="189464"/>
          </a:xfrm>
          <a:custGeom>
            <a:avLst/>
            <a:gdLst/>
            <a:ahLst/>
            <a:cxnLst/>
            <a:rect l="l" t="t" r="r" b="b"/>
            <a:pathLst>
              <a:path w="213147" h="189464">
                <a:moveTo>
                  <a:pt x="-1850" y="43666"/>
                </a:moveTo>
                <a:lnTo>
                  <a:pt x="8696" y="103502"/>
                </a:lnTo>
                <a:cubicBezTo>
                  <a:pt x="13877" y="132921"/>
                  <a:pt x="36931" y="155975"/>
                  <a:pt x="66349" y="161155"/>
                </a:cubicBezTo>
                <a:lnTo>
                  <a:pt x="71049" y="161969"/>
                </a:lnTo>
                <a:cubicBezTo>
                  <a:pt x="64943" y="151386"/>
                  <a:pt x="61021" y="139508"/>
                  <a:pt x="59726" y="127000"/>
                </a:cubicBezTo>
                <a:lnTo>
                  <a:pt x="50807" y="128591"/>
                </a:lnTo>
                <a:cubicBezTo>
                  <a:pt x="47218" y="129220"/>
                  <a:pt x="43851" y="126445"/>
                  <a:pt x="44554" y="122855"/>
                </a:cubicBezTo>
                <a:cubicBezTo>
                  <a:pt x="46330" y="113715"/>
                  <a:pt x="51622" y="105611"/>
                  <a:pt x="59244" y="100320"/>
                </a:cubicBezTo>
                <a:lnTo>
                  <a:pt x="59244" y="72714"/>
                </a:lnTo>
                <a:cubicBezTo>
                  <a:pt x="58726" y="73010"/>
                  <a:pt x="58134" y="73195"/>
                  <a:pt x="57505" y="73306"/>
                </a:cubicBezTo>
                <a:lnTo>
                  <a:pt x="34192" y="77414"/>
                </a:lnTo>
                <a:cubicBezTo>
                  <a:pt x="30973" y="77969"/>
                  <a:pt x="27791" y="75786"/>
                  <a:pt x="28309" y="72566"/>
                </a:cubicBezTo>
                <a:cubicBezTo>
                  <a:pt x="29456" y="65313"/>
                  <a:pt x="35117" y="59244"/>
                  <a:pt x="42777" y="57875"/>
                </a:cubicBezTo>
                <a:cubicBezTo>
                  <a:pt x="49142" y="56765"/>
                  <a:pt x="55322" y="59170"/>
                  <a:pt x="59281" y="63722"/>
                </a:cubicBezTo>
                <a:lnTo>
                  <a:pt x="59281" y="55322"/>
                </a:lnTo>
                <a:cubicBezTo>
                  <a:pt x="59281" y="46996"/>
                  <a:pt x="61835" y="35932"/>
                  <a:pt x="71234" y="28161"/>
                </a:cubicBezTo>
                <a:cubicBezTo>
                  <a:pt x="80855" y="20205"/>
                  <a:pt x="96286" y="11916"/>
                  <a:pt x="117453" y="8104"/>
                </a:cubicBezTo>
                <a:cubicBezTo>
                  <a:pt x="106166" y="2072"/>
                  <a:pt x="85518" y="-3737"/>
                  <a:pt x="56839" y="1295"/>
                </a:cubicBezTo>
                <a:cubicBezTo>
                  <a:pt x="27124" y="6550"/>
                  <a:pt x="9473" y="19834"/>
                  <a:pt x="1295" y="29456"/>
                </a:cubicBezTo>
                <a:cubicBezTo>
                  <a:pt x="-2035" y="33341"/>
                  <a:pt x="-2701" y="38670"/>
                  <a:pt x="-1813" y="43703"/>
                </a:cubicBezTo>
                <a:close/>
                <a:moveTo>
                  <a:pt x="76970" y="51325"/>
                </a:moveTo>
                <a:lnTo>
                  <a:pt x="76970" y="116010"/>
                </a:lnTo>
                <a:cubicBezTo>
                  <a:pt x="76970" y="145872"/>
                  <a:pt x="95657" y="172590"/>
                  <a:pt x="123744" y="182766"/>
                </a:cubicBezTo>
                <a:lnTo>
                  <a:pt x="133994" y="186503"/>
                </a:lnTo>
                <a:cubicBezTo>
                  <a:pt x="139212" y="188391"/>
                  <a:pt x="144947" y="188391"/>
                  <a:pt x="150165" y="186503"/>
                </a:cubicBezTo>
                <a:lnTo>
                  <a:pt x="160452" y="182803"/>
                </a:lnTo>
                <a:cubicBezTo>
                  <a:pt x="188539" y="172590"/>
                  <a:pt x="207226" y="145909"/>
                  <a:pt x="207226" y="116010"/>
                </a:cubicBezTo>
                <a:lnTo>
                  <a:pt x="207226" y="51325"/>
                </a:lnTo>
                <a:cubicBezTo>
                  <a:pt x="207226" y="48772"/>
                  <a:pt x="206449" y="46219"/>
                  <a:pt x="204636" y="44443"/>
                </a:cubicBezTo>
                <a:cubicBezTo>
                  <a:pt x="196273" y="36117"/>
                  <a:pt x="175698" y="23720"/>
                  <a:pt x="142098" y="23720"/>
                </a:cubicBezTo>
                <a:cubicBezTo>
                  <a:pt x="108498" y="23720"/>
                  <a:pt x="87923" y="36154"/>
                  <a:pt x="79560" y="44443"/>
                </a:cubicBezTo>
                <a:cubicBezTo>
                  <a:pt x="77747" y="46256"/>
                  <a:pt x="76970" y="48772"/>
                  <a:pt x="76970" y="51325"/>
                </a:cubicBezTo>
                <a:close/>
                <a:moveTo>
                  <a:pt x="101430" y="120561"/>
                </a:moveTo>
                <a:cubicBezTo>
                  <a:pt x="100912" y="117971"/>
                  <a:pt x="104020" y="116491"/>
                  <a:pt x="106129" y="118119"/>
                </a:cubicBezTo>
                <a:cubicBezTo>
                  <a:pt x="116084" y="125742"/>
                  <a:pt x="128554" y="130293"/>
                  <a:pt x="142098" y="130293"/>
                </a:cubicBezTo>
                <a:cubicBezTo>
                  <a:pt x="155642" y="130293"/>
                  <a:pt x="168075" y="125742"/>
                  <a:pt x="178066" y="118119"/>
                </a:cubicBezTo>
                <a:cubicBezTo>
                  <a:pt x="180176" y="116491"/>
                  <a:pt x="183284" y="117971"/>
                  <a:pt x="182766" y="120561"/>
                </a:cubicBezTo>
                <a:cubicBezTo>
                  <a:pt x="179029" y="139582"/>
                  <a:pt x="162228" y="153976"/>
                  <a:pt x="142098" y="153976"/>
                </a:cubicBezTo>
                <a:cubicBezTo>
                  <a:pt x="121967" y="153976"/>
                  <a:pt x="105167" y="139619"/>
                  <a:pt x="101430" y="120561"/>
                </a:cubicBezTo>
                <a:close/>
                <a:moveTo>
                  <a:pt x="101615" y="83001"/>
                </a:moveTo>
                <a:cubicBezTo>
                  <a:pt x="104057" y="76045"/>
                  <a:pt x="110644" y="71049"/>
                  <a:pt x="118415" y="71049"/>
                </a:cubicBezTo>
                <a:cubicBezTo>
                  <a:pt x="126186" y="71049"/>
                  <a:pt x="132810" y="76045"/>
                  <a:pt x="135215" y="83001"/>
                </a:cubicBezTo>
                <a:cubicBezTo>
                  <a:pt x="136288" y="86110"/>
                  <a:pt x="133550" y="88811"/>
                  <a:pt x="130256" y="88811"/>
                </a:cubicBezTo>
                <a:lnTo>
                  <a:pt x="106573" y="88811"/>
                </a:lnTo>
                <a:cubicBezTo>
                  <a:pt x="103317" y="88811"/>
                  <a:pt x="100542" y="86073"/>
                  <a:pt x="101615" y="83001"/>
                </a:cubicBezTo>
                <a:close/>
                <a:moveTo>
                  <a:pt x="177622" y="88811"/>
                </a:moveTo>
                <a:lnTo>
                  <a:pt x="153939" y="88811"/>
                </a:lnTo>
                <a:cubicBezTo>
                  <a:pt x="150683" y="88811"/>
                  <a:pt x="147908" y="86073"/>
                  <a:pt x="148981" y="83001"/>
                </a:cubicBezTo>
                <a:cubicBezTo>
                  <a:pt x="151386" y="76045"/>
                  <a:pt x="158010" y="71049"/>
                  <a:pt x="165781" y="71049"/>
                </a:cubicBezTo>
                <a:cubicBezTo>
                  <a:pt x="173552" y="71049"/>
                  <a:pt x="180176" y="76045"/>
                  <a:pt x="182581" y="83001"/>
                </a:cubicBezTo>
                <a:cubicBezTo>
                  <a:pt x="183654" y="86110"/>
                  <a:pt x="180916" y="88811"/>
                  <a:pt x="177622" y="8881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9" name="Text 27"/>
          <p:cNvSpPr/>
          <p:nvPr/>
        </p:nvSpPr>
        <p:spPr>
          <a:xfrm>
            <a:off x="6500683" y="5141974"/>
            <a:ext cx="236829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505420" y="5369330"/>
            <a:ext cx="235882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driver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059432" y="4763046"/>
            <a:ext cx="2519869" cy="909427"/>
          </a:xfrm>
          <a:custGeom>
            <a:avLst/>
            <a:gdLst/>
            <a:ahLst/>
            <a:cxnLst/>
            <a:rect l="l" t="t" r="r" b="b"/>
            <a:pathLst>
              <a:path w="2519869" h="909427">
                <a:moveTo>
                  <a:pt x="37896" y="0"/>
                </a:moveTo>
                <a:lnTo>
                  <a:pt x="2481974" y="0"/>
                </a:lnTo>
                <a:cubicBezTo>
                  <a:pt x="2502889" y="0"/>
                  <a:pt x="2519869" y="16981"/>
                  <a:pt x="2519869" y="37896"/>
                </a:cubicBezTo>
                <a:lnTo>
                  <a:pt x="2519869" y="871531"/>
                </a:lnTo>
                <a:cubicBezTo>
                  <a:pt x="2519869" y="892446"/>
                  <a:pt x="2502889" y="909427"/>
                  <a:pt x="2481974" y="909427"/>
                </a:cubicBezTo>
                <a:lnTo>
                  <a:pt x="37896" y="909427"/>
                </a:lnTo>
                <a:cubicBezTo>
                  <a:pt x="16981" y="909427"/>
                  <a:pt x="0" y="892446"/>
                  <a:pt x="0" y="871531"/>
                </a:cubicBezTo>
                <a:lnTo>
                  <a:pt x="0" y="37896"/>
                </a:lnTo>
                <a:cubicBezTo>
                  <a:pt x="0" y="16967"/>
                  <a:pt x="16967" y="0"/>
                  <a:pt x="37896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10225128" y="4876724"/>
            <a:ext cx="189464" cy="189464"/>
          </a:xfrm>
          <a:custGeom>
            <a:avLst/>
            <a:gdLst/>
            <a:ahLst/>
            <a:cxnLst/>
            <a:rect l="l" t="t" r="r" b="b"/>
            <a:pathLst>
              <a:path w="189464" h="189464">
                <a:moveTo>
                  <a:pt x="94732" y="52288"/>
                </a:moveTo>
                <a:lnTo>
                  <a:pt x="94732" y="166743"/>
                </a:lnTo>
                <a:lnTo>
                  <a:pt x="94917" y="166669"/>
                </a:lnTo>
                <a:cubicBezTo>
                  <a:pt x="115122" y="158269"/>
                  <a:pt x="136806" y="153939"/>
                  <a:pt x="158676" y="153939"/>
                </a:cubicBezTo>
                <a:lnTo>
                  <a:pt x="165781" y="153939"/>
                </a:lnTo>
                <a:lnTo>
                  <a:pt x="165781" y="35524"/>
                </a:lnTo>
                <a:lnTo>
                  <a:pt x="158676" y="35524"/>
                </a:lnTo>
                <a:cubicBezTo>
                  <a:pt x="143060" y="35524"/>
                  <a:pt x="127555" y="38633"/>
                  <a:pt x="113123" y="44628"/>
                </a:cubicBezTo>
                <a:cubicBezTo>
                  <a:pt x="106906" y="47218"/>
                  <a:pt x="100764" y="49771"/>
                  <a:pt x="94732" y="52288"/>
                </a:cubicBezTo>
                <a:close/>
                <a:moveTo>
                  <a:pt x="85444" y="22758"/>
                </a:moveTo>
                <a:lnTo>
                  <a:pt x="94732" y="26643"/>
                </a:lnTo>
                <a:lnTo>
                  <a:pt x="104020" y="22758"/>
                </a:lnTo>
                <a:cubicBezTo>
                  <a:pt x="121338" y="15542"/>
                  <a:pt x="139915" y="11841"/>
                  <a:pt x="158676" y="11841"/>
                </a:cubicBezTo>
                <a:lnTo>
                  <a:pt x="171702" y="11841"/>
                </a:lnTo>
                <a:cubicBezTo>
                  <a:pt x="181508" y="11841"/>
                  <a:pt x="189464" y="19797"/>
                  <a:pt x="189464" y="29604"/>
                </a:cubicBezTo>
                <a:lnTo>
                  <a:pt x="189464" y="159860"/>
                </a:lnTo>
                <a:cubicBezTo>
                  <a:pt x="189464" y="169666"/>
                  <a:pt x="181508" y="177622"/>
                  <a:pt x="171702" y="177622"/>
                </a:cubicBezTo>
                <a:lnTo>
                  <a:pt x="158676" y="177622"/>
                </a:lnTo>
                <a:cubicBezTo>
                  <a:pt x="139915" y="177622"/>
                  <a:pt x="121338" y="181323"/>
                  <a:pt x="104020" y="188539"/>
                </a:cubicBezTo>
                <a:lnTo>
                  <a:pt x="99284" y="190500"/>
                </a:lnTo>
                <a:cubicBezTo>
                  <a:pt x="96360" y="191721"/>
                  <a:pt x="93104" y="191721"/>
                  <a:pt x="90180" y="190500"/>
                </a:cubicBezTo>
                <a:lnTo>
                  <a:pt x="85444" y="188539"/>
                </a:lnTo>
                <a:cubicBezTo>
                  <a:pt x="68126" y="181323"/>
                  <a:pt x="49549" y="177622"/>
                  <a:pt x="30788" y="177622"/>
                </a:cubicBezTo>
                <a:lnTo>
                  <a:pt x="17762" y="177622"/>
                </a:lnTo>
                <a:cubicBezTo>
                  <a:pt x="7956" y="177622"/>
                  <a:pt x="0" y="169666"/>
                  <a:pt x="0" y="159860"/>
                </a:cubicBezTo>
                <a:lnTo>
                  <a:pt x="0" y="29604"/>
                </a:lnTo>
                <a:cubicBezTo>
                  <a:pt x="0" y="19797"/>
                  <a:pt x="7956" y="11841"/>
                  <a:pt x="17762" y="11841"/>
                </a:cubicBezTo>
                <a:lnTo>
                  <a:pt x="30788" y="11841"/>
                </a:lnTo>
                <a:cubicBezTo>
                  <a:pt x="49549" y="11841"/>
                  <a:pt x="68126" y="15542"/>
                  <a:pt x="85444" y="2275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3" name="Text 31"/>
          <p:cNvSpPr/>
          <p:nvPr/>
        </p:nvSpPr>
        <p:spPr>
          <a:xfrm>
            <a:off x="9135218" y="5141974"/>
            <a:ext cx="2368298" cy="2273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93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139954" y="5369330"/>
            <a:ext cx="2358825" cy="189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44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value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397874" y="6159790"/>
            <a:ext cx="11415198" cy="644177"/>
          </a:xfrm>
          <a:custGeom>
            <a:avLst/>
            <a:gdLst/>
            <a:ahLst/>
            <a:cxnLst/>
            <a:rect l="l" t="t" r="r" b="b"/>
            <a:pathLst>
              <a:path w="11415198" h="644177">
                <a:moveTo>
                  <a:pt x="0" y="0"/>
                </a:moveTo>
                <a:lnTo>
                  <a:pt x="11339411" y="0"/>
                </a:lnTo>
                <a:cubicBezTo>
                  <a:pt x="11381267" y="0"/>
                  <a:pt x="11415198" y="33931"/>
                  <a:pt x="11415198" y="75787"/>
                </a:cubicBezTo>
                <a:lnTo>
                  <a:pt x="11415198" y="568390"/>
                </a:lnTo>
                <a:cubicBezTo>
                  <a:pt x="11415198" y="610246"/>
                  <a:pt x="11381267" y="644177"/>
                  <a:pt x="11339411" y="644177"/>
                </a:cubicBezTo>
                <a:lnTo>
                  <a:pt x="0" y="6441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6" name="Shape 34"/>
          <p:cNvSpPr/>
          <p:nvPr/>
        </p:nvSpPr>
        <p:spPr>
          <a:xfrm>
            <a:off x="397874" y="6159789"/>
            <a:ext cx="37893" cy="644177"/>
          </a:xfrm>
          <a:custGeom>
            <a:avLst/>
            <a:gdLst/>
            <a:ahLst/>
            <a:cxnLst/>
            <a:rect l="l" t="t" r="r" b="b"/>
            <a:pathLst>
              <a:path w="37893" h="644177">
                <a:moveTo>
                  <a:pt x="0" y="0"/>
                </a:moveTo>
                <a:lnTo>
                  <a:pt x="37893" y="0"/>
                </a:lnTo>
                <a:lnTo>
                  <a:pt x="37893" y="644177"/>
                </a:lnTo>
                <a:lnTo>
                  <a:pt x="0" y="644177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7" name="Shape 35"/>
          <p:cNvSpPr/>
          <p:nvPr/>
        </p:nvSpPr>
        <p:spPr>
          <a:xfrm>
            <a:off x="653650" y="6360462"/>
            <a:ext cx="142098" cy="189464"/>
          </a:xfrm>
          <a:custGeom>
            <a:avLst/>
            <a:gdLst/>
            <a:ahLst/>
            <a:cxnLst/>
            <a:rect l="l" t="t" r="r" b="b"/>
            <a:pathLst>
              <a:path w="142098" h="189464">
                <a:moveTo>
                  <a:pt x="108387" y="142098"/>
                </a:moveTo>
                <a:cubicBezTo>
                  <a:pt x="111088" y="133846"/>
                  <a:pt x="116491" y="126371"/>
                  <a:pt x="122596" y="119932"/>
                </a:cubicBezTo>
                <a:cubicBezTo>
                  <a:pt x="134697" y="107203"/>
                  <a:pt x="142098" y="89995"/>
                  <a:pt x="142098" y="71049"/>
                </a:cubicBezTo>
                <a:cubicBezTo>
                  <a:pt x="142098" y="31824"/>
                  <a:pt x="110274" y="0"/>
                  <a:pt x="71049" y="0"/>
                </a:cubicBezTo>
                <a:cubicBezTo>
                  <a:pt x="31824" y="0"/>
                  <a:pt x="0" y="31824"/>
                  <a:pt x="0" y="71049"/>
                </a:cubicBezTo>
                <a:cubicBezTo>
                  <a:pt x="0" y="89995"/>
                  <a:pt x="7401" y="107203"/>
                  <a:pt x="19501" y="119932"/>
                </a:cubicBezTo>
                <a:cubicBezTo>
                  <a:pt x="25607" y="126371"/>
                  <a:pt x="31047" y="133846"/>
                  <a:pt x="33711" y="142098"/>
                </a:cubicBezTo>
                <a:lnTo>
                  <a:pt x="108350" y="142098"/>
                </a:lnTo>
                <a:close/>
                <a:moveTo>
                  <a:pt x="106573" y="159860"/>
                </a:moveTo>
                <a:lnTo>
                  <a:pt x="35524" y="159860"/>
                </a:lnTo>
                <a:lnTo>
                  <a:pt x="35524" y="165781"/>
                </a:lnTo>
                <a:cubicBezTo>
                  <a:pt x="35524" y="182137"/>
                  <a:pt x="48772" y="195385"/>
                  <a:pt x="65128" y="195385"/>
                </a:cubicBezTo>
                <a:lnTo>
                  <a:pt x="76970" y="195385"/>
                </a:lnTo>
                <a:cubicBezTo>
                  <a:pt x="93326" y="195385"/>
                  <a:pt x="106573" y="182137"/>
                  <a:pt x="106573" y="165781"/>
                </a:cubicBezTo>
                <a:lnTo>
                  <a:pt x="106573" y="159860"/>
                </a:lnTo>
                <a:close/>
                <a:moveTo>
                  <a:pt x="68089" y="41445"/>
                </a:moveTo>
                <a:cubicBezTo>
                  <a:pt x="53361" y="41445"/>
                  <a:pt x="41445" y="53361"/>
                  <a:pt x="41445" y="68089"/>
                </a:cubicBezTo>
                <a:cubicBezTo>
                  <a:pt x="41445" y="73010"/>
                  <a:pt x="37486" y="76970"/>
                  <a:pt x="32564" y="76970"/>
                </a:cubicBezTo>
                <a:cubicBezTo>
                  <a:pt x="27642" y="76970"/>
                  <a:pt x="23683" y="73010"/>
                  <a:pt x="23683" y="68089"/>
                </a:cubicBezTo>
                <a:cubicBezTo>
                  <a:pt x="23683" y="43554"/>
                  <a:pt x="43554" y="23683"/>
                  <a:pt x="68089" y="23683"/>
                </a:cubicBezTo>
                <a:cubicBezTo>
                  <a:pt x="73010" y="23683"/>
                  <a:pt x="76970" y="27642"/>
                  <a:pt x="76970" y="32564"/>
                </a:cubicBezTo>
                <a:cubicBezTo>
                  <a:pt x="76970" y="37486"/>
                  <a:pt x="73010" y="41445"/>
                  <a:pt x="68089" y="4144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8" name="Text 36"/>
          <p:cNvSpPr/>
          <p:nvPr/>
        </p:nvSpPr>
        <p:spPr>
          <a:xfrm>
            <a:off x="956793" y="6322570"/>
            <a:ext cx="9842648" cy="265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43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Insight:</a:t>
            </a:r>
            <a:r>
              <a:rPr lang="en-US" sz="1343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book market demonstrates that customer loyalty and satisfaction are built on content excellence, not pricing strategies.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488156" y="4857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42863" y="107156"/>
                </a:moveTo>
                <a:lnTo>
                  <a:pt x="8204" y="107156"/>
                </a:lnTo>
                <a:cubicBezTo>
                  <a:pt x="-134" y="107156"/>
                  <a:pt x="-5257" y="98081"/>
                  <a:pt x="-971" y="90915"/>
                </a:cubicBezTo>
                <a:lnTo>
                  <a:pt x="16743" y="61380"/>
                </a:lnTo>
                <a:cubicBezTo>
                  <a:pt x="19656" y="56525"/>
                  <a:pt x="24880" y="53578"/>
                  <a:pt x="30540" y="53578"/>
                </a:cubicBezTo>
                <a:lnTo>
                  <a:pt x="62352" y="53578"/>
                </a:lnTo>
                <a:cubicBezTo>
                  <a:pt x="87835" y="10414"/>
                  <a:pt x="125842" y="8238"/>
                  <a:pt x="151258" y="11955"/>
                </a:cubicBezTo>
                <a:cubicBezTo>
                  <a:pt x="155544" y="12591"/>
                  <a:pt x="158893" y="15939"/>
                  <a:pt x="159495" y="20192"/>
                </a:cubicBezTo>
                <a:cubicBezTo>
                  <a:pt x="163212" y="45608"/>
                  <a:pt x="161036" y="83615"/>
                  <a:pt x="117872" y="109098"/>
                </a:cubicBezTo>
                <a:lnTo>
                  <a:pt x="117872" y="140910"/>
                </a:lnTo>
                <a:cubicBezTo>
                  <a:pt x="117872" y="146570"/>
                  <a:pt x="114925" y="151794"/>
                  <a:pt x="110070" y="154707"/>
                </a:cubicBezTo>
                <a:lnTo>
                  <a:pt x="80535" y="172421"/>
                </a:lnTo>
                <a:cubicBezTo>
                  <a:pt x="73402" y="176707"/>
                  <a:pt x="64294" y="171550"/>
                  <a:pt x="64294" y="163246"/>
                </a:cubicBezTo>
                <a:lnTo>
                  <a:pt x="64294" y="128588"/>
                </a:lnTo>
                <a:cubicBezTo>
                  <a:pt x="64294" y="116767"/>
                  <a:pt x="54683" y="107156"/>
                  <a:pt x="42863" y="107156"/>
                </a:cubicBezTo>
                <a:lnTo>
                  <a:pt x="42829" y="107156"/>
                </a:lnTo>
                <a:close/>
                <a:moveTo>
                  <a:pt x="133945" y="53578"/>
                </a:moveTo>
                <a:cubicBezTo>
                  <a:pt x="133945" y="44707"/>
                  <a:pt x="126743" y="37505"/>
                  <a:pt x="117872" y="37505"/>
                </a:cubicBezTo>
                <a:cubicBezTo>
                  <a:pt x="109001" y="37505"/>
                  <a:pt x="101798" y="44707"/>
                  <a:pt x="101798" y="53578"/>
                </a:cubicBezTo>
                <a:cubicBezTo>
                  <a:pt x="101798" y="62449"/>
                  <a:pt x="109001" y="69652"/>
                  <a:pt x="117872" y="69652"/>
                </a:cubicBezTo>
                <a:cubicBezTo>
                  <a:pt x="126743" y="69652"/>
                  <a:pt x="133945" y="62449"/>
                  <a:pt x="133945" y="5357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4" name="Text 2"/>
          <p:cNvSpPr/>
          <p:nvPr/>
        </p:nvSpPr>
        <p:spPr>
          <a:xfrm>
            <a:off x="876300" y="476250"/>
            <a:ext cx="1609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Actions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81000" y="1543050"/>
            <a:ext cx="3686175" cy="2933700"/>
          </a:xfrm>
          <a:custGeom>
            <a:avLst/>
            <a:gdLst/>
            <a:ahLst/>
            <a:cxnLst/>
            <a:rect l="l" t="t" r="r" b="b"/>
            <a:pathLst>
              <a:path w="3686175" h="29337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857512"/>
                </a:lnTo>
                <a:cubicBezTo>
                  <a:pt x="3686175" y="2899589"/>
                  <a:pt x="3652064" y="2933700"/>
                  <a:pt x="3609987" y="2933700"/>
                </a:cubicBezTo>
                <a:lnTo>
                  <a:pt x="76188" y="2933700"/>
                </a:lnTo>
                <a:cubicBezTo>
                  <a:pt x="34111" y="2933700"/>
                  <a:pt x="0" y="2899589"/>
                  <a:pt x="0" y="285751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7" name="Shape 5"/>
          <p:cNvSpPr/>
          <p:nvPr/>
        </p:nvSpPr>
        <p:spPr>
          <a:xfrm>
            <a:off x="381000" y="15430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8" name="Shape 6"/>
          <p:cNvSpPr/>
          <p:nvPr/>
        </p:nvSpPr>
        <p:spPr>
          <a:xfrm>
            <a:off x="6096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00100" y="19812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2105" y="15091"/>
                </a:moveTo>
                <a:cubicBezTo>
                  <a:pt x="54114" y="12368"/>
                  <a:pt x="57329" y="10716"/>
                  <a:pt x="60722" y="10716"/>
                </a:cubicBezTo>
                <a:lnTo>
                  <a:pt x="167878" y="10716"/>
                </a:lnTo>
                <a:cubicBezTo>
                  <a:pt x="171271" y="10716"/>
                  <a:pt x="174486" y="12323"/>
                  <a:pt x="176495" y="15091"/>
                </a:cubicBezTo>
                <a:lnTo>
                  <a:pt x="226502" y="82957"/>
                </a:lnTo>
                <a:cubicBezTo>
                  <a:pt x="229538" y="87064"/>
                  <a:pt x="229225" y="92735"/>
                  <a:pt x="225832" y="96530"/>
                </a:cubicBezTo>
                <a:lnTo>
                  <a:pt x="122247" y="210830"/>
                </a:lnTo>
                <a:cubicBezTo>
                  <a:pt x="120238" y="213062"/>
                  <a:pt x="117336" y="214357"/>
                  <a:pt x="114300" y="214357"/>
                </a:cubicBezTo>
                <a:cubicBezTo>
                  <a:pt x="111264" y="214357"/>
                  <a:pt x="108406" y="213062"/>
                  <a:pt x="106353" y="210830"/>
                </a:cubicBezTo>
                <a:lnTo>
                  <a:pt x="2768" y="96530"/>
                </a:lnTo>
                <a:cubicBezTo>
                  <a:pt x="-670" y="92735"/>
                  <a:pt x="-938" y="87064"/>
                  <a:pt x="2098" y="82957"/>
                </a:cubicBezTo>
                <a:lnTo>
                  <a:pt x="52105" y="15091"/>
                </a:lnTo>
                <a:close/>
                <a:moveTo>
                  <a:pt x="69294" y="32861"/>
                </a:moveTo>
                <a:cubicBezTo>
                  <a:pt x="67821" y="33977"/>
                  <a:pt x="67419" y="35987"/>
                  <a:pt x="68357" y="37549"/>
                </a:cubicBezTo>
                <a:lnTo>
                  <a:pt x="93985" y="80278"/>
                </a:lnTo>
                <a:lnTo>
                  <a:pt x="28262" y="85725"/>
                </a:lnTo>
                <a:cubicBezTo>
                  <a:pt x="26432" y="85859"/>
                  <a:pt x="25003" y="87422"/>
                  <a:pt x="25003" y="89297"/>
                </a:cubicBezTo>
                <a:cubicBezTo>
                  <a:pt x="25003" y="91172"/>
                  <a:pt x="26432" y="92690"/>
                  <a:pt x="28262" y="92869"/>
                </a:cubicBezTo>
                <a:lnTo>
                  <a:pt x="113987" y="100013"/>
                </a:lnTo>
                <a:cubicBezTo>
                  <a:pt x="114166" y="100013"/>
                  <a:pt x="114389" y="100013"/>
                  <a:pt x="114568" y="100013"/>
                </a:cubicBezTo>
                <a:lnTo>
                  <a:pt x="200293" y="92869"/>
                </a:lnTo>
                <a:cubicBezTo>
                  <a:pt x="202123" y="92735"/>
                  <a:pt x="203552" y="91172"/>
                  <a:pt x="203552" y="89297"/>
                </a:cubicBezTo>
                <a:cubicBezTo>
                  <a:pt x="203552" y="87422"/>
                  <a:pt x="202123" y="85904"/>
                  <a:pt x="200293" y="85725"/>
                </a:cubicBezTo>
                <a:lnTo>
                  <a:pt x="134570" y="80233"/>
                </a:lnTo>
                <a:lnTo>
                  <a:pt x="160199" y="37549"/>
                </a:lnTo>
                <a:cubicBezTo>
                  <a:pt x="161136" y="35987"/>
                  <a:pt x="160734" y="33933"/>
                  <a:pt x="159261" y="32861"/>
                </a:cubicBezTo>
                <a:cubicBezTo>
                  <a:pt x="157788" y="31790"/>
                  <a:pt x="155734" y="31968"/>
                  <a:pt x="154484" y="33308"/>
                </a:cubicBezTo>
                <a:lnTo>
                  <a:pt x="114300" y="76885"/>
                </a:lnTo>
                <a:lnTo>
                  <a:pt x="74072" y="33308"/>
                </a:lnTo>
                <a:cubicBezTo>
                  <a:pt x="72822" y="31968"/>
                  <a:pt x="70768" y="31790"/>
                  <a:pt x="69294" y="32861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Text 8"/>
          <p:cNvSpPr/>
          <p:nvPr/>
        </p:nvSpPr>
        <p:spPr>
          <a:xfrm>
            <a:off x="609600" y="25527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Content Quality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9600" y="2933700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 </a:t>
            </a:r>
            <a:r>
              <a:rPr lang="en-US" sz="12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</a:t>
            </a:r>
            <a:r>
              <a:rPr lang="en-US" sz="1200" b="1" dirty="0" smtClean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</a:t>
            </a:r>
            <a:r>
              <a:rPr lang="en-US" sz="1200" dirty="0" smtClean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genre alignment, as there have a greater impact on engagement than pricing.  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829050"/>
            <a:ext cx="3228975" cy="419100"/>
          </a:xfrm>
          <a:custGeom>
            <a:avLst/>
            <a:gdLst/>
            <a:ahLst/>
            <a:cxnLst/>
            <a:rect l="l" t="t" r="r" b="b"/>
            <a:pathLst>
              <a:path w="3228975" h="419100">
                <a:moveTo>
                  <a:pt x="38100" y="0"/>
                </a:moveTo>
                <a:lnTo>
                  <a:pt x="3190875" y="0"/>
                </a:lnTo>
                <a:cubicBezTo>
                  <a:pt x="3211917" y="0"/>
                  <a:pt x="3228975" y="17058"/>
                  <a:pt x="3228975" y="38100"/>
                </a:cubicBezTo>
                <a:lnTo>
                  <a:pt x="3228975" y="381000"/>
                </a:lnTo>
                <a:cubicBezTo>
                  <a:pt x="3228975" y="402042"/>
                  <a:pt x="3211917" y="419100"/>
                  <a:pt x="31908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42950" y="39751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4" name="Text 12"/>
          <p:cNvSpPr/>
          <p:nvPr/>
        </p:nvSpPr>
        <p:spPr>
          <a:xfrm>
            <a:off x="952500" y="3943350"/>
            <a:ext cx="283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drives satisfaction more than price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4500" y="1543050"/>
            <a:ext cx="3686175" cy="2933700"/>
          </a:xfrm>
          <a:custGeom>
            <a:avLst/>
            <a:gdLst/>
            <a:ahLst/>
            <a:cxnLst/>
            <a:rect l="l" t="t" r="r" b="b"/>
            <a:pathLst>
              <a:path w="3686175" h="29337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857512"/>
                </a:lnTo>
                <a:cubicBezTo>
                  <a:pt x="3686175" y="2899589"/>
                  <a:pt x="3652064" y="2933700"/>
                  <a:pt x="3609987" y="2933700"/>
                </a:cubicBezTo>
                <a:lnTo>
                  <a:pt x="76188" y="2933700"/>
                </a:lnTo>
                <a:cubicBezTo>
                  <a:pt x="34111" y="2933700"/>
                  <a:pt x="0" y="2899589"/>
                  <a:pt x="0" y="285751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6" name="Shape 14"/>
          <p:cNvSpPr/>
          <p:nvPr/>
        </p:nvSpPr>
        <p:spPr>
          <a:xfrm>
            <a:off x="4254500" y="15430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7" name="Shape 15"/>
          <p:cNvSpPr/>
          <p:nvPr/>
        </p:nvSpPr>
        <p:spPr>
          <a:xfrm>
            <a:off x="44831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4687888" y="198120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71661" y="-11787"/>
                </a:moveTo>
                <a:cubicBezTo>
                  <a:pt x="75813" y="-15270"/>
                  <a:pt x="81930" y="-15136"/>
                  <a:pt x="85904" y="-11385"/>
                </a:cubicBezTo>
                <a:cubicBezTo>
                  <a:pt x="91395" y="-6206"/>
                  <a:pt x="96307" y="-491"/>
                  <a:pt x="101039" y="5313"/>
                </a:cubicBezTo>
                <a:cubicBezTo>
                  <a:pt x="107067" y="12680"/>
                  <a:pt x="114300" y="22414"/>
                  <a:pt x="121265" y="33977"/>
                </a:cubicBezTo>
                <a:cubicBezTo>
                  <a:pt x="123587" y="30941"/>
                  <a:pt x="125730" y="28262"/>
                  <a:pt x="127605" y="25985"/>
                </a:cubicBezTo>
                <a:cubicBezTo>
                  <a:pt x="128096" y="25405"/>
                  <a:pt x="128588" y="24780"/>
                  <a:pt x="129079" y="24155"/>
                </a:cubicBezTo>
                <a:cubicBezTo>
                  <a:pt x="132606" y="19779"/>
                  <a:pt x="136981" y="14287"/>
                  <a:pt x="142830" y="14287"/>
                </a:cubicBezTo>
                <a:cubicBezTo>
                  <a:pt x="148813" y="14287"/>
                  <a:pt x="153010" y="19601"/>
                  <a:pt x="156582" y="24155"/>
                </a:cubicBezTo>
                <a:cubicBezTo>
                  <a:pt x="157163" y="24914"/>
                  <a:pt x="157743" y="25628"/>
                  <a:pt x="158323" y="26298"/>
                </a:cubicBezTo>
                <a:cubicBezTo>
                  <a:pt x="162922" y="31834"/>
                  <a:pt x="169039" y="39826"/>
                  <a:pt x="175156" y="49694"/>
                </a:cubicBezTo>
                <a:cubicBezTo>
                  <a:pt x="187300" y="69294"/>
                  <a:pt x="199980" y="97200"/>
                  <a:pt x="199980" y="128543"/>
                </a:cubicBezTo>
                <a:cubicBezTo>
                  <a:pt x="199980" y="183773"/>
                  <a:pt x="155198" y="228555"/>
                  <a:pt x="99968" y="228555"/>
                </a:cubicBezTo>
                <a:cubicBezTo>
                  <a:pt x="44738" y="228555"/>
                  <a:pt x="0" y="183818"/>
                  <a:pt x="0" y="128588"/>
                </a:cubicBezTo>
                <a:cubicBezTo>
                  <a:pt x="0" y="87913"/>
                  <a:pt x="18351" y="52685"/>
                  <a:pt x="35942" y="28129"/>
                </a:cubicBezTo>
                <a:cubicBezTo>
                  <a:pt x="44827" y="15761"/>
                  <a:pt x="53667" y="5849"/>
                  <a:pt x="60320" y="-938"/>
                </a:cubicBezTo>
                <a:cubicBezTo>
                  <a:pt x="63981" y="-4688"/>
                  <a:pt x="67687" y="-8394"/>
                  <a:pt x="71705" y="-11743"/>
                </a:cubicBezTo>
                <a:close/>
                <a:moveTo>
                  <a:pt x="100772" y="185738"/>
                </a:moveTo>
                <a:cubicBezTo>
                  <a:pt x="112068" y="185738"/>
                  <a:pt x="122069" y="182612"/>
                  <a:pt x="131490" y="176361"/>
                </a:cubicBezTo>
                <a:cubicBezTo>
                  <a:pt x="150287" y="163235"/>
                  <a:pt x="155332" y="136981"/>
                  <a:pt x="144036" y="116354"/>
                </a:cubicBezTo>
                <a:cubicBezTo>
                  <a:pt x="142027" y="112335"/>
                  <a:pt x="136892" y="112068"/>
                  <a:pt x="133990" y="115461"/>
                </a:cubicBezTo>
                <a:lnTo>
                  <a:pt x="122739" y="128543"/>
                </a:lnTo>
                <a:cubicBezTo>
                  <a:pt x="119792" y="131936"/>
                  <a:pt x="114479" y="131847"/>
                  <a:pt x="111710" y="128320"/>
                </a:cubicBezTo>
                <a:cubicBezTo>
                  <a:pt x="103986" y="118452"/>
                  <a:pt x="89788" y="100459"/>
                  <a:pt x="82555" y="91261"/>
                </a:cubicBezTo>
                <a:cubicBezTo>
                  <a:pt x="80144" y="88181"/>
                  <a:pt x="75768" y="87690"/>
                  <a:pt x="72956" y="90413"/>
                </a:cubicBezTo>
                <a:cubicBezTo>
                  <a:pt x="64785" y="98361"/>
                  <a:pt x="49962" y="115773"/>
                  <a:pt x="49962" y="136981"/>
                </a:cubicBezTo>
                <a:cubicBezTo>
                  <a:pt x="49962" y="167610"/>
                  <a:pt x="72554" y="185738"/>
                  <a:pt x="100727" y="185738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9" name="Text 17"/>
          <p:cNvSpPr/>
          <p:nvPr/>
        </p:nvSpPr>
        <p:spPr>
          <a:xfrm>
            <a:off x="4483100" y="25527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 in High-Performing Genres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483100" y="2933700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Allocate more resources to </a:t>
            </a:r>
            <a:r>
              <a:rPr lang="en-US" sz="12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Fiction &amp; Action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genres that demonstrate highest reader engagement and review volumes.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83100" y="3829050"/>
            <a:ext cx="3228975" cy="419100"/>
          </a:xfrm>
          <a:custGeom>
            <a:avLst/>
            <a:gdLst/>
            <a:ahLst/>
            <a:cxnLst/>
            <a:rect l="l" t="t" r="r" b="b"/>
            <a:pathLst>
              <a:path w="3228975" h="419100">
                <a:moveTo>
                  <a:pt x="38100" y="0"/>
                </a:moveTo>
                <a:lnTo>
                  <a:pt x="3190875" y="0"/>
                </a:lnTo>
                <a:cubicBezTo>
                  <a:pt x="3211917" y="0"/>
                  <a:pt x="3228975" y="17058"/>
                  <a:pt x="3228975" y="38100"/>
                </a:cubicBezTo>
                <a:lnTo>
                  <a:pt x="3228975" y="381000"/>
                </a:lnTo>
                <a:cubicBezTo>
                  <a:pt x="3228975" y="402042"/>
                  <a:pt x="3211917" y="419100"/>
                  <a:pt x="31908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616450" y="39751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3" name="Text 21"/>
          <p:cNvSpPr/>
          <p:nvPr/>
        </p:nvSpPr>
        <p:spPr>
          <a:xfrm>
            <a:off x="4826000" y="3943350"/>
            <a:ext cx="283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genres show strongest market demand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28000" y="1543050"/>
            <a:ext cx="3686175" cy="2933700"/>
          </a:xfrm>
          <a:custGeom>
            <a:avLst/>
            <a:gdLst/>
            <a:ahLst/>
            <a:cxnLst/>
            <a:rect l="l" t="t" r="r" b="b"/>
            <a:pathLst>
              <a:path w="3686175" h="29337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2857512"/>
                </a:lnTo>
                <a:cubicBezTo>
                  <a:pt x="3686175" y="2899589"/>
                  <a:pt x="3652064" y="2933700"/>
                  <a:pt x="3609987" y="2933700"/>
                </a:cubicBezTo>
                <a:lnTo>
                  <a:pt x="76188" y="2933700"/>
                </a:lnTo>
                <a:cubicBezTo>
                  <a:pt x="34111" y="2933700"/>
                  <a:pt x="0" y="2899589"/>
                  <a:pt x="0" y="2857512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5" name="Shape 23"/>
          <p:cNvSpPr/>
          <p:nvPr/>
        </p:nvSpPr>
        <p:spPr>
          <a:xfrm>
            <a:off x="8128000" y="1543050"/>
            <a:ext cx="3686175" cy="38100"/>
          </a:xfrm>
          <a:custGeom>
            <a:avLst/>
            <a:gdLst/>
            <a:ahLst/>
            <a:cxnLst/>
            <a:rect l="l" t="t" r="r" b="b"/>
            <a:pathLst>
              <a:path w="3686175" h="38100">
                <a:moveTo>
                  <a:pt x="38100" y="0"/>
                </a:moveTo>
                <a:lnTo>
                  <a:pt x="3648075" y="0"/>
                </a:lnTo>
                <a:cubicBezTo>
                  <a:pt x="3669103" y="0"/>
                  <a:pt x="3686175" y="17072"/>
                  <a:pt x="3686175" y="38100"/>
                </a:cubicBezTo>
                <a:lnTo>
                  <a:pt x="3686175" y="38100"/>
                </a:lnTo>
                <a:lnTo>
                  <a:pt x="0" y="38100"/>
                </a:ln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6" name="Shape 24"/>
          <p:cNvSpPr/>
          <p:nvPr/>
        </p:nvSpPr>
        <p:spPr>
          <a:xfrm>
            <a:off x="8356600" y="17907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304800" y="0"/>
                </a:moveTo>
                <a:lnTo>
                  <a:pt x="304800" y="0"/>
                </a:lnTo>
                <a:cubicBezTo>
                  <a:pt x="473024" y="0"/>
                  <a:pt x="609600" y="136576"/>
                  <a:pt x="609600" y="304800"/>
                </a:cubicBezTo>
                <a:lnTo>
                  <a:pt x="609600" y="304800"/>
                </a:lnTo>
                <a:cubicBezTo>
                  <a:pt x="609600" y="473024"/>
                  <a:pt x="473024" y="609600"/>
                  <a:pt x="304800" y="609600"/>
                </a:cubicBezTo>
                <a:lnTo>
                  <a:pt x="304800" y="609600"/>
                </a:lnTo>
                <a:cubicBezTo>
                  <a:pt x="136576" y="609600"/>
                  <a:pt x="0" y="473024"/>
                  <a:pt x="0" y="304800"/>
                </a:cubicBezTo>
                <a:lnTo>
                  <a:pt x="0" y="304800"/>
                </a:lnTo>
                <a:cubicBezTo>
                  <a:pt x="0" y="136576"/>
                  <a:pt x="136576" y="0"/>
                  <a:pt x="3048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518525" y="19812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71450" y="14288"/>
                </a:moveTo>
                <a:lnTo>
                  <a:pt x="228600" y="14288"/>
                </a:lnTo>
                <a:cubicBezTo>
                  <a:pt x="236503" y="14288"/>
                  <a:pt x="242888" y="20672"/>
                  <a:pt x="242888" y="28575"/>
                </a:cubicBezTo>
                <a:cubicBezTo>
                  <a:pt x="242888" y="36478"/>
                  <a:pt x="236503" y="42863"/>
                  <a:pt x="228600" y="42863"/>
                </a:cubicBezTo>
                <a:lnTo>
                  <a:pt x="177879" y="42863"/>
                </a:lnTo>
                <a:cubicBezTo>
                  <a:pt x="175558" y="54382"/>
                  <a:pt x="167655" y="63892"/>
                  <a:pt x="157163" y="68446"/>
                </a:cubicBezTo>
                <a:lnTo>
                  <a:pt x="157163" y="200025"/>
                </a:lnTo>
                <a:lnTo>
                  <a:pt x="228600" y="200025"/>
                </a:lnTo>
                <a:cubicBezTo>
                  <a:pt x="236503" y="200025"/>
                  <a:pt x="242888" y="206410"/>
                  <a:pt x="242888" y="214313"/>
                </a:cubicBezTo>
                <a:cubicBezTo>
                  <a:pt x="242888" y="222215"/>
                  <a:pt x="236503" y="228600"/>
                  <a:pt x="228600" y="228600"/>
                </a:cubicBezTo>
                <a:lnTo>
                  <a:pt x="57150" y="228600"/>
                </a:lnTo>
                <a:cubicBezTo>
                  <a:pt x="49247" y="228600"/>
                  <a:pt x="42863" y="222215"/>
                  <a:pt x="42863" y="214313"/>
                </a:cubicBezTo>
                <a:cubicBezTo>
                  <a:pt x="42863" y="206410"/>
                  <a:pt x="49247" y="200025"/>
                  <a:pt x="57150" y="200025"/>
                </a:cubicBezTo>
                <a:lnTo>
                  <a:pt x="128588" y="200025"/>
                </a:lnTo>
                <a:lnTo>
                  <a:pt x="128588" y="68446"/>
                </a:lnTo>
                <a:cubicBezTo>
                  <a:pt x="118095" y="63847"/>
                  <a:pt x="110192" y="54337"/>
                  <a:pt x="107871" y="42863"/>
                </a:cubicBezTo>
                <a:lnTo>
                  <a:pt x="57150" y="42863"/>
                </a:lnTo>
                <a:cubicBezTo>
                  <a:pt x="49247" y="42863"/>
                  <a:pt x="42863" y="36478"/>
                  <a:pt x="42863" y="28575"/>
                </a:cubicBezTo>
                <a:cubicBezTo>
                  <a:pt x="42863" y="20672"/>
                  <a:pt x="49247" y="14288"/>
                  <a:pt x="57150" y="14288"/>
                </a:cubicBezTo>
                <a:lnTo>
                  <a:pt x="114300" y="14288"/>
                </a:lnTo>
                <a:cubicBezTo>
                  <a:pt x="120819" y="5626"/>
                  <a:pt x="131177" y="0"/>
                  <a:pt x="142875" y="0"/>
                </a:cubicBezTo>
                <a:cubicBezTo>
                  <a:pt x="154573" y="0"/>
                  <a:pt x="164931" y="5626"/>
                  <a:pt x="171450" y="14288"/>
                </a:cubicBezTo>
                <a:close/>
                <a:moveTo>
                  <a:pt x="196275" y="142875"/>
                </a:moveTo>
                <a:lnTo>
                  <a:pt x="260925" y="142875"/>
                </a:lnTo>
                <a:lnTo>
                  <a:pt x="228600" y="87422"/>
                </a:lnTo>
                <a:lnTo>
                  <a:pt x="196275" y="142875"/>
                </a:lnTo>
                <a:close/>
                <a:moveTo>
                  <a:pt x="228600" y="185738"/>
                </a:moveTo>
                <a:cubicBezTo>
                  <a:pt x="200516" y="185738"/>
                  <a:pt x="177165" y="170557"/>
                  <a:pt x="172343" y="150510"/>
                </a:cubicBezTo>
                <a:cubicBezTo>
                  <a:pt x="171182" y="145599"/>
                  <a:pt x="172789" y="140553"/>
                  <a:pt x="175334" y="136178"/>
                </a:cubicBezTo>
                <a:lnTo>
                  <a:pt x="217840" y="63311"/>
                </a:lnTo>
                <a:cubicBezTo>
                  <a:pt x="220072" y="59472"/>
                  <a:pt x="224180" y="57150"/>
                  <a:pt x="228600" y="57150"/>
                </a:cubicBezTo>
                <a:cubicBezTo>
                  <a:pt x="233020" y="57150"/>
                  <a:pt x="237128" y="59516"/>
                  <a:pt x="239360" y="63311"/>
                </a:cubicBezTo>
                <a:lnTo>
                  <a:pt x="281866" y="136178"/>
                </a:lnTo>
                <a:cubicBezTo>
                  <a:pt x="284411" y="140553"/>
                  <a:pt x="286018" y="145599"/>
                  <a:pt x="284857" y="150510"/>
                </a:cubicBezTo>
                <a:cubicBezTo>
                  <a:pt x="280035" y="170512"/>
                  <a:pt x="256684" y="185738"/>
                  <a:pt x="228600" y="185738"/>
                </a:cubicBezTo>
                <a:close/>
                <a:moveTo>
                  <a:pt x="56614" y="87422"/>
                </a:moveTo>
                <a:lnTo>
                  <a:pt x="24289" y="142875"/>
                </a:lnTo>
                <a:lnTo>
                  <a:pt x="88984" y="142875"/>
                </a:lnTo>
                <a:lnTo>
                  <a:pt x="56614" y="87422"/>
                </a:lnTo>
                <a:close/>
                <a:moveTo>
                  <a:pt x="402" y="150510"/>
                </a:moveTo>
                <a:cubicBezTo>
                  <a:pt x="-759" y="145599"/>
                  <a:pt x="848" y="140553"/>
                  <a:pt x="3393" y="136178"/>
                </a:cubicBezTo>
                <a:lnTo>
                  <a:pt x="45899" y="63311"/>
                </a:lnTo>
                <a:cubicBezTo>
                  <a:pt x="48131" y="59472"/>
                  <a:pt x="52239" y="57150"/>
                  <a:pt x="56659" y="57150"/>
                </a:cubicBezTo>
                <a:cubicBezTo>
                  <a:pt x="61079" y="57150"/>
                  <a:pt x="65187" y="59516"/>
                  <a:pt x="67419" y="63311"/>
                </a:cubicBezTo>
                <a:lnTo>
                  <a:pt x="109924" y="136178"/>
                </a:lnTo>
                <a:cubicBezTo>
                  <a:pt x="112469" y="140553"/>
                  <a:pt x="114077" y="145599"/>
                  <a:pt x="112916" y="150510"/>
                </a:cubicBezTo>
                <a:cubicBezTo>
                  <a:pt x="108094" y="170512"/>
                  <a:pt x="84743" y="185738"/>
                  <a:pt x="56659" y="185738"/>
                </a:cubicBezTo>
                <a:cubicBezTo>
                  <a:pt x="28575" y="185738"/>
                  <a:pt x="5224" y="170557"/>
                  <a:pt x="402" y="15051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Text 26"/>
          <p:cNvSpPr/>
          <p:nvPr/>
        </p:nvSpPr>
        <p:spPr>
          <a:xfrm>
            <a:off x="8356600" y="2552700"/>
            <a:ext cx="3324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Competitive Pricing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356600" y="2933700"/>
            <a:ext cx="33051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Keep prices </a:t>
            </a:r>
            <a:r>
              <a:rPr lang="en-US" sz="12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competitive</a:t>
            </a: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without overemphasis on premium pricing. Focus on value perception rather than cost positioning.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8356600" y="3829050"/>
            <a:ext cx="3228975" cy="419100"/>
          </a:xfrm>
          <a:custGeom>
            <a:avLst/>
            <a:gdLst/>
            <a:ahLst/>
            <a:cxnLst/>
            <a:rect l="l" t="t" r="r" b="b"/>
            <a:pathLst>
              <a:path w="3228975" h="419100">
                <a:moveTo>
                  <a:pt x="38100" y="0"/>
                </a:moveTo>
                <a:lnTo>
                  <a:pt x="3190875" y="0"/>
                </a:lnTo>
                <a:cubicBezTo>
                  <a:pt x="3211917" y="0"/>
                  <a:pt x="3228975" y="17058"/>
                  <a:pt x="3228975" y="38100"/>
                </a:cubicBezTo>
                <a:lnTo>
                  <a:pt x="3228975" y="381000"/>
                </a:lnTo>
                <a:cubicBezTo>
                  <a:pt x="3228975" y="402042"/>
                  <a:pt x="3211917" y="419100"/>
                  <a:pt x="3190875" y="419100"/>
                </a:cubicBezTo>
                <a:lnTo>
                  <a:pt x="38100" y="419100"/>
                </a:lnTo>
                <a:cubicBezTo>
                  <a:pt x="17058" y="419100"/>
                  <a:pt x="0" y="402042"/>
                  <a:pt x="0" y="3810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8489950" y="3975102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30902" y="72561"/>
                </a:moveTo>
                <a:cubicBezTo>
                  <a:pt x="134157" y="69306"/>
                  <a:pt x="134157" y="64018"/>
                  <a:pt x="130902" y="60763"/>
                </a:cubicBezTo>
                <a:lnTo>
                  <a:pt x="89230" y="19091"/>
                </a:lnTo>
                <a:cubicBezTo>
                  <a:pt x="85974" y="15835"/>
                  <a:pt x="80687" y="15835"/>
                  <a:pt x="77432" y="19091"/>
                </a:cubicBezTo>
                <a:cubicBezTo>
                  <a:pt x="74176" y="22347"/>
                  <a:pt x="74176" y="27634"/>
                  <a:pt x="77432" y="30889"/>
                </a:cubicBezTo>
                <a:lnTo>
                  <a:pt x="104883" y="58341"/>
                </a:lnTo>
                <a:lnTo>
                  <a:pt x="8334" y="58341"/>
                </a:ln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104883" y="75009"/>
                </a:lnTo>
                <a:lnTo>
                  <a:pt x="77432" y="102461"/>
                </a:lnTo>
                <a:cubicBezTo>
                  <a:pt x="74176" y="105716"/>
                  <a:pt x="74176" y="111003"/>
                  <a:pt x="77432" y="114259"/>
                </a:cubicBezTo>
                <a:cubicBezTo>
                  <a:pt x="80687" y="117515"/>
                  <a:pt x="85974" y="117515"/>
                  <a:pt x="89230" y="114259"/>
                </a:cubicBezTo>
                <a:lnTo>
                  <a:pt x="130902" y="72587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2" name="Text 30"/>
          <p:cNvSpPr/>
          <p:nvPr/>
        </p:nvSpPr>
        <p:spPr>
          <a:xfrm>
            <a:off x="8699500" y="3943350"/>
            <a:ext cx="2838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2E8F0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is not a key differentiator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384175" y="4670425"/>
            <a:ext cx="11426825" cy="1806575"/>
          </a:xfrm>
          <a:custGeom>
            <a:avLst/>
            <a:gdLst/>
            <a:ahLst/>
            <a:cxnLst/>
            <a:rect l="l" t="t" r="r" b="b"/>
            <a:pathLst>
              <a:path w="11426825" h="1806575">
                <a:moveTo>
                  <a:pt x="76201" y="0"/>
                </a:moveTo>
                <a:lnTo>
                  <a:pt x="11350624" y="0"/>
                </a:lnTo>
                <a:cubicBezTo>
                  <a:pt x="11392709" y="0"/>
                  <a:pt x="11426825" y="34116"/>
                  <a:pt x="11426825" y="76201"/>
                </a:cubicBezTo>
                <a:lnTo>
                  <a:pt x="11426825" y="1730374"/>
                </a:lnTo>
                <a:cubicBezTo>
                  <a:pt x="11426825" y="1772459"/>
                  <a:pt x="11392709" y="1806575"/>
                  <a:pt x="11350624" y="1806575"/>
                </a:cubicBezTo>
                <a:lnTo>
                  <a:pt x="76201" y="1806575"/>
                </a:lnTo>
                <a:cubicBezTo>
                  <a:pt x="34116" y="1806575"/>
                  <a:pt x="0" y="1772459"/>
                  <a:pt x="0" y="173037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15000"/>
                </a:srgbClr>
              </a:gs>
              <a:gs pos="100000">
                <a:srgbClr val="38B2AC">
                  <a:alpha val="5000"/>
                </a:srgbClr>
              </a:gs>
            </a:gsLst>
            <a:lin ang="2700000" scaled="1"/>
          </a:gradFill>
          <a:ln w="8467">
            <a:solidFill>
              <a:srgbClr val="38B2AC">
                <a:alpha val="4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5950" y="4950619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768350" y="5103019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6" name="Text 34"/>
          <p:cNvSpPr/>
          <p:nvPr/>
        </p:nvSpPr>
        <p:spPr>
          <a:xfrm>
            <a:off x="1301750" y="5064919"/>
            <a:ext cx="1771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Impact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15950" y="5636419"/>
            <a:ext cx="11049000" cy="561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These insights help </a:t>
            </a:r>
            <a:r>
              <a:rPr lang="en-US" sz="1350" b="1" dirty="0">
                <a:solidFill>
                  <a:srgbClr val="38B2AC"/>
                </a:solidFill>
                <a:highlight>
                  <a:srgbClr val="38B2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optimize product strategy </a:t>
            </a:r>
            <a:r>
              <a:rPr lang="en-US" sz="135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and </a:t>
            </a:r>
            <a:r>
              <a:rPr lang="en-US" sz="1350" b="1" dirty="0">
                <a:solidFill>
                  <a:srgbClr val="38B2AC"/>
                </a:solidFill>
                <a:highlight>
                  <a:srgbClr val="38B2AC">
                    <a:alpha val="20000"/>
                  </a:srgbClr>
                </a:highlight>
                <a:latin typeface="Liter" pitchFamily="34" charset="0"/>
                <a:ea typeface="Liter" pitchFamily="34" charset="-122"/>
                <a:cs typeface="Liter" pitchFamily="34" charset="-120"/>
              </a:rPr>
              <a:t>improve market positioning </a:t>
            </a:r>
            <a:r>
              <a:rPr lang="en-US" sz="135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focusing resources on what truly matters to readers: exceptional content in popular genres at fair prices.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s2.ftcdn.net/809bcb82aee3a457a4cc2c4d9995403a61217e62.jpg"/>
          <p:cNvPicPr>
            <a:picLocks noChangeAspect="1"/>
          </p:cNvPicPr>
          <p:nvPr/>
        </p:nvPicPr>
        <p:blipFill>
          <a:blip r:embed="rId3">
            <a:alphaModFix amt="20000"/>
          </a:blip>
          <a:srcRect t="9591" b="9591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1A1D21">
                  <a:alpha val="95000"/>
                </a:srgbClr>
              </a:gs>
              <a:gs pos="50000">
                <a:srgbClr val="2A4B5A">
                  <a:alpha val="85000"/>
                </a:srgbClr>
              </a:gs>
              <a:gs pos="100000">
                <a:srgbClr val="1A1D21">
                  <a:alpha val="95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1000" y="381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509587" y="485775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04276" y="10716"/>
                </a:moveTo>
                <a:lnTo>
                  <a:pt x="107156" y="10716"/>
                </a:lnTo>
                <a:cubicBezTo>
                  <a:pt x="118977" y="10716"/>
                  <a:pt x="128588" y="20326"/>
                  <a:pt x="128588" y="32147"/>
                </a:cubicBezTo>
                <a:lnTo>
                  <a:pt x="128588" y="150019"/>
                </a:lnTo>
                <a:cubicBezTo>
                  <a:pt x="128588" y="161839"/>
                  <a:pt x="118977" y="171450"/>
                  <a:pt x="107156" y="171450"/>
                </a:cubicBezTo>
                <a:lnTo>
                  <a:pt x="21431" y="171450"/>
                </a:lnTo>
                <a:cubicBezTo>
                  <a:pt x="9611" y="171450"/>
                  <a:pt x="0" y="161839"/>
                  <a:pt x="0" y="150019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24311" y="10716"/>
                </a:lnTo>
                <a:cubicBezTo>
                  <a:pt x="27995" y="4320"/>
                  <a:pt x="34926" y="0"/>
                  <a:pt x="42863" y="0"/>
                </a:cubicBezTo>
                <a:lnTo>
                  <a:pt x="85725" y="0"/>
                </a:lnTo>
                <a:cubicBezTo>
                  <a:pt x="93661" y="0"/>
                  <a:pt x="100593" y="4320"/>
                  <a:pt x="104276" y="10716"/>
                </a:cubicBezTo>
                <a:close/>
                <a:moveTo>
                  <a:pt x="83046" y="37505"/>
                </a:moveTo>
                <a:cubicBezTo>
                  <a:pt x="87500" y="37505"/>
                  <a:pt x="91083" y="33922"/>
                  <a:pt x="91083" y="29468"/>
                </a:cubicBezTo>
                <a:cubicBezTo>
                  <a:pt x="91083" y="25014"/>
                  <a:pt x="87500" y="21431"/>
                  <a:pt x="83046" y="21431"/>
                </a:cubicBezTo>
                <a:lnTo>
                  <a:pt x="45541" y="21431"/>
                </a:lnTo>
                <a:cubicBezTo>
                  <a:pt x="41088" y="21431"/>
                  <a:pt x="37505" y="25014"/>
                  <a:pt x="37505" y="29468"/>
                </a:cubicBezTo>
                <a:cubicBezTo>
                  <a:pt x="37505" y="33922"/>
                  <a:pt x="41088" y="37505"/>
                  <a:pt x="45541" y="37505"/>
                </a:cubicBezTo>
                <a:lnTo>
                  <a:pt x="83046" y="37505"/>
                </a:lnTo>
                <a:close/>
                <a:moveTo>
                  <a:pt x="92556" y="87299"/>
                </a:moveTo>
                <a:cubicBezTo>
                  <a:pt x="94900" y="83548"/>
                  <a:pt x="93762" y="78592"/>
                  <a:pt x="90011" y="76215"/>
                </a:cubicBezTo>
                <a:cubicBezTo>
                  <a:pt x="86261" y="73837"/>
                  <a:pt x="81305" y="75009"/>
                  <a:pt x="78927" y="78760"/>
                </a:cubicBezTo>
                <a:lnTo>
                  <a:pt x="58367" y="111677"/>
                </a:lnTo>
                <a:lnTo>
                  <a:pt x="49325" y="99622"/>
                </a:lnTo>
                <a:cubicBezTo>
                  <a:pt x="46646" y="96072"/>
                  <a:pt x="41624" y="95336"/>
                  <a:pt x="38074" y="98014"/>
                </a:cubicBezTo>
                <a:cubicBezTo>
                  <a:pt x="34524" y="100693"/>
                  <a:pt x="33788" y="105716"/>
                  <a:pt x="36467" y="109266"/>
                </a:cubicBezTo>
                <a:lnTo>
                  <a:pt x="52540" y="130697"/>
                </a:lnTo>
                <a:cubicBezTo>
                  <a:pt x="54114" y="132807"/>
                  <a:pt x="56659" y="134012"/>
                  <a:pt x="59304" y="133912"/>
                </a:cubicBezTo>
                <a:cubicBezTo>
                  <a:pt x="61950" y="133811"/>
                  <a:pt x="64361" y="132405"/>
                  <a:pt x="65767" y="130128"/>
                </a:cubicBezTo>
                <a:lnTo>
                  <a:pt x="92556" y="8726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6" name="Text 3"/>
          <p:cNvSpPr/>
          <p:nvPr/>
        </p:nvSpPr>
        <p:spPr>
          <a:xfrm>
            <a:off x="876300" y="476250"/>
            <a:ext cx="828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105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Summary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876300"/>
            <a:ext cx="1165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400050" y="21336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9" name="Shape 6"/>
          <p:cNvSpPr/>
          <p:nvPr/>
        </p:nvSpPr>
        <p:spPr>
          <a:xfrm>
            <a:off x="400050" y="21336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0" name="Shape 7"/>
          <p:cNvSpPr/>
          <p:nvPr/>
        </p:nvSpPr>
        <p:spPr>
          <a:xfrm>
            <a:off x="647700" y="2362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785813" y="25146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-2232" y="52685"/>
                </a:moveTo>
                <a:lnTo>
                  <a:pt x="10492" y="124882"/>
                </a:lnTo>
                <a:cubicBezTo>
                  <a:pt x="16743" y="160377"/>
                  <a:pt x="44559" y="188193"/>
                  <a:pt x="80055" y="194444"/>
                </a:cubicBezTo>
                <a:lnTo>
                  <a:pt x="85725" y="195426"/>
                </a:lnTo>
                <a:cubicBezTo>
                  <a:pt x="78358" y="182657"/>
                  <a:pt x="73625" y="168325"/>
                  <a:pt x="72063" y="153233"/>
                </a:cubicBezTo>
                <a:lnTo>
                  <a:pt x="61302" y="155153"/>
                </a:lnTo>
                <a:cubicBezTo>
                  <a:pt x="56971" y="155912"/>
                  <a:pt x="52908" y="152564"/>
                  <a:pt x="53757" y="148233"/>
                </a:cubicBezTo>
                <a:cubicBezTo>
                  <a:pt x="55900" y="137205"/>
                  <a:pt x="62285" y="127427"/>
                  <a:pt x="71482" y="121042"/>
                </a:cubicBezTo>
                <a:lnTo>
                  <a:pt x="71482" y="87734"/>
                </a:lnTo>
                <a:cubicBezTo>
                  <a:pt x="70857" y="88091"/>
                  <a:pt x="70143" y="88315"/>
                  <a:pt x="69384" y="88449"/>
                </a:cubicBezTo>
                <a:lnTo>
                  <a:pt x="41255" y="93405"/>
                </a:lnTo>
                <a:cubicBezTo>
                  <a:pt x="37371" y="94074"/>
                  <a:pt x="33531" y="91440"/>
                  <a:pt x="34156" y="87556"/>
                </a:cubicBezTo>
                <a:cubicBezTo>
                  <a:pt x="35540" y="78804"/>
                  <a:pt x="42371" y="71482"/>
                  <a:pt x="51614" y="69830"/>
                </a:cubicBezTo>
                <a:cubicBezTo>
                  <a:pt x="59293" y="68491"/>
                  <a:pt x="66749" y="71393"/>
                  <a:pt x="71527" y="76885"/>
                </a:cubicBezTo>
                <a:lnTo>
                  <a:pt x="71527" y="66749"/>
                </a:lnTo>
                <a:cubicBezTo>
                  <a:pt x="71527" y="56704"/>
                  <a:pt x="74608" y="43354"/>
                  <a:pt x="85948" y="33977"/>
                </a:cubicBezTo>
                <a:cubicBezTo>
                  <a:pt x="97557" y="24378"/>
                  <a:pt x="116175" y="14377"/>
                  <a:pt x="141714" y="9778"/>
                </a:cubicBezTo>
                <a:cubicBezTo>
                  <a:pt x="128096" y="2500"/>
                  <a:pt x="103183" y="-4509"/>
                  <a:pt x="68580" y="1563"/>
                </a:cubicBezTo>
                <a:cubicBezTo>
                  <a:pt x="32727" y="7903"/>
                  <a:pt x="11430" y="23932"/>
                  <a:pt x="1563" y="35540"/>
                </a:cubicBezTo>
                <a:cubicBezTo>
                  <a:pt x="-2456" y="40228"/>
                  <a:pt x="-3259" y="46658"/>
                  <a:pt x="-2188" y="52730"/>
                </a:cubicBezTo>
                <a:close/>
                <a:moveTo>
                  <a:pt x="92869" y="61927"/>
                </a:moveTo>
                <a:lnTo>
                  <a:pt x="92869" y="139973"/>
                </a:lnTo>
                <a:cubicBezTo>
                  <a:pt x="92869" y="176004"/>
                  <a:pt x="115416" y="208240"/>
                  <a:pt x="149304" y="220519"/>
                </a:cubicBezTo>
                <a:lnTo>
                  <a:pt x="161672" y="225028"/>
                </a:lnTo>
                <a:cubicBezTo>
                  <a:pt x="167967" y="227305"/>
                  <a:pt x="174888" y="227305"/>
                  <a:pt x="181183" y="225028"/>
                </a:cubicBezTo>
                <a:lnTo>
                  <a:pt x="193596" y="220563"/>
                </a:lnTo>
                <a:cubicBezTo>
                  <a:pt x="227484" y="208240"/>
                  <a:pt x="250031" y="176049"/>
                  <a:pt x="250031" y="139973"/>
                </a:cubicBezTo>
                <a:lnTo>
                  <a:pt x="250031" y="61927"/>
                </a:lnTo>
                <a:cubicBezTo>
                  <a:pt x="250031" y="58847"/>
                  <a:pt x="249094" y="55766"/>
                  <a:pt x="246906" y="53623"/>
                </a:cubicBezTo>
                <a:cubicBezTo>
                  <a:pt x="236815" y="43577"/>
                  <a:pt x="211991" y="28620"/>
                  <a:pt x="171450" y="28620"/>
                </a:cubicBezTo>
                <a:cubicBezTo>
                  <a:pt x="130909" y="28620"/>
                  <a:pt x="106085" y="43622"/>
                  <a:pt x="95994" y="53623"/>
                </a:cubicBezTo>
                <a:cubicBezTo>
                  <a:pt x="93806" y="55811"/>
                  <a:pt x="92869" y="58847"/>
                  <a:pt x="92869" y="61927"/>
                </a:cubicBezTo>
                <a:close/>
                <a:moveTo>
                  <a:pt x="122381" y="145465"/>
                </a:moveTo>
                <a:cubicBezTo>
                  <a:pt x="121756" y="142339"/>
                  <a:pt x="125507" y="140553"/>
                  <a:pt x="128052" y="142518"/>
                </a:cubicBezTo>
                <a:cubicBezTo>
                  <a:pt x="140062" y="151715"/>
                  <a:pt x="155109" y="157207"/>
                  <a:pt x="171450" y="157207"/>
                </a:cubicBezTo>
                <a:cubicBezTo>
                  <a:pt x="187791" y="157207"/>
                  <a:pt x="202793" y="151715"/>
                  <a:pt x="214848" y="142518"/>
                </a:cubicBezTo>
                <a:cubicBezTo>
                  <a:pt x="217393" y="140553"/>
                  <a:pt x="221144" y="142339"/>
                  <a:pt x="220519" y="145465"/>
                </a:cubicBezTo>
                <a:cubicBezTo>
                  <a:pt x="216009" y="168414"/>
                  <a:pt x="195739" y="185782"/>
                  <a:pt x="171450" y="185782"/>
                </a:cubicBezTo>
                <a:cubicBezTo>
                  <a:pt x="147161" y="185782"/>
                  <a:pt x="126891" y="168459"/>
                  <a:pt x="122381" y="145465"/>
                </a:cubicBezTo>
                <a:close/>
                <a:moveTo>
                  <a:pt x="122605" y="100146"/>
                </a:moveTo>
                <a:cubicBezTo>
                  <a:pt x="125551" y="91753"/>
                  <a:pt x="133499" y="85725"/>
                  <a:pt x="142875" y="85725"/>
                </a:cubicBezTo>
                <a:cubicBezTo>
                  <a:pt x="152251" y="85725"/>
                  <a:pt x="160243" y="91753"/>
                  <a:pt x="163145" y="100146"/>
                </a:cubicBezTo>
                <a:cubicBezTo>
                  <a:pt x="164440" y="103897"/>
                  <a:pt x="161136" y="107156"/>
                  <a:pt x="157163" y="107156"/>
                </a:cubicBezTo>
                <a:lnTo>
                  <a:pt x="128588" y="107156"/>
                </a:lnTo>
                <a:cubicBezTo>
                  <a:pt x="124658" y="107156"/>
                  <a:pt x="121310" y="103852"/>
                  <a:pt x="122605" y="100146"/>
                </a:cubicBezTo>
                <a:close/>
                <a:moveTo>
                  <a:pt x="214313" y="107156"/>
                </a:moveTo>
                <a:lnTo>
                  <a:pt x="185738" y="107156"/>
                </a:lnTo>
                <a:cubicBezTo>
                  <a:pt x="181808" y="107156"/>
                  <a:pt x="178460" y="103852"/>
                  <a:pt x="179755" y="100146"/>
                </a:cubicBezTo>
                <a:cubicBezTo>
                  <a:pt x="182657" y="91753"/>
                  <a:pt x="190649" y="85725"/>
                  <a:pt x="200025" y="85725"/>
                </a:cubicBezTo>
                <a:cubicBezTo>
                  <a:pt x="209401" y="85725"/>
                  <a:pt x="217393" y="91753"/>
                  <a:pt x="220295" y="100146"/>
                </a:cubicBezTo>
                <a:cubicBezTo>
                  <a:pt x="221590" y="103897"/>
                  <a:pt x="218286" y="107156"/>
                  <a:pt x="214313" y="107156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2" name="Text 9"/>
          <p:cNvSpPr/>
          <p:nvPr/>
        </p:nvSpPr>
        <p:spPr>
          <a:xfrm>
            <a:off x="1333500" y="23622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 is the Primary Driver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333500" y="2705100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Genre selection significantly influences reader engagement, with Fiction &amp; Action leading the market.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6210300" y="21336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15" name="Shape 12"/>
          <p:cNvSpPr/>
          <p:nvPr/>
        </p:nvSpPr>
        <p:spPr>
          <a:xfrm>
            <a:off x="6210300" y="21336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6" name="Shape 13"/>
          <p:cNvSpPr/>
          <p:nvPr/>
        </p:nvSpPr>
        <p:spPr>
          <a:xfrm>
            <a:off x="6457950" y="2362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6610350" y="25146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8575" y="28575"/>
                </a:moveTo>
                <a:cubicBezTo>
                  <a:pt x="28575" y="20672"/>
                  <a:pt x="22190" y="14288"/>
                  <a:pt x="14288" y="14288"/>
                </a:cubicBezTo>
                <a:cubicBezTo>
                  <a:pt x="6385" y="14288"/>
                  <a:pt x="0" y="20672"/>
                  <a:pt x="0" y="28575"/>
                </a:cubicBezTo>
                <a:lnTo>
                  <a:pt x="0" y="178594"/>
                </a:lnTo>
                <a:cubicBezTo>
                  <a:pt x="0" y="198328"/>
                  <a:pt x="15984" y="214313"/>
                  <a:pt x="35719" y="214313"/>
                </a:cubicBezTo>
                <a:lnTo>
                  <a:pt x="214313" y="214313"/>
                </a:lnTo>
                <a:cubicBezTo>
                  <a:pt x="222215" y="214313"/>
                  <a:pt x="228600" y="207928"/>
                  <a:pt x="228600" y="200025"/>
                </a:cubicBezTo>
                <a:cubicBezTo>
                  <a:pt x="228600" y="192122"/>
                  <a:pt x="222215" y="185738"/>
                  <a:pt x="214313" y="185738"/>
                </a:cubicBezTo>
                <a:lnTo>
                  <a:pt x="35719" y="185738"/>
                </a:lnTo>
                <a:cubicBezTo>
                  <a:pt x="31790" y="185738"/>
                  <a:pt x="28575" y="182523"/>
                  <a:pt x="28575" y="178594"/>
                </a:cubicBezTo>
                <a:lnTo>
                  <a:pt x="28575" y="28575"/>
                </a:lnTo>
                <a:close/>
                <a:moveTo>
                  <a:pt x="210116" y="67241"/>
                </a:moveTo>
                <a:cubicBezTo>
                  <a:pt x="215697" y="61659"/>
                  <a:pt x="215697" y="52596"/>
                  <a:pt x="210116" y="47015"/>
                </a:cubicBezTo>
                <a:cubicBezTo>
                  <a:pt x="204534" y="41434"/>
                  <a:pt x="195471" y="41434"/>
                  <a:pt x="189890" y="47015"/>
                </a:cubicBezTo>
                <a:lnTo>
                  <a:pt x="142875" y="94074"/>
                </a:lnTo>
                <a:lnTo>
                  <a:pt x="117247" y="68491"/>
                </a:lnTo>
                <a:cubicBezTo>
                  <a:pt x="111666" y="62910"/>
                  <a:pt x="102602" y="62910"/>
                  <a:pt x="97021" y="68491"/>
                </a:cubicBezTo>
                <a:lnTo>
                  <a:pt x="54159" y="111353"/>
                </a:lnTo>
                <a:cubicBezTo>
                  <a:pt x="48578" y="116934"/>
                  <a:pt x="48578" y="125998"/>
                  <a:pt x="54159" y="131579"/>
                </a:cubicBezTo>
                <a:cubicBezTo>
                  <a:pt x="59740" y="137160"/>
                  <a:pt x="68803" y="137160"/>
                  <a:pt x="74384" y="131579"/>
                </a:cubicBezTo>
                <a:lnTo>
                  <a:pt x="107156" y="98807"/>
                </a:lnTo>
                <a:lnTo>
                  <a:pt x="132784" y="124435"/>
                </a:lnTo>
                <a:cubicBezTo>
                  <a:pt x="138366" y="130016"/>
                  <a:pt x="147429" y="130016"/>
                  <a:pt x="153010" y="124435"/>
                </a:cubicBezTo>
                <a:lnTo>
                  <a:pt x="210160" y="67285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18" name="Text 15"/>
          <p:cNvSpPr/>
          <p:nvPr/>
        </p:nvSpPr>
        <p:spPr>
          <a:xfrm>
            <a:off x="7143750" y="23622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Ratings Are Stable Across Categories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143750" y="2705100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satisfaction remains consistently high (~4.6+) regardless of genre or price point.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00050" y="36195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1" name="Shape 18"/>
          <p:cNvSpPr/>
          <p:nvPr/>
        </p:nvSpPr>
        <p:spPr>
          <a:xfrm>
            <a:off x="400050" y="36195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2" name="Shape 19"/>
          <p:cNvSpPr/>
          <p:nvPr/>
        </p:nvSpPr>
        <p:spPr>
          <a:xfrm>
            <a:off x="647700" y="3848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842963" y="40005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60722" y="10716"/>
                </a:moveTo>
                <a:cubicBezTo>
                  <a:pt x="60722" y="4777"/>
                  <a:pt x="65499" y="0"/>
                  <a:pt x="71438" y="0"/>
                </a:cubicBezTo>
                <a:cubicBezTo>
                  <a:pt x="77376" y="0"/>
                  <a:pt x="82153" y="4777"/>
                  <a:pt x="82153" y="10716"/>
                </a:cubicBezTo>
                <a:lnTo>
                  <a:pt x="82153" y="28575"/>
                </a:lnTo>
                <a:lnTo>
                  <a:pt x="107156" y="28575"/>
                </a:lnTo>
                <a:cubicBezTo>
                  <a:pt x="115059" y="28575"/>
                  <a:pt x="121444" y="34960"/>
                  <a:pt x="121444" y="42863"/>
                </a:cubicBezTo>
                <a:cubicBezTo>
                  <a:pt x="121444" y="50765"/>
                  <a:pt x="115059" y="57150"/>
                  <a:pt x="107156" y="57150"/>
                </a:cubicBezTo>
                <a:lnTo>
                  <a:pt x="55855" y="57150"/>
                </a:lnTo>
                <a:cubicBezTo>
                  <a:pt x="44738" y="57150"/>
                  <a:pt x="35719" y="66169"/>
                  <a:pt x="35719" y="77286"/>
                </a:cubicBezTo>
                <a:cubicBezTo>
                  <a:pt x="35719" y="87332"/>
                  <a:pt x="43086" y="95816"/>
                  <a:pt x="52998" y="97244"/>
                </a:cubicBezTo>
                <a:lnTo>
                  <a:pt x="93896" y="103093"/>
                </a:lnTo>
                <a:cubicBezTo>
                  <a:pt x="117917" y="106531"/>
                  <a:pt x="135731" y="127069"/>
                  <a:pt x="135731" y="151314"/>
                </a:cubicBezTo>
                <a:cubicBezTo>
                  <a:pt x="135731" y="178237"/>
                  <a:pt x="113898" y="200025"/>
                  <a:pt x="87020" y="200025"/>
                </a:cubicBezTo>
                <a:lnTo>
                  <a:pt x="82153" y="200025"/>
                </a:lnTo>
                <a:lnTo>
                  <a:pt x="82153" y="217884"/>
                </a:lnTo>
                <a:cubicBezTo>
                  <a:pt x="82153" y="223823"/>
                  <a:pt x="77376" y="228600"/>
                  <a:pt x="71438" y="228600"/>
                </a:cubicBezTo>
                <a:cubicBezTo>
                  <a:pt x="65499" y="228600"/>
                  <a:pt x="60722" y="223823"/>
                  <a:pt x="60722" y="217884"/>
                </a:cubicBezTo>
                <a:lnTo>
                  <a:pt x="60722" y="200025"/>
                </a:lnTo>
                <a:lnTo>
                  <a:pt x="28575" y="200025"/>
                </a:lnTo>
                <a:cubicBezTo>
                  <a:pt x="20672" y="200025"/>
                  <a:pt x="14288" y="193640"/>
                  <a:pt x="14288" y="185738"/>
                </a:cubicBezTo>
                <a:cubicBezTo>
                  <a:pt x="14288" y="177835"/>
                  <a:pt x="20672" y="171450"/>
                  <a:pt x="28575" y="171450"/>
                </a:cubicBezTo>
                <a:lnTo>
                  <a:pt x="87020" y="171450"/>
                </a:lnTo>
                <a:cubicBezTo>
                  <a:pt x="98137" y="171450"/>
                  <a:pt x="107156" y="162431"/>
                  <a:pt x="107156" y="151314"/>
                </a:cubicBezTo>
                <a:cubicBezTo>
                  <a:pt x="107156" y="141268"/>
                  <a:pt x="99789" y="132784"/>
                  <a:pt x="89877" y="131356"/>
                </a:cubicBezTo>
                <a:lnTo>
                  <a:pt x="48979" y="125507"/>
                </a:lnTo>
                <a:cubicBezTo>
                  <a:pt x="24958" y="122113"/>
                  <a:pt x="7144" y="101531"/>
                  <a:pt x="7144" y="77286"/>
                </a:cubicBezTo>
                <a:cubicBezTo>
                  <a:pt x="7144" y="50408"/>
                  <a:pt x="28977" y="28575"/>
                  <a:pt x="55855" y="28575"/>
                </a:cubicBezTo>
                <a:lnTo>
                  <a:pt x="60722" y="28575"/>
                </a:lnTo>
                <a:lnTo>
                  <a:pt x="60722" y="10716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4" name="Text 21"/>
          <p:cNvSpPr/>
          <p:nvPr/>
        </p:nvSpPr>
        <p:spPr>
          <a:xfrm>
            <a:off x="1333500" y="38481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is Not a Major Factor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333500" y="4191000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Pricing has minimal impact on customer satisfaction, indicating content quality matters more.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210300" y="3619500"/>
            <a:ext cx="5600700" cy="1295400"/>
          </a:xfrm>
          <a:custGeom>
            <a:avLst/>
            <a:gdLst/>
            <a:ahLst/>
            <a:cxnLst/>
            <a:rect l="l" t="t" r="r" b="b"/>
            <a:pathLst>
              <a:path w="5600700" h="1295400">
                <a:moveTo>
                  <a:pt x="0" y="0"/>
                </a:moveTo>
                <a:lnTo>
                  <a:pt x="5524505" y="0"/>
                </a:lnTo>
                <a:cubicBezTo>
                  <a:pt x="5566558" y="0"/>
                  <a:pt x="5600700" y="34142"/>
                  <a:pt x="5600700" y="76195"/>
                </a:cubicBezTo>
                <a:lnTo>
                  <a:pt x="5600700" y="1219205"/>
                </a:lnTo>
                <a:cubicBezTo>
                  <a:pt x="5600700" y="1261286"/>
                  <a:pt x="5566586" y="1295400"/>
                  <a:pt x="5524505" y="1295400"/>
                </a:cubicBez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A4B5A">
                  <a:alpha val="50000"/>
                </a:srgbClr>
              </a:gs>
              <a:gs pos="100000">
                <a:srgbClr val="2A4B5A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27" name="Shape 24"/>
          <p:cNvSpPr/>
          <p:nvPr/>
        </p:nvSpPr>
        <p:spPr>
          <a:xfrm>
            <a:off x="6210300" y="3619500"/>
            <a:ext cx="38100" cy="1295400"/>
          </a:xfrm>
          <a:custGeom>
            <a:avLst/>
            <a:gdLst/>
            <a:ahLst/>
            <a:cxnLst/>
            <a:rect l="l" t="t" r="r" b="b"/>
            <a:pathLst>
              <a:path w="38100" h="1295400">
                <a:moveTo>
                  <a:pt x="0" y="0"/>
                </a:moveTo>
                <a:lnTo>
                  <a:pt x="38100" y="0"/>
                </a:lnTo>
                <a:lnTo>
                  <a:pt x="38100" y="1295400"/>
                </a:lnTo>
                <a:lnTo>
                  <a:pt x="0" y="1295400"/>
                </a:lnTo>
                <a:lnTo>
                  <a:pt x="0" y="0"/>
                </a:ln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28" name="Shape 25"/>
          <p:cNvSpPr/>
          <p:nvPr/>
        </p:nvSpPr>
        <p:spPr>
          <a:xfrm>
            <a:off x="6457950" y="3848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266700" y="0"/>
                </a:moveTo>
                <a:lnTo>
                  <a:pt x="266700" y="0"/>
                </a:lnTo>
                <a:cubicBezTo>
                  <a:pt x="413896" y="0"/>
                  <a:pt x="533400" y="119504"/>
                  <a:pt x="533400" y="266700"/>
                </a:cubicBezTo>
                <a:lnTo>
                  <a:pt x="533400" y="266700"/>
                </a:lnTo>
                <a:cubicBezTo>
                  <a:pt x="533400" y="413896"/>
                  <a:pt x="413896" y="533400"/>
                  <a:pt x="266700" y="533400"/>
                </a:cubicBezTo>
                <a:lnTo>
                  <a:pt x="266700" y="533400"/>
                </a:lnTo>
                <a:cubicBezTo>
                  <a:pt x="119504" y="533400"/>
                  <a:pt x="0" y="413896"/>
                  <a:pt x="0" y="266700"/>
                </a:cubicBezTo>
                <a:lnTo>
                  <a:pt x="0" y="266700"/>
                </a:lnTo>
                <a:cubicBezTo>
                  <a:pt x="0" y="119504"/>
                  <a:pt x="119504" y="0"/>
                  <a:pt x="266700" y="0"/>
                </a:cubicBezTo>
                <a:close/>
              </a:path>
            </a:pathLst>
          </a:custGeom>
          <a:solidFill>
            <a:srgbClr val="38B2AC">
              <a:alpha val="2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581775" y="40005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0716" y="-7144"/>
                </a:moveTo>
                <a:cubicBezTo>
                  <a:pt x="4777" y="-7144"/>
                  <a:pt x="0" y="-2366"/>
                  <a:pt x="0" y="3572"/>
                </a:cubicBezTo>
                <a:cubicBezTo>
                  <a:pt x="0" y="9510"/>
                  <a:pt x="4777" y="14288"/>
                  <a:pt x="10716" y="14288"/>
                </a:cubicBezTo>
                <a:lnTo>
                  <a:pt x="30941" y="14288"/>
                </a:lnTo>
                <a:cubicBezTo>
                  <a:pt x="32683" y="14288"/>
                  <a:pt x="34156" y="15538"/>
                  <a:pt x="34469" y="17234"/>
                </a:cubicBezTo>
                <a:lnTo>
                  <a:pt x="57730" y="145063"/>
                </a:lnTo>
                <a:cubicBezTo>
                  <a:pt x="60499" y="160333"/>
                  <a:pt x="73804" y="171450"/>
                  <a:pt x="89342" y="171450"/>
                </a:cubicBezTo>
                <a:lnTo>
                  <a:pt x="203597" y="171450"/>
                </a:lnTo>
                <a:cubicBezTo>
                  <a:pt x="209535" y="171450"/>
                  <a:pt x="214313" y="166673"/>
                  <a:pt x="214313" y="160734"/>
                </a:cubicBezTo>
                <a:cubicBezTo>
                  <a:pt x="214313" y="154796"/>
                  <a:pt x="209535" y="150019"/>
                  <a:pt x="203597" y="150019"/>
                </a:cubicBezTo>
                <a:lnTo>
                  <a:pt x="89342" y="150019"/>
                </a:lnTo>
                <a:cubicBezTo>
                  <a:pt x="84162" y="150019"/>
                  <a:pt x="79742" y="146313"/>
                  <a:pt x="78804" y="141223"/>
                </a:cubicBezTo>
                <a:lnTo>
                  <a:pt x="76527" y="128588"/>
                </a:lnTo>
                <a:lnTo>
                  <a:pt x="212080" y="128588"/>
                </a:lnTo>
                <a:cubicBezTo>
                  <a:pt x="225832" y="128588"/>
                  <a:pt x="237619" y="118809"/>
                  <a:pt x="240164" y="105281"/>
                </a:cubicBezTo>
                <a:lnTo>
                  <a:pt x="254005" y="31209"/>
                </a:lnTo>
                <a:cubicBezTo>
                  <a:pt x="255657" y="22414"/>
                  <a:pt x="248915" y="14288"/>
                  <a:pt x="239941" y="14288"/>
                </a:cubicBezTo>
                <a:lnTo>
                  <a:pt x="55677" y="14288"/>
                </a:lnTo>
                <a:lnTo>
                  <a:pt x="55498" y="13395"/>
                </a:lnTo>
                <a:cubicBezTo>
                  <a:pt x="53355" y="1518"/>
                  <a:pt x="42996" y="-7144"/>
                  <a:pt x="30897" y="-7144"/>
                </a:cubicBezTo>
                <a:lnTo>
                  <a:pt x="10716" y="-7144"/>
                </a:lnTo>
                <a:close/>
                <a:moveTo>
                  <a:pt x="92869" y="228600"/>
                </a:moveTo>
                <a:cubicBezTo>
                  <a:pt x="104697" y="228600"/>
                  <a:pt x="114300" y="218997"/>
                  <a:pt x="114300" y="207169"/>
                </a:cubicBezTo>
                <a:cubicBezTo>
                  <a:pt x="114300" y="195341"/>
                  <a:pt x="104697" y="185738"/>
                  <a:pt x="92869" y="185738"/>
                </a:cubicBezTo>
                <a:cubicBezTo>
                  <a:pt x="81041" y="185738"/>
                  <a:pt x="71438" y="195341"/>
                  <a:pt x="71438" y="207169"/>
                </a:cubicBezTo>
                <a:cubicBezTo>
                  <a:pt x="71438" y="218997"/>
                  <a:pt x="81041" y="228600"/>
                  <a:pt x="92869" y="228600"/>
                </a:cubicBezTo>
                <a:close/>
                <a:moveTo>
                  <a:pt x="192881" y="228600"/>
                </a:moveTo>
                <a:cubicBezTo>
                  <a:pt x="204709" y="228600"/>
                  <a:pt x="214313" y="218997"/>
                  <a:pt x="214313" y="207169"/>
                </a:cubicBezTo>
                <a:cubicBezTo>
                  <a:pt x="214313" y="195341"/>
                  <a:pt x="204709" y="185738"/>
                  <a:pt x="192881" y="185738"/>
                </a:cubicBezTo>
                <a:cubicBezTo>
                  <a:pt x="181053" y="185738"/>
                  <a:pt x="171450" y="195341"/>
                  <a:pt x="171450" y="207169"/>
                </a:cubicBezTo>
                <a:cubicBezTo>
                  <a:pt x="171450" y="218997"/>
                  <a:pt x="181053" y="228600"/>
                  <a:pt x="192881" y="228600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0" name="Text 27"/>
          <p:cNvSpPr/>
          <p:nvPr/>
        </p:nvSpPr>
        <p:spPr>
          <a:xfrm>
            <a:off x="7143750" y="3848100"/>
            <a:ext cx="45339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 and Consistent Market Demand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7143750" y="4191000"/>
            <a:ext cx="45148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2E8F0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book market demonstrates robust demand with 29M+ reviews across 298 best-selling titles.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90525" y="5114925"/>
            <a:ext cx="11410950" cy="781050"/>
          </a:xfrm>
          <a:custGeom>
            <a:avLst/>
            <a:gdLst/>
            <a:ahLst/>
            <a:cxnLst/>
            <a:rect l="l" t="t" r="r" b="b"/>
            <a:pathLst>
              <a:path w="11410950" h="781050">
                <a:moveTo>
                  <a:pt x="76199" y="0"/>
                </a:moveTo>
                <a:lnTo>
                  <a:pt x="11334751" y="0"/>
                </a:lnTo>
                <a:cubicBezTo>
                  <a:pt x="11376834" y="0"/>
                  <a:pt x="11410950" y="34116"/>
                  <a:pt x="11410950" y="76199"/>
                </a:cubicBezTo>
                <a:lnTo>
                  <a:pt x="11410950" y="704851"/>
                </a:lnTo>
                <a:cubicBezTo>
                  <a:pt x="11410950" y="746934"/>
                  <a:pt x="11376834" y="781050"/>
                  <a:pt x="11334751" y="781050"/>
                </a:cubicBezTo>
                <a:lnTo>
                  <a:pt x="76199" y="781050"/>
                </a:lnTo>
                <a:cubicBezTo>
                  <a:pt x="34116" y="781050"/>
                  <a:pt x="0" y="746934"/>
                  <a:pt x="0" y="70485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gradFill flip="none" rotWithShape="1">
            <a:gsLst>
              <a:gs pos="0">
                <a:srgbClr val="38B2AC">
                  <a:alpha val="20000"/>
                </a:srgbClr>
              </a:gs>
              <a:gs pos="100000">
                <a:srgbClr val="38B2AC">
                  <a:alpha val="5000"/>
                </a:srgbClr>
              </a:gs>
            </a:gsLst>
            <a:lin ang="0" scaled="1"/>
          </a:gradFill>
          <a:ln w="25400">
            <a:solidFill>
              <a:srgbClr val="38B2AC">
                <a:alpha val="5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8498" y="536257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38B2AC"/>
          </a:solidFill>
          <a:ln/>
        </p:spPr>
      </p:sp>
      <p:sp>
        <p:nvSpPr>
          <p:cNvPr id="34" name="Text 31"/>
          <p:cNvSpPr/>
          <p:nvPr/>
        </p:nvSpPr>
        <p:spPr>
          <a:xfrm>
            <a:off x="1309985" y="5353050"/>
            <a:ext cx="101917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Success in the book market comes from </a:t>
            </a: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exceptional content</a:t>
            </a: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</a:t>
            </a:r>
            <a:r>
              <a:rPr lang="en-US" sz="1800" b="1" dirty="0">
                <a:solidFill>
                  <a:srgbClr val="38B2A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popular genres</a:t>
            </a:r>
            <a:r>
              <a:rPr lang="en-US" sz="1800" b="1" dirty="0">
                <a:solidFill>
                  <a:srgbClr val="E2E8F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not pricing strategies.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926</Words>
  <Application>Microsoft Office PowerPoint</Application>
  <PresentationFormat>Widescreen</PresentationFormat>
  <Paragraphs>177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Liter</vt:lpstr>
      <vt:lpstr>Arial</vt:lpstr>
      <vt:lpstr>Calibri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Storytelling &amp; Statistical Validation – Book Market Analysis</dc:title>
  <dc:subject>Data Storytelling &amp; Statistical Validation – Book Market Analysis</dc:subject>
  <dc:creator>Kimi</dc:creator>
  <cp:lastModifiedBy>admin</cp:lastModifiedBy>
  <cp:revision>3</cp:revision>
  <dcterms:created xsi:type="dcterms:W3CDTF">2026-03-20T08:03:51Z</dcterms:created>
  <dcterms:modified xsi:type="dcterms:W3CDTF">2026-03-20T09:57:31Z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{"Label":"Data Storytelling &amp; Statistical Validation – Book Market Analysis","ContentProducer":"001191110108MACG2KBH8F10000","ProduceID":"19d0a42b-0af2-8c26-8000-000035620530","ReservedCode1":"","ContentPropagator":"001191110108MACG2KBH8F20000","Propagate</vt:lpwstr>
  </property>
</Properties>
</file>